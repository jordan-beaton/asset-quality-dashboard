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Lessons</c:v>
                </c:pt>
              </c:strCache>
            </c:strRef>
          </c:tx>
          <c:spPr>
            <a:solidFill>
              <a:srgbClr val="1560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2009</c:v>
                  </c:pt>
                  <c:pt idx="1">
                    <c:v>2010</c:v>
                  </c:pt>
                  <c:pt idx="2">
                    <c:v>2011</c:v>
                  </c:pt>
                  <c:pt idx="3">
                    <c:v>2012</c:v>
                  </c:pt>
                  <c:pt idx="4">
                    <c:v>2013</c:v>
                  </c:pt>
                  <c:pt idx="5">
                    <c:v>2014</c:v>
                  </c:pt>
                  <c:pt idx="6">
                    <c:v>2015</c:v>
                  </c:pt>
                  <c:pt idx="7">
                    <c:v>2016</c:v>
                  </c:pt>
                  <c:pt idx="8">
                    <c:v>2017</c:v>
                  </c:pt>
                  <c:pt idx="9">
                    <c:v>2018</c:v>
                  </c:pt>
                  <c:pt idx="10">
                    <c:v>2019</c:v>
                  </c:pt>
                  <c:pt idx="11">
                    <c:v>2023</c:v>
                  </c:pt>
                  <c:pt idx="12">
                    <c:v>2024</c:v>
                  </c:pt>
                  <c:pt idx="13">
                    <c:v>2025</c:v>
                  </c:pt>
                  <c:pt idx="14">
                    <c:v>2026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79</c:v>
                </c:pt>
                <c:pt idx="1">
                  <c:v>153</c:v>
                </c:pt>
                <c:pt idx="2">
                  <c:v>332</c:v>
                </c:pt>
                <c:pt idx="3">
                  <c:v>230</c:v>
                </c:pt>
                <c:pt idx="4">
                  <c:v>332</c:v>
                </c:pt>
                <c:pt idx="5">
                  <c:v>305</c:v>
                </c:pt>
                <c:pt idx="6">
                  <c:v>78</c:v>
                </c:pt>
                <c:pt idx="7">
                  <c:v>43</c:v>
                </c:pt>
                <c:pt idx="8">
                  <c:v>136</c:v>
                </c:pt>
                <c:pt idx="9">
                  <c:v>321</c:v>
                </c:pt>
                <c:pt idx="10">
                  <c:v>100</c:v>
                </c:pt>
                <c:pt idx="11">
                  <c:v>1</c:v>
                </c:pt>
                <c:pt idx="12">
                  <c:v>13</c:v>
                </c:pt>
                <c:pt idx="13">
                  <c:v>28</c:v>
                </c:pt>
                <c:pt idx="14">
                  <c:v>440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560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0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9ED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60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9ED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60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9ED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6082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Projects</c:v>
                  </c:pt>
                  <c:pt idx="1">
                    <c:v>Operations</c:v>
                  </c:pt>
                  <c:pt idx="2">
                    <c:v>Engineering</c:v>
                  </c:pt>
                  <c:pt idx="3">
                    <c:v>Mobilisation</c:v>
                  </c:pt>
                  <c:pt idx="4">
                    <c:v>Project Eng.</c:v>
                  </c:pt>
                  <c:pt idx="5">
                    <c:v>Planning</c:v>
                  </c:pt>
                  <c:pt idx="6">
                    <c:v>HSEQ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1476</c:v>
                </c:pt>
                <c:pt idx="1">
                  <c:v>304</c:v>
                </c:pt>
                <c:pt idx="2">
                  <c:v>158</c:v>
                </c:pt>
                <c:pt idx="3">
                  <c:v>134</c:v>
                </c:pt>
                <c:pt idx="4">
                  <c:v>123</c:v>
                </c:pt>
                <c:pt idx="5">
                  <c:v>111</c:v>
                </c:pt>
                <c:pt idx="6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971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71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0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9ED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60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9ED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608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Operational Issues</c:v>
                  </c:pt>
                  <c:pt idx="1">
                    <c:v>Mobilisation</c:v>
                  </c:pt>
                  <c:pt idx="2">
                    <c:v>Planning</c:v>
                  </c:pt>
                  <c:pt idx="3">
                    <c:v>Trenching</c:v>
                  </c:pt>
                  <c:pt idx="4">
                    <c:v>Cable Splice</c:v>
                  </c:pt>
                  <c:pt idx="5">
                    <c:v>Trencher Mob.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811</c:v>
                </c:pt>
                <c:pt idx="1">
                  <c:v>451</c:v>
                </c:pt>
                <c:pt idx="2">
                  <c:v>336</c:v>
                </c:pt>
                <c:pt idx="3">
                  <c:v>130</c:v>
                </c:pt>
                <c:pt idx="4">
                  <c:v>63</c:v>
                </c:pt>
                <c:pt idx="5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Criticality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082"/>
              </a:solidFill>
              <a:effectLst/>
            </c:spPr>
          </c:dPt>
          <c:dPt>
            <c:idx val="1"/>
            <c:bubble3D val="0"/>
            <c:spPr>
              <a:solidFill>
                <a:srgbClr val="0F9ED5"/>
              </a:solidFill>
              <a:effectLst/>
            </c:spPr>
          </c:dPt>
          <c:dPt>
            <c:idx val="2"/>
            <c:bubble3D val="0"/>
            <c:spPr>
              <a:solidFill>
                <a:srgbClr val="E97132"/>
              </a:solidFill>
              <a:effectLst/>
            </c:spPr>
          </c:dPt>
          <c:dPt>
            <c:idx val="3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Medium</c:v>
                </c:pt>
                <c:pt idx="1">
                  <c:v>Low</c:v>
                </c:pt>
                <c:pt idx="2">
                  <c:v>High</c:v>
                </c:pt>
                <c:pt idx="3">
                  <c:v>Critical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992</c:v>
                </c:pt>
                <c:pt idx="1">
                  <c:v>735</c:v>
                </c:pt>
                <c:pt idx="2">
                  <c:v>673</c:v>
                </c:pt>
                <c:pt idx="3">
                  <c:v>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Welcome everyone. Today we're talking about lessons learnt — not the filing cabinet version, but 17 years of project intelligence now in one searchable, filterable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briefly. Emphasise that this is a two-way session — we want people to start thinking about contributing their own lessons.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lessons learnt existed in isolation. Nobody could see across projects. The Deep Ocean → Enshore transition made this worse — files ended up in different places with different formats.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this land. 2,990 lessons across 67 projects — this is a significant body of knowledge that Enshore has never had in one place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story: the 2011-2014 peak reflects the big offshore wind installation years. 2016-2017 dip = quieter period. 2026 spike = we're actively entering historical data into the new system. More to 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insight here is HSE is significantly underrepresented at only 55 entries out of 2,990. HSE incidents and near-misses rarely become formal lessons. That's a gap we need to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Issues + Mobilisation + Planning = more than half of everything we've ever logged. This isn't surprising but it does tell us where to focus pre-project planning and SOP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78% failure rate sounds alarming but is actually normal for LL logs — people record problems, not smooth running. The 10% success rate is what we need to grow. What went right matters as much as what went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pivot. We've diagnosed the problem from the data. Now we show the solution — the new IMS Lessons Learnt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5-step workflow. Emphasise the link to actions — this is what turns a lesson into an improvement. The system enforces that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value proposition slide. Read down the 'After' column — every row is a pain removed. Pause on the HSE integration and cross-project rows — those are new capabilities that didn't exist at all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browser at localhost:3000/lessons (or the live URL). Walk through the demo steps listed on the slide — they're there as a reminder, not to read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Engagement slide. Make it clear this isn't a top-down system — the value comes from contribution. Ask if anyone has a lesson they remember right now that should go in. Usually someone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clear: the Now items are already in progress. The 3-month items need team buy-in — that starts today. The 12-month items are aspirational but grounded — we have the data foundation to support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energetically. These three asks are concrete and immediate. If people leave with one action in mind, the session has done its job.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room. Remind people the system is live right now. If there's time, take 2–3 questions before wrapping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200400"/>
            <a:ext cx="8979408" cy="1943100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32004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E97132"/>
                </a:solidFill>
              </a:rPr>
              <a:t>LESSONS LEARNT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From Deep Ocean Days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to Digital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D4E8"/>
                </a:solidFill>
              </a:rPr>
              <a:t>Lunch &amp; Learn — How we capture, analyse and act 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D4E8"/>
                </a:solidFill>
              </a:rPr>
              <a:t>17 years of project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Jordan Beaton  ·  Enshore Subsea  ·  2026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64592"/>
            <a:ext cx="196596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99516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2,990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99516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4E8"/>
                </a:solidFill>
              </a:rPr>
              <a:t>Lessons Learnt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863840" y="1463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67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86384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D4E8"/>
                </a:solidFill>
              </a:rPr>
              <a:t>Projects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19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182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E97132"/>
                </a:solidFill>
              </a:rPr>
              <a:t>AGENDA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0" y="8229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Today's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session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063240" y="502920"/>
            <a:ext cx="5943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54680" y="5029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703320" y="5394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The Challenge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03320" y="81381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Why the old way wasn't working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063240" y="1161288"/>
            <a:ext cx="5943600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54680" y="116128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703320" y="119786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The Database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03320" y="14721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2,990 lessons — what's actually in there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063240" y="1819656"/>
            <a:ext cx="5943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54680" y="181965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703320" y="1856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Trend Analysis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03320" y="21305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Patterns across 17 years &amp; 67 projects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063240" y="2478024"/>
            <a:ext cx="5943600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54680" y="247802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</a:rPr>
              <a:t>04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70332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The New System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703320" y="27889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IMS Lessons Learnt — how it works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063240" y="3136392"/>
            <a:ext cx="5943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54680" y="313639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</a:rPr>
              <a:t>05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703320" y="3172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Before vs After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703320" y="344728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Excel vs the new platform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063240" y="3794760"/>
            <a:ext cx="5943600" cy="56692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154680" y="37947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</a:rPr>
              <a:t>06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703320" y="3831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Live Demo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703320" y="410565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See it in action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063240" y="4453128"/>
            <a:ext cx="5943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154680" y="445312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</a:rPr>
              <a:t>07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703320" y="4489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What's Next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703320" y="47640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Roadmap and how you can contribute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19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1371600" y="1097280"/>
            <a:ext cx="6400800" cy="2971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371600" y="1234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📁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011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Challenge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4E8"/>
                </a:solidFill>
              </a:rPr>
              <a:t>How did we manage lessons learnt before?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 / 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841"/>
                </a:solidFill>
              </a:rPr>
              <a:t>The Old Way: 10 Spreadsheets, Zero Visibility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From 2009 to 2026, lessons learnt lived in isolated project files — never connected, rarely actioned.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051560"/>
            <a:ext cx="4023360" cy="347472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51560"/>
            <a:ext cx="4023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       B              C               D                E               F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1417320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2336" y="141732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LL1   J7177   North Bardawill   Failure   Low   Delivery of 3rd party items...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65760" y="1728216"/>
            <a:ext cx="4023360" cy="292608"/>
          </a:xfrm>
          <a:prstGeom prst="rect">
            <a:avLst/>
          </a:prstGeom>
          <a:solidFill>
            <a:srgbClr val="F0F4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336" y="1728216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LL2   J7177   North Bardawill   Failure   Med   Document issue on vessel...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65760" y="2039112"/>
            <a:ext cx="4023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203911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LL3   J9022   Ensign   Success   Low   CTC logistics improved...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65760" y="2350008"/>
            <a:ext cx="4023360" cy="292608"/>
          </a:xfrm>
          <a:prstGeom prst="rect">
            <a:avLst/>
          </a:prstGeom>
          <a:solidFill>
            <a:srgbClr val="F0F4F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2336" y="2350008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LL4   J9099   Bard   Failure   High   Survey equipment delay...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65760" y="2660904"/>
            <a:ext cx="4023360" cy="292608"/>
          </a:xfrm>
          <a:prstGeom prst="rect">
            <a:avLst/>
          </a:prstGeom>
          <a:solidFill>
            <a:srgbClr val="FFF3CD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" y="2660904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97132"/>
                </a:solidFill>
              </a:rPr>
              <a:t>...   ...   ...   ...   ...   (2,985 more rows across 10 files)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572000" y="105156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1051560"/>
            <a:ext cx="2057400" cy="6400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11247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663440" y="147218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No search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663440" y="1709928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Need to open every file manually to find a relevant lesson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0" y="2350008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0" y="2350008"/>
            <a:ext cx="2057400" cy="6400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0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663440" y="277063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No links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63440" y="3008376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Actions raised — never tracked. Who did what? No one knows.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0" y="3648456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0" y="3648456"/>
            <a:ext cx="2057400" cy="6400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0" y="3721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4663440" y="40690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No analysis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663440" y="4306824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Trend analysis means 10 pivots in 10 different Excel files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748272" y="105156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748272" y="1051560"/>
            <a:ext cx="2057400" cy="6400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48272" y="11247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6839712" y="147218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No control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839712" y="1709928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 versions of the 'master' — which one is actually current?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748272" y="2350008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748272" y="2350008"/>
            <a:ext cx="2057400" cy="6400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48272" y="2423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6839712" y="277063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No sharing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839712" y="3008376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Offshore teams couldn't access it. Knowledge stayed onshore.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748272" y="3648456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748272" y="3648456"/>
            <a:ext cx="2057400" cy="6400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48272" y="3721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6839712" y="40690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No action loop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6839712" y="4306824"/>
            <a:ext cx="1883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Lessons noted. Lessons filed. Rarely acted on. Repeated.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 / 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What's Actually in the Database?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4E8"/>
                </a:solidFill>
              </a:rPr>
              <a:t>10 source files. One standard layout. Every lesson, every project, back to 2009.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65760" y="1051560"/>
            <a:ext cx="2148840" cy="219456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1887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2,990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65760" y="2331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CF7"/>
                </a:solidFill>
              </a:rPr>
              <a:t>Total Lessons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4ECF7"/>
                </a:solidFill>
              </a:rPr>
              <a:t>Learnt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51760" y="1051560"/>
            <a:ext cx="2148840" cy="219456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51760" y="11887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67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2651760" y="2331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CF7"/>
                </a:solidFill>
              </a:rPr>
              <a:t>Distinct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4ECF7"/>
                </a:solidFill>
              </a:rPr>
              <a:t>Projects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37760" y="1051560"/>
            <a:ext cx="2148840" cy="219456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11887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17</a:t>
            </a:r>
            <a:endParaRPr lang="en-US" sz="5200" dirty="0"/>
          </a:p>
        </p:txBody>
      </p:sp>
      <p:sp>
        <p:nvSpPr>
          <p:cNvPr id="14" name="Text 11"/>
          <p:cNvSpPr/>
          <p:nvPr/>
        </p:nvSpPr>
        <p:spPr>
          <a:xfrm>
            <a:off x="4937760" y="2331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CF7"/>
                </a:solidFill>
              </a:rPr>
              <a:t>Years of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4ECF7"/>
                </a:solidFill>
              </a:rPr>
              <a:t>Data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223760" y="1051560"/>
            <a:ext cx="2148840" cy="2194560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223760" y="118872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10</a:t>
            </a:r>
            <a:endParaRPr lang="en-US" sz="5200" dirty="0"/>
          </a:p>
        </p:txBody>
      </p:sp>
      <p:sp>
        <p:nvSpPr>
          <p:cNvPr id="17" name="Text 14"/>
          <p:cNvSpPr/>
          <p:nvPr/>
        </p:nvSpPr>
        <p:spPr>
          <a:xfrm>
            <a:off x="7223760" y="23317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ECF7"/>
                </a:solidFill>
              </a:rPr>
              <a:t>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4ECF7"/>
                </a:solidFill>
              </a:rPr>
              <a:t>Files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3401568"/>
            <a:ext cx="8412480" cy="365760"/>
          </a:xfrm>
          <a:prstGeom prst="rect">
            <a:avLst/>
          </a:prstGeom>
          <a:solidFill>
            <a:srgbClr val="112A3E"/>
          </a:solidFill>
          <a:ln w="12700">
            <a:solidFill>
              <a:srgbClr val="1C3B5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401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132"/>
                </a:solidFill>
              </a:rPr>
              <a:t>📅 Date Range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377440" y="340156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2009 – 2026  (Deep Ocean days through to today)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3822192"/>
            <a:ext cx="8412480" cy="365760"/>
          </a:xfrm>
          <a:prstGeom prst="rect">
            <a:avLst/>
          </a:prstGeom>
          <a:solidFill>
            <a:srgbClr val="0A1F30"/>
          </a:solidFill>
          <a:ln w="12700">
            <a:solidFill>
              <a:srgbClr val="1C3B5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3822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132"/>
                </a:solidFill>
              </a:rPr>
              <a:t>⭐ Top Project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377440" y="38221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Inch Cape — 420 individual lessons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5760" y="4242816"/>
            <a:ext cx="8412480" cy="365760"/>
          </a:xfrm>
          <a:prstGeom prst="rect">
            <a:avLst/>
          </a:prstGeom>
          <a:solidFill>
            <a:srgbClr val="112A3E"/>
          </a:solidFill>
          <a:ln w="12700">
            <a:solidFill>
              <a:srgbClr val="1C3B5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4242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132"/>
                </a:solidFill>
              </a:rPr>
              <a:t>🏭 Top Source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377440" y="424281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Projects department — 1,476 entries (49% of total)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0A1F30"/>
          </a:solidFill>
          <a:ln w="12700">
            <a:solidFill>
              <a:srgbClr val="1C3B5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663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132"/>
                </a:solidFill>
              </a:rPr>
              <a:t>⚠️ Status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377440" y="4663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78% logged as Failures / Observations  ·  10% as Successes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 / 19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1371600" y="1097280"/>
            <a:ext cx="6400800" cy="2971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371600" y="1234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011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Trend Analysis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4E8"/>
                </a:solidFill>
              </a:rPr>
              <a:t>What patterns emerge when you look at 17 years of data?</a:t>
            </a:r>
            <a:endParaRPr lang="en-US" sz="1300" dirty="0"/>
          </a:p>
        </p:txBody>
      </p:sp>
    </p:spTree>
  </p:cSld>
  <p:clrMapOvr>
    <a:masterClrMapping/>
  </p:clrMapOvr>
  <p:transition dur="1000">
    <p14:morph xmlns:p14="http://schemas.microsoft.com/office/powerpoint/2010/main" option="byObjec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/ 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6576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</a:rPr>
              <a:t>Lessons Learnt by Year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Volume peaks in active offshore installation years. 2026 reflects new IMS data-entry drive.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960120"/>
          <a:ext cx="8412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949440" y="960120"/>
            <a:ext cx="1783080" cy="54864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949440" y="960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2026: New IMS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entry drive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 / 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6576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</a:rPr>
              <a:t>Where Do Lessons Come From?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By originating department — Projects dominates, reflecting offshore installation work volumes.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926080" y="914400"/>
          <a:ext cx="5943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914400"/>
            <a:ext cx="2423160" cy="402336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65760" y="1188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7132"/>
                </a:solidFill>
              </a:rPr>
              <a:t>49%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365760" y="201168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of all lessons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come from the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Projects team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94360" y="2880360"/>
            <a:ext cx="1965960" cy="5486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3017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4E8"/>
                </a:solidFill>
              </a:rPr>
              <a:t>Engineering, HSE, Mobilisation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4E8"/>
                </a:solidFill>
              </a:rPr>
              <a:t>and Planning make 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4E8"/>
                </a:solidFill>
              </a:rPr>
              <a:t>a further 19%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65760" y="388620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97132"/>
                </a:solidFill>
              </a:rPr>
              <a:t>HSE underrepresented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97132"/>
                </a:solidFill>
              </a:rPr>
              <a:t>opportunity to improve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97132"/>
                </a:solidFill>
              </a:rPr>
              <a:t>reporting culture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 / 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65760" y="137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</a:rPr>
              <a:t>When Do Things Go Wrong?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Operational Issues accounts for 27% of all lessons — the largest single category.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926080" y="96012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960120"/>
            <a:ext cx="2423160" cy="3931920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365760" y="10972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stages =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65760" y="1737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7132"/>
                </a:solidFill>
              </a:rPr>
              <a:t>53%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365760" y="2560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all lessons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" y="2971800"/>
            <a:ext cx="2194560" cy="512064"/>
          </a:xfrm>
          <a:prstGeom prst="rect">
            <a:avLst/>
          </a:prstGeom>
          <a:solidFill>
            <a:srgbClr val="006080"/>
          </a:solidFill>
          <a:ln w="12700">
            <a:solidFill>
              <a:srgbClr val="0060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5488" y="297180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Ops Issues = live site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unpredictability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475488" y="3566160"/>
            <a:ext cx="2194560" cy="512064"/>
          </a:xfrm>
          <a:prstGeom prst="rect">
            <a:avLst/>
          </a:prstGeom>
          <a:solidFill>
            <a:srgbClr val="006080"/>
          </a:solidFill>
          <a:ln w="12700">
            <a:solidFill>
              <a:srgbClr val="00608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5488" y="356616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Mobilisation = where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planning meets reality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75488" y="4160520"/>
            <a:ext cx="2194560" cy="512064"/>
          </a:xfrm>
          <a:prstGeom prst="rect">
            <a:avLst/>
          </a:prstGeom>
          <a:solidFill>
            <a:srgbClr val="006080"/>
          </a:solidFill>
          <a:ln w="12700">
            <a:solidFill>
              <a:srgbClr val="00608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5488" y="416052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Planning = assumptions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that don't survive contact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/ 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</a:rPr>
              <a:t>Criticality &amp; Status Split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Of the 2,990 lessons, 580 have unknown criticality — a data quality issue to fix in the new system.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960120"/>
          <a:ext cx="4114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663440" y="960120"/>
            <a:ext cx="4114800" cy="173736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75488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Status of Known Records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754880" y="1389888"/>
            <a:ext cx="54864" cy="25603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92040" y="1389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Failure / Observation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7406640" y="1389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97132"/>
                </a:solidFill>
              </a:rPr>
              <a:t>78%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54880" y="1737360"/>
            <a:ext cx="54864" cy="25603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892040" y="1737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Success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40664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96B24"/>
                </a:solidFill>
              </a:rPr>
              <a:t>10%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54880" y="2084832"/>
            <a:ext cx="54864" cy="25603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92040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Closed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7406640" y="2084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9ED5"/>
                </a:solidFill>
              </a:rPr>
              <a:t>1%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54880" y="2432304"/>
            <a:ext cx="54864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92040" y="24323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Open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7406640" y="2432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0.6%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663440" y="2834640"/>
            <a:ext cx="4114800" cy="658368"/>
          </a:xfrm>
          <a:prstGeom prst="rect">
            <a:avLst/>
          </a:prstGeom>
          <a:solidFill>
            <a:srgbClr val="2D1B00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4754880" y="283464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5257800" y="288036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7132"/>
                </a:solidFill>
              </a:rPr>
              <a:t>673 HIGH criticality lessons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5257800" y="3145536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B08A"/>
                </a:solidFill>
              </a:rPr>
              <a:t>22% of classified records — each one a significant operational risk if ignored.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663440" y="35844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754880" y="358444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5257800" y="36301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841"/>
                </a:solidFill>
              </a:rPr>
              <a:t>Only 10% logged as Successes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5257800" y="389534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We know what goes wrong better than what goes right. Good lesson: celebrate what works.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4663440" y="43342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4754880" y="43342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257800" y="43799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841"/>
                </a:solidFill>
              </a:rPr>
              <a:t>Data quality opportunity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5257800" y="464515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580 entries (19%) have unknown criticality. Cleaning this up is a quick win in the new system.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 / 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841"/>
                </a:solidFill>
              </a:rPr>
              <a:t>Three Things the Data Is Telling Us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6400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Before we look at the new system, here's what the data says about where to focus.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05840"/>
            <a:ext cx="685800" cy="123444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0515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" y="15544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43000" y="107899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841"/>
                </a:solidFill>
              </a:rPr>
              <a:t>We repeat the same mistakes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1389888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Operational Issues and Mobilisation failures recur across projects spanning 15 years. Planning assumptions that fail on Project A are repeated on Project B two years later — because nobody checked.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995160" y="1078992"/>
            <a:ext cx="1691640" cy="107899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1078992"/>
            <a:ext cx="169164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811 Operational issues logged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65760" y="2359152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359152"/>
            <a:ext cx="685800" cy="123444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24048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65760" y="290779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🔕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143000" y="24323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841"/>
                </a:solidFill>
              </a:rPr>
              <a:t>HSE lessons are under-reported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43000" y="274320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With 1,476 lessons from Projects vs only 55 from HSEQ, there's a clear cultural gap. Safety observations, near-misses, and toolbox talk learnings rarely reach the formal log. This is a risk.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995160" y="2432304"/>
            <a:ext cx="1691640" cy="107899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95160" y="2432304"/>
            <a:ext cx="169164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HSE = 1.8% of total database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" y="3712464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712464"/>
            <a:ext cx="685800" cy="1234440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375818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65760" y="426110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143000" y="378561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841"/>
                </a:solidFill>
              </a:rPr>
              <a:t>Knowledge leaves when people leave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43000" y="4096512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With 10 separate files, no central search, and no ownership process — the database only works if someone knows it exists. Knowledge walks out the door with every staff transition.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995160" y="3785616"/>
            <a:ext cx="1691640" cy="1078992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95160" y="3785616"/>
            <a:ext cx="1691640" cy="10789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 disconnected source files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 / 19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1371600" y="1097280"/>
            <a:ext cx="6400800" cy="2971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371600" y="1234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371600" y="20116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New System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4E8"/>
                </a:solidFill>
              </a:rPr>
              <a:t>IMS Lessons Learnt — built into the Enshore Management System</a:t>
            </a:r>
            <a:endParaRPr lang="en-US" sz="1300" dirty="0"/>
          </a:p>
        </p:txBody>
      </p:sp>
    </p:spTree>
  </p:cSld>
  <p:clrMapOvr>
    <a:masterClrMapping/>
  </p:clrMapOvr>
  <p:transition dur="1000">
    <p14:morph xmlns:p14="http://schemas.microsoft.com/office/powerpoint/2010/main" option="byObjec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13 / 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</a:rPr>
              <a:t>What Is the IMS Lessons Learnt System?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dedicated module inside the Enshore IMS — connected to every other quality and HSE process.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60120"/>
            <a:ext cx="457200" cy="74980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96012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10149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Log 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32688" y="12893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Submit a lesson from any device — desktop, tablet or mobile — linked to a project, department, and category.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6928" y="1709928"/>
            <a:ext cx="365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65760" y="1792224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1792224"/>
            <a:ext cx="457200" cy="749808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179222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32688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Classify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32688" y="21214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Assign criticality (Critical / High / Medium / Low), stage/phase, and type. Required fields enforce data quality.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6928" y="2542032"/>
            <a:ext cx="365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2624328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2624328"/>
            <a:ext cx="457200" cy="749808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262432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2688" y="2679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Review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32688" y="29535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Line manager reviews and endorses. Notifications fire automatically — no chasing required.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6928" y="3374136"/>
            <a:ext cx="365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65760" y="3456432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5760" y="3456432"/>
            <a:ext cx="457200" cy="74980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345643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32688" y="3511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Action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32688" y="378561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Corrective or preventive actions created directly from the lesson — tracked in the Action Management module.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66928" y="4206240"/>
            <a:ext cx="3657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↓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65760" y="4288536"/>
            <a:ext cx="4389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65760" y="4288536"/>
            <a:ext cx="457200" cy="749808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5760" y="42885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32688" y="4343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Search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32688" y="461772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Any user can search, filter, and find relevant lessons before starting a project. Knowledge stays inside Enshore.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029200" y="96012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029200" y="960120"/>
            <a:ext cx="1874520" cy="6400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29200" y="10332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5120640" y="14356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Instant Search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120640" y="1709928"/>
            <a:ext cx="17007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Full text search + multi-filter: project, dept, stage, criticality, date range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029200" y="2350008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029200" y="2350008"/>
            <a:ext cx="1874520" cy="6400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029200" y="2423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5120640" y="2825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Live Dashboard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120640" y="3099816"/>
            <a:ext cx="17007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KPIs, open counts, by-department and by-criticality summary — always current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029200" y="3739896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029200" y="3739896"/>
            <a:ext cx="1874520" cy="6400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29200" y="38130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5120640" y="421538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Export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120640" y="4489704"/>
            <a:ext cx="17007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One-click PDF report or Excel export of the filtered register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7040880" y="960120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7040880" y="960120"/>
            <a:ext cx="1874520" cy="6400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040880" y="10332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7132320" y="14356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Mobile Access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132320" y="1709928"/>
            <a:ext cx="17007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Log a lesson from site on your phone — no paper, no delay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7040880" y="2350008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7040880" y="2350008"/>
            <a:ext cx="1874520" cy="6400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040880" y="2423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7132320" y="2825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Linked Actions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7132320" y="3099816"/>
            <a:ext cx="17007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Actions created from lessons are tracked right to closure in the same system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7040880" y="3739896"/>
            <a:ext cx="1874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7040880" y="3739896"/>
            <a:ext cx="1874520" cy="6400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040880" y="38130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63" name="Text 60"/>
          <p:cNvSpPr/>
          <p:nvPr/>
        </p:nvSpPr>
        <p:spPr>
          <a:xfrm>
            <a:off x="7132320" y="421538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Auto Notifications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7132320" y="4489704"/>
            <a:ext cx="17007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Email alerts to reviewers — no more chasing approvals over email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14 / 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841"/>
                </a:solidFill>
              </a:rPr>
              <a:t>Before vs After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685800"/>
            <a:ext cx="4114800" cy="41148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68580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Before: Excel / Shared Drive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685800"/>
            <a:ext cx="4114800" cy="41148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63440" y="685800"/>
            <a:ext cx="411480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After: Enshore IMS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1143000" cy="438912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336" y="118872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Access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517904" y="1188720"/>
            <a:ext cx="296265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72768" y="1188720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✗  Office only, VPN for remote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18304" y="118872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6B24"/>
                </a:solidFill>
              </a:rPr>
              <a:t>✓  Any device, anywhere, mobile-ready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1682496"/>
            <a:ext cx="1143000" cy="438912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" y="1682496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Search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517904" y="1682496"/>
            <a:ext cx="2962656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572768" y="1682496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✗  Open all 10 files manually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1682496"/>
            <a:ext cx="4114800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18304" y="168249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6B24"/>
                </a:solidFill>
              </a:rPr>
              <a:t>✓  Instant full-text search + filters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65760" y="2176272"/>
            <a:ext cx="1143000" cy="438912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2336" y="2176272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Data quality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517904" y="2176272"/>
            <a:ext cx="296265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572768" y="2176272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✗  Free-text, inconsistent fields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63440" y="217627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18304" y="2176272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6B24"/>
                </a:solidFill>
              </a:rPr>
              <a:t>✓  Required fields + dropdown controls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65760" y="2670048"/>
            <a:ext cx="1143000" cy="438912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2336" y="2670048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Actions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517904" y="2670048"/>
            <a:ext cx="2962656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572768" y="2670048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✗  None — raised in meetings, lost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663440" y="2670048"/>
            <a:ext cx="4114800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18304" y="26700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6B24"/>
                </a:solidFill>
              </a:rPr>
              <a:t>✓  Linked to Action Management module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65760" y="3163824"/>
            <a:ext cx="1143000" cy="438912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02336" y="316382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Reporting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1517904" y="3163824"/>
            <a:ext cx="296265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572768" y="3163824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✗  Manual pivot tables per file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663440" y="316382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18304" y="3163824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6B24"/>
                </a:solidFill>
              </a:rPr>
              <a:t>✓  Live dashboard + one-click PDF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365760" y="3657600"/>
            <a:ext cx="1143000" cy="438912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02336" y="365760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Review process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517904" y="3657600"/>
            <a:ext cx="2962656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572768" y="3657600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✗  Email thread, no audit trail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663440" y="3657600"/>
            <a:ext cx="4114800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18304" y="365760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6B24"/>
                </a:solidFill>
              </a:rPr>
              <a:t>✓  Structured workflow with notifications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65760" y="4151376"/>
            <a:ext cx="1143000" cy="438912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02336" y="4151376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HSE integration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1517904" y="4151376"/>
            <a:ext cx="2962656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572768" y="4151376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✗  Separate from safety processes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663440" y="4151376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18304" y="4151376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6B24"/>
                </a:solidFill>
              </a:rPr>
              <a:t>✓  Connected to AINM, observations, PTW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365760" y="4645152"/>
            <a:ext cx="1143000" cy="438912"/>
          </a:xfrm>
          <a:prstGeom prst="rect">
            <a:avLst/>
          </a:prstGeom>
          <a:solidFill>
            <a:srgbClr val="E8E8E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02336" y="4645152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Cross-project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1517904" y="4645152"/>
            <a:ext cx="2962656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572768" y="4645152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✗  Impossible without opening all files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663440" y="4645152"/>
            <a:ext cx="4114800" cy="43891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718304" y="4645152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6B24"/>
                </a:solidFill>
              </a:rPr>
              <a:t>✓  Filter by any combination of fields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 / 19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1828800" y="914400"/>
            <a:ext cx="5486400" cy="33147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82880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🖥️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828800" y="2103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Live Demo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82880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4E8"/>
                </a:solidFill>
              </a:rPr>
              <a:t>Let's open the system and explore together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1.  Search for 'mobilisation' across all projects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200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2.  Filter by High criticality + 2011–2014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0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3.  Show the dashboard KPIs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0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4.  Log a new lesson live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0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5.  Show the action link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16 / 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</a:rPr>
              <a:t>How You Can Contribute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6126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database is only as good as the lessons people put in it. Here's what we need from you.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05156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051560"/>
            <a:ext cx="4160520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515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Everyone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554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Log lessons as they happen — not 6 months later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195681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Classify properly — check the criticality field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3591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Link corrective actions before you submit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00600" y="105156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051560"/>
            <a:ext cx="4160520" cy="43891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10515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Project Managers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5544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Build LL reviews into project close-out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37760" y="195681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Share the link with clients / partners where appropriate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37760" y="23591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Review and endorse your team's submissions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30175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3017520"/>
            <a:ext cx="4160520" cy="438912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0175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🏢  Department Heads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3520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Require LL reporting as part of mobilisation packs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" y="392277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Review open lessons at monthly team meetings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02920" y="43251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Call out repeat mistakes — they're in the data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800600" y="30175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00600" y="3017520"/>
            <a:ext cx="4160520" cy="43891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301752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⛑️  HSEQ Team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937760" y="3520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Use LL to feed AINM investigations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937760" y="392277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Connect near-misses and toolbox talks to the register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937760" y="43251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 Build LL into audit and compliance reporting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17 / 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</a:rPr>
              <a:t>What's Next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Three horizons for the Lessons Learnt system over the next 12 months.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960120"/>
            <a:ext cx="2743200" cy="43891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8912" y="96012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🔧  Now — Data Quality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14173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1508760"/>
            <a:ext cx="256032" cy="25603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15087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Clean up 580 unknown criticality records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" y="2350008"/>
            <a:ext cx="256032" cy="25603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2350008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Verify and validate the historical 10-file import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" y="3191256"/>
            <a:ext cx="256032" cy="25603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3191256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Assign owners to high-criticality lessons without actions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5488" y="4032504"/>
            <a:ext cx="256032" cy="25603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" y="4032504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Complete the 2026 data entry backlog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64408" y="960120"/>
            <a:ext cx="2743200" cy="43891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337560" y="96012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📣  3 Months — Adoption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64408" y="14173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374136" y="1508760"/>
            <a:ext cx="256032" cy="25603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03320" y="15087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Lessons Learnt review embedded in every project close-out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374136" y="2350008"/>
            <a:ext cx="256032" cy="25603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703320" y="2350008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Monthly LL report to Senior Management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374136" y="3191256"/>
            <a:ext cx="256032" cy="25603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03320" y="3191256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Offline inspection form linked to LL submission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374136" y="4032504"/>
            <a:ext cx="256032" cy="25603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03320" y="4032504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Client-facing export template for project reports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63056" y="960120"/>
            <a:ext cx="2743200" cy="438912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236208" y="960120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🧠  12 Months — Intelligence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163056" y="141732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72784" y="1508760"/>
            <a:ext cx="256032" cy="256032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01968" y="150876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AI-assisted search: 'find lessons relevant to this project type'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272784" y="2350008"/>
            <a:ext cx="256032" cy="256032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01968" y="2350008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Automatic LL suggestions on new project setup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272784" y="3191256"/>
            <a:ext cx="256032" cy="256032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01968" y="3191256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Cross-project risk pattern alerts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272784" y="4032504"/>
            <a:ext cx="256032" cy="256032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601968" y="4032504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Lessons Learnt KPIs on the IMS Home dashboard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73152"/>
            <a:ext cx="8229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18 / 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Three Asks Before You Leave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4E8"/>
                </a:solidFill>
              </a:rPr>
              <a:t>This session only matters if something changes. Here's what we're asking for.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112A3E"/>
          </a:solidFill>
          <a:ln w="25400">
            <a:solidFill>
              <a:srgbClr val="E9713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640080" cy="118872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1887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A3E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17830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34440" y="126187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</a:rPr>
              <a:t>Log one lesson this week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1645920"/>
            <a:ext cx="7223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Think of a project moment that should have been captured. Go to the IMS Lessons Learnt module and log it. Takes 5 minutes. Keeps the knowledge inside Enshore.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487168"/>
            <a:ext cx="8229600" cy="1188720"/>
          </a:xfrm>
          <a:prstGeom prst="rect">
            <a:avLst/>
          </a:prstGeom>
          <a:solidFill>
            <a:srgbClr val="112A3E"/>
          </a:solidFill>
          <a:ln w="25400">
            <a:solidFill>
              <a:srgbClr val="0F9ED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487168"/>
            <a:ext cx="640080" cy="118872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4871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A3E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7200" y="308152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234440" y="256032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</a:rPr>
              <a:t>Tell your team the system exists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34440" y="2944368"/>
            <a:ext cx="7223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Share the link. Explain that this is now the place to log lessons — not a shared drive, not a project file. The system works when everyone contributes, not just Quality.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785616"/>
            <a:ext cx="8229600" cy="1188720"/>
          </a:xfrm>
          <a:prstGeom prst="rect">
            <a:avLst/>
          </a:prstGeom>
          <a:solidFill>
            <a:srgbClr val="112A3E"/>
          </a:solidFill>
          <a:ln w="25400">
            <a:solidFill>
              <a:srgbClr val="196B2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785616"/>
            <a:ext cx="640080" cy="11887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78561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A3E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57200" y="437997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234440" y="385876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</a:rPr>
              <a:t>Search it before your next project kick-off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234440" y="4242816"/>
            <a:ext cx="7223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F0"/>
                </a:solidFill>
              </a:rPr>
              <a:t>Before the next project planning meeting, spend 10 minutes searching for lessons from similar projects. Filter by vessel type, operation stage, or client. Use what's already there.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3474720"/>
            <a:ext cx="8979408" cy="1668780"/>
          </a:xfrm>
          <a:prstGeom prst="rect">
            <a:avLst/>
          </a:prstGeom>
          <a:solidFill>
            <a:srgbClr val="005670"/>
          </a:solidFill>
          <a:ln w="12700">
            <a:solidFill>
              <a:srgbClr val="0056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34747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7132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D4E8"/>
                </a:solidFill>
              </a:rPr>
              <a:t>The IMS Lessons Learnt system is live.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D4E8"/>
                </a:solidFill>
              </a:rPr>
              <a:t>Log in at your desk and let's keep 17 years of knowledge working for us.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03720" y="365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2,990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903720" y="10241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4E8"/>
                </a:solidFill>
              </a:rPr>
              <a:t>Lessons ready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4E8"/>
                </a:solidFill>
              </a:rPr>
              <a:t>to search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03720" y="1417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03720" y="20756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4E8"/>
                </a:solidFill>
              </a:rPr>
              <a:t>Projects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4E8"/>
                </a:solidFill>
              </a:rPr>
              <a:t>captured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03720" y="2468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903720" y="31272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4E8"/>
                </a:solidFill>
              </a:rPr>
              <a:t>Years of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D4E8"/>
                </a:solidFill>
              </a:rPr>
              <a:t>intelligence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971800"/>
            <a:ext cx="1965960" cy="594360"/>
          </a:xfrm>
          <a:prstGeom prst="rect">
            <a:avLst/>
          </a:prstGeom>
        </p:spPr>
      </p:pic>
    </p:spTree>
  </p:cSld>
  <p:clrMapOvr>
    <a:masterClrMapping/>
  </p:clrMapOvr>
  <p:transition dur="1000">
    <p14:morph xmlns:p14="http://schemas.microsoft.com/office/powerpoint/2010/main"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Lessons Learnt — Lunch &amp; Learn</dc:title>
  <dc:subject>PptxGenJS Presentation</dc:subject>
  <dc:creator>Enshore Subsea</dc:creator>
  <cp:lastModifiedBy>Enshore Subsea</cp:lastModifiedBy>
  <cp:revision>1</cp:revision>
  <dcterms:created xsi:type="dcterms:W3CDTF">2026-08-05T09:51:04Z</dcterms:created>
  <dcterms:modified xsi:type="dcterms:W3CDTF">2026-08-05T09:51:04Z</dcterms:modified>
</cp:coreProperties>
</file>