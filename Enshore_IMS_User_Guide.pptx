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5E5C"/>
        </a:solidFill>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3A9B98">
              <a:alpha val="25000"/>
            </a:srgbClr>
          </a:solidFill>
          <a:ln w="12700">
            <a:solidFill>
              <a:srgbClr val="3A9B98"/>
            </a:solidFill>
            <a:prstDash val="solid"/>
          </a:ln>
        </p:spPr>
      </p:sp>
      <p:sp>
        <p:nvSpPr>
          <p:cNvPr id="3" name="Shape 1"/>
          <p:cNvSpPr/>
          <p:nvPr/>
        </p:nvSpPr>
        <p:spPr>
          <a:xfrm>
            <a:off x="6858000" y="2286000"/>
            <a:ext cx="3200400" cy="3200400"/>
          </a:xfrm>
          <a:prstGeom prst="ellipse">
            <a:avLst/>
          </a:prstGeom>
          <a:solidFill>
            <a:srgbClr val="02C39A">
              <a:alpha val="15000"/>
            </a:srgbClr>
          </a:solidFill>
          <a:ln w="12700">
            <a:solidFill>
              <a:srgbClr val="02C39A"/>
            </a:solidFill>
            <a:prstDash val="solid"/>
          </a:ln>
        </p:spPr>
      </p:sp>
      <p:sp>
        <p:nvSpPr>
          <p:cNvPr id="4" name="Text 2"/>
          <p:cNvSpPr/>
          <p:nvPr/>
        </p:nvSpPr>
        <p:spPr>
          <a:xfrm>
            <a:off x="548640" y="640080"/>
            <a:ext cx="7315200" cy="411480"/>
          </a:xfrm>
          <a:prstGeom prst="rect">
            <a:avLst/>
          </a:prstGeom>
          <a:noFill/>
          <a:ln/>
        </p:spPr>
        <p:txBody>
          <a:bodyPr wrap="square" lIns="0" tIns="0" rIns="0" bIns="0" rtlCol="0" anchor="ctr"/>
          <a:lstStyle/>
          <a:p>
            <a:pPr indent="0" marL="0">
              <a:buNone/>
            </a:pPr>
            <a:r>
              <a:rPr lang="en-US" sz="1100" b="1" spc="500" kern="0" dirty="0">
                <a:solidFill>
                  <a:srgbClr val="C8F0EF"/>
                </a:solidFill>
              </a:rPr>
              <a:t>ENSHORE SUBSEA</a:t>
            </a:r>
            <a:endParaRPr lang="en-US" sz="1100" dirty="0"/>
          </a:p>
        </p:txBody>
      </p:sp>
      <p:sp>
        <p:nvSpPr>
          <p:cNvPr id="5" name="Text 3"/>
          <p:cNvSpPr/>
          <p:nvPr/>
        </p:nvSpPr>
        <p:spPr>
          <a:xfrm>
            <a:off x="548640" y="1143000"/>
            <a:ext cx="7315200" cy="914400"/>
          </a:xfrm>
          <a:prstGeom prst="rect">
            <a:avLst/>
          </a:prstGeom>
          <a:noFill/>
          <a:ln/>
        </p:spPr>
        <p:txBody>
          <a:bodyPr wrap="square" lIns="0" tIns="0" rIns="0" bIns="0" rtlCol="0" anchor="ctr"/>
          <a:lstStyle/>
          <a:p>
            <a:pPr indent="0" marL="0">
              <a:buNone/>
            </a:pPr>
            <a:r>
              <a:rPr lang="en-US" sz="3800" b="1" dirty="0">
                <a:solidFill>
                  <a:srgbClr val="FFFFFF"/>
                </a:solidFill>
              </a:rPr>
              <a:t>Integrated Management System</a:t>
            </a:r>
            <a:endParaRPr lang="en-US" sz="3800" dirty="0"/>
          </a:p>
        </p:txBody>
      </p:sp>
      <p:sp>
        <p:nvSpPr>
          <p:cNvPr id="6" name="Text 4"/>
          <p:cNvSpPr/>
          <p:nvPr/>
        </p:nvSpPr>
        <p:spPr>
          <a:xfrm>
            <a:off x="548640" y="2148840"/>
            <a:ext cx="7315200" cy="640080"/>
          </a:xfrm>
          <a:prstGeom prst="rect">
            <a:avLst/>
          </a:prstGeom>
          <a:noFill/>
          <a:ln/>
        </p:spPr>
        <p:txBody>
          <a:bodyPr wrap="square" lIns="0" tIns="0" rIns="0" bIns="0" rtlCol="0" anchor="ctr"/>
          <a:lstStyle/>
          <a:p>
            <a:pPr indent="0" marL="0">
              <a:buNone/>
            </a:pPr>
            <a:r>
              <a:rPr lang="en-US" sz="2800" dirty="0">
                <a:solidFill>
                  <a:srgbClr val="C8F0EF"/>
                </a:solidFill>
              </a:rPr>
              <a:t>User Guide</a:t>
            </a:r>
            <a:endParaRPr lang="en-US" sz="2800" dirty="0"/>
          </a:p>
        </p:txBody>
      </p:sp>
      <p:sp>
        <p:nvSpPr>
          <p:cNvPr id="7" name="Shape 5"/>
          <p:cNvSpPr/>
          <p:nvPr/>
        </p:nvSpPr>
        <p:spPr>
          <a:xfrm>
            <a:off x="548640" y="2880360"/>
            <a:ext cx="1097280" cy="54864"/>
          </a:xfrm>
          <a:prstGeom prst="rect">
            <a:avLst/>
          </a:prstGeom>
          <a:solidFill>
            <a:srgbClr val="02C39A"/>
          </a:solidFill>
          <a:ln w="12700">
            <a:solidFill>
              <a:srgbClr val="02C39A"/>
            </a:solidFill>
            <a:prstDash val="solid"/>
          </a:ln>
        </p:spPr>
      </p:sp>
      <p:sp>
        <p:nvSpPr>
          <p:cNvPr id="8" name="Text 6"/>
          <p:cNvSpPr/>
          <p:nvPr/>
        </p:nvSpPr>
        <p:spPr>
          <a:xfrm>
            <a:off x="548640" y="3063240"/>
            <a:ext cx="6858000" cy="548640"/>
          </a:xfrm>
          <a:prstGeom prst="rect">
            <a:avLst/>
          </a:prstGeom>
          <a:noFill/>
          <a:ln/>
        </p:spPr>
        <p:txBody>
          <a:bodyPr wrap="square" lIns="0" tIns="0" rIns="0" bIns="0" rtlCol="0" anchor="ctr"/>
          <a:lstStyle/>
          <a:p>
            <a:pPr indent="0" marL="0">
              <a:buNone/>
            </a:pPr>
            <a:r>
              <a:rPr lang="en-US" sz="1300" i="1" dirty="0">
                <a:solidFill>
                  <a:srgbClr val="A8D8D7"/>
                </a:solidFill>
              </a:rPr>
              <a:t>Complete guide to Quality, HSE, Document Control, Risk, Assets, and more</a:t>
            </a:r>
            <a:endParaRPr lang="en-US" sz="1300" dirty="0"/>
          </a:p>
        </p:txBody>
      </p:sp>
      <p:sp>
        <p:nvSpPr>
          <p:cNvPr id="9" name="Text 7"/>
          <p:cNvSpPr/>
          <p:nvPr/>
        </p:nvSpPr>
        <p:spPr>
          <a:xfrm>
            <a:off x="548640" y="4663440"/>
            <a:ext cx="3657600" cy="320040"/>
          </a:xfrm>
          <a:prstGeom prst="rect">
            <a:avLst/>
          </a:prstGeom>
          <a:noFill/>
          <a:ln/>
        </p:spPr>
        <p:txBody>
          <a:bodyPr wrap="square" lIns="0" tIns="0" rIns="0" bIns="0" rtlCol="0" anchor="ctr"/>
          <a:lstStyle/>
          <a:p>
            <a:pPr indent="0" marL="0">
              <a:buNone/>
            </a:pPr>
            <a:r>
              <a:rPr lang="en-US" sz="1000" dirty="0">
                <a:solidFill>
                  <a:srgbClr val="6B9E9D"/>
                </a:solidFill>
              </a:rPr>
              <a:t>Version 1.0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Table of Contents</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2 / 22</a:t>
            </a:r>
            <a:endParaRPr lang="en-US" sz="900" dirty="0"/>
          </a:p>
        </p:txBody>
      </p:sp>
      <p:sp>
        <p:nvSpPr>
          <p:cNvPr id="6" name="Text 4"/>
          <p:cNvSpPr/>
          <p:nvPr/>
        </p:nvSpPr>
        <p:spPr>
          <a:xfrm>
            <a:off x="457200" y="548640"/>
            <a:ext cx="8229600" cy="502920"/>
          </a:xfrm>
          <a:prstGeom prst="rect">
            <a:avLst/>
          </a:prstGeom>
          <a:noFill/>
          <a:ln/>
        </p:spPr>
        <p:txBody>
          <a:bodyPr wrap="square" lIns="0" tIns="0" rIns="0" bIns="0" rtlCol="0" anchor="ctr"/>
          <a:lstStyle/>
          <a:p>
            <a:pPr indent="0" marL="0">
              <a:buNone/>
            </a:pPr>
            <a:r>
              <a:rPr lang="en-US" sz="2600" b="1" dirty="0">
                <a:solidFill>
                  <a:srgbClr val="0F172A"/>
                </a:solidFill>
              </a:rPr>
              <a:t>What's Inside</a:t>
            </a:r>
            <a:endParaRPr lang="en-US" sz="2600" dirty="0"/>
          </a:p>
        </p:txBody>
      </p:sp>
      <p:sp>
        <p:nvSpPr>
          <p:cNvPr id="7" name="Shape 5"/>
          <p:cNvSpPr/>
          <p:nvPr/>
        </p:nvSpPr>
        <p:spPr>
          <a:xfrm>
            <a:off x="457200" y="1234440"/>
            <a:ext cx="4023360" cy="530352"/>
          </a:xfrm>
          <a:prstGeom prst="rect">
            <a:avLst/>
          </a:prstGeom>
          <a:solidFill>
            <a:srgbClr val="FFFFFF"/>
          </a:solidFill>
          <a:ln w="12700">
            <a:solidFill>
              <a:srgbClr val="DBE3EF"/>
            </a:solidFill>
            <a:prstDash val="solid"/>
          </a:ln>
        </p:spPr>
      </p:sp>
      <p:sp>
        <p:nvSpPr>
          <p:cNvPr id="8" name="Text 6"/>
          <p:cNvSpPr/>
          <p:nvPr/>
        </p:nvSpPr>
        <p:spPr>
          <a:xfrm>
            <a:off x="548640" y="1234440"/>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01</a:t>
            </a:r>
            <a:endParaRPr lang="en-US" sz="1400" dirty="0"/>
          </a:p>
        </p:txBody>
      </p:sp>
      <p:sp>
        <p:nvSpPr>
          <p:cNvPr id="9" name="Shape 7"/>
          <p:cNvSpPr/>
          <p:nvPr/>
        </p:nvSpPr>
        <p:spPr>
          <a:xfrm>
            <a:off x="960120" y="1344168"/>
            <a:ext cx="27432" cy="310896"/>
          </a:xfrm>
          <a:prstGeom prst="rect">
            <a:avLst/>
          </a:prstGeom>
          <a:solidFill>
            <a:srgbClr val="3A9B98"/>
          </a:solidFill>
          <a:ln w="12700">
            <a:solidFill>
              <a:srgbClr val="3A9B98"/>
            </a:solidFill>
            <a:prstDash val="solid"/>
          </a:ln>
        </p:spPr>
      </p:sp>
      <p:sp>
        <p:nvSpPr>
          <p:cNvPr id="10" name="Text 8"/>
          <p:cNvSpPr/>
          <p:nvPr/>
        </p:nvSpPr>
        <p:spPr>
          <a:xfrm>
            <a:off x="1051560" y="1234440"/>
            <a:ext cx="3337560" cy="274320"/>
          </a:xfrm>
          <a:prstGeom prst="rect">
            <a:avLst/>
          </a:prstGeom>
          <a:noFill/>
          <a:ln/>
        </p:spPr>
        <p:txBody>
          <a:bodyPr wrap="square" lIns="0" tIns="0" rIns="0" bIns="0" rtlCol="0" anchor="b"/>
          <a:lstStyle/>
          <a:p>
            <a:pPr indent="0" marL="0">
              <a:buNone/>
            </a:pPr>
            <a:r>
              <a:rPr lang="en-US" sz="1000" b="1" dirty="0">
                <a:solidFill>
                  <a:srgbClr val="0F172A"/>
                </a:solidFill>
              </a:rPr>
              <a:t>Getting Started</a:t>
            </a:r>
            <a:endParaRPr lang="en-US" sz="1000" dirty="0"/>
          </a:p>
        </p:txBody>
      </p:sp>
      <p:sp>
        <p:nvSpPr>
          <p:cNvPr id="11" name="Text 9"/>
          <p:cNvSpPr/>
          <p:nvPr/>
        </p:nvSpPr>
        <p:spPr>
          <a:xfrm>
            <a:off x="1051560" y="1499616"/>
            <a:ext cx="3337560" cy="265176"/>
          </a:xfrm>
          <a:prstGeom prst="rect">
            <a:avLst/>
          </a:prstGeom>
          <a:noFill/>
          <a:ln/>
        </p:spPr>
        <p:txBody>
          <a:bodyPr wrap="square" lIns="0" tIns="0" rIns="0" bIns="0" rtlCol="0" anchor="t"/>
          <a:lstStyle/>
          <a:p>
            <a:pPr indent="0" marL="0">
              <a:buNone/>
            </a:pPr>
            <a:r>
              <a:rPr lang="en-US" sz="800" dirty="0">
                <a:solidFill>
                  <a:srgbClr val="64748B"/>
                </a:solidFill>
              </a:rPr>
              <a:t>Login, navigation, and the home dashboard</a:t>
            </a:r>
            <a:endParaRPr lang="en-US" sz="800" dirty="0"/>
          </a:p>
        </p:txBody>
      </p:sp>
      <p:sp>
        <p:nvSpPr>
          <p:cNvPr id="12" name="Shape 10"/>
          <p:cNvSpPr/>
          <p:nvPr/>
        </p:nvSpPr>
        <p:spPr>
          <a:xfrm>
            <a:off x="457200" y="1901952"/>
            <a:ext cx="4023360" cy="530352"/>
          </a:xfrm>
          <a:prstGeom prst="rect">
            <a:avLst/>
          </a:prstGeom>
          <a:solidFill>
            <a:srgbClr val="EEF8F7"/>
          </a:solidFill>
          <a:ln w="12700">
            <a:solidFill>
              <a:srgbClr val="DBE3EF"/>
            </a:solidFill>
            <a:prstDash val="solid"/>
          </a:ln>
        </p:spPr>
      </p:sp>
      <p:sp>
        <p:nvSpPr>
          <p:cNvPr id="13" name="Text 11"/>
          <p:cNvSpPr/>
          <p:nvPr/>
        </p:nvSpPr>
        <p:spPr>
          <a:xfrm>
            <a:off x="548640" y="1901952"/>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02</a:t>
            </a:r>
            <a:endParaRPr lang="en-US" sz="1400" dirty="0"/>
          </a:p>
        </p:txBody>
      </p:sp>
      <p:sp>
        <p:nvSpPr>
          <p:cNvPr id="14" name="Shape 12"/>
          <p:cNvSpPr/>
          <p:nvPr/>
        </p:nvSpPr>
        <p:spPr>
          <a:xfrm>
            <a:off x="960120" y="2011680"/>
            <a:ext cx="27432" cy="310896"/>
          </a:xfrm>
          <a:prstGeom prst="rect">
            <a:avLst/>
          </a:prstGeom>
          <a:solidFill>
            <a:srgbClr val="3A9B98"/>
          </a:solidFill>
          <a:ln w="12700">
            <a:solidFill>
              <a:srgbClr val="3A9B98"/>
            </a:solidFill>
            <a:prstDash val="solid"/>
          </a:ln>
        </p:spPr>
      </p:sp>
      <p:sp>
        <p:nvSpPr>
          <p:cNvPr id="15" name="Text 13"/>
          <p:cNvSpPr/>
          <p:nvPr/>
        </p:nvSpPr>
        <p:spPr>
          <a:xfrm>
            <a:off x="1051560" y="1901952"/>
            <a:ext cx="3337560" cy="274320"/>
          </a:xfrm>
          <a:prstGeom prst="rect">
            <a:avLst/>
          </a:prstGeom>
          <a:noFill/>
          <a:ln/>
        </p:spPr>
        <p:txBody>
          <a:bodyPr wrap="square" lIns="0" tIns="0" rIns="0" bIns="0" rtlCol="0" anchor="b"/>
          <a:lstStyle/>
          <a:p>
            <a:pPr indent="0" marL="0">
              <a:buNone/>
            </a:pPr>
            <a:r>
              <a:rPr lang="en-US" sz="1000" b="1" dirty="0">
                <a:solidFill>
                  <a:srgbClr val="0F172A"/>
                </a:solidFill>
              </a:rPr>
              <a:t>Quality Management</a:t>
            </a:r>
            <a:endParaRPr lang="en-US" sz="1000" dirty="0"/>
          </a:p>
        </p:txBody>
      </p:sp>
      <p:sp>
        <p:nvSpPr>
          <p:cNvPr id="16" name="Text 14"/>
          <p:cNvSpPr/>
          <p:nvPr/>
        </p:nvSpPr>
        <p:spPr>
          <a:xfrm>
            <a:off x="1051560" y="2167128"/>
            <a:ext cx="3337560" cy="265176"/>
          </a:xfrm>
          <a:prstGeom prst="rect">
            <a:avLst/>
          </a:prstGeom>
          <a:noFill/>
          <a:ln/>
        </p:spPr>
        <p:txBody>
          <a:bodyPr wrap="square" lIns="0" tIns="0" rIns="0" bIns="0" rtlCol="0" anchor="t"/>
          <a:lstStyle/>
          <a:p>
            <a:pPr indent="0" marL="0">
              <a:buNone/>
            </a:pPr>
            <a:r>
              <a:rPr lang="en-US" sz="800" dirty="0">
                <a:solidFill>
                  <a:srgbClr val="64748B"/>
                </a:solidFill>
              </a:rPr>
              <a:t>Dashboard, MOC, NCR/CAPA, Audits, Actions</a:t>
            </a:r>
            <a:endParaRPr lang="en-US" sz="800" dirty="0"/>
          </a:p>
        </p:txBody>
      </p:sp>
      <p:sp>
        <p:nvSpPr>
          <p:cNvPr id="17" name="Shape 15"/>
          <p:cNvSpPr/>
          <p:nvPr/>
        </p:nvSpPr>
        <p:spPr>
          <a:xfrm>
            <a:off x="457200" y="2569464"/>
            <a:ext cx="4023360" cy="530352"/>
          </a:xfrm>
          <a:prstGeom prst="rect">
            <a:avLst/>
          </a:prstGeom>
          <a:solidFill>
            <a:srgbClr val="FFFFFF"/>
          </a:solidFill>
          <a:ln w="12700">
            <a:solidFill>
              <a:srgbClr val="DBE3EF"/>
            </a:solidFill>
            <a:prstDash val="solid"/>
          </a:ln>
        </p:spPr>
      </p:sp>
      <p:sp>
        <p:nvSpPr>
          <p:cNvPr id="18" name="Text 16"/>
          <p:cNvSpPr/>
          <p:nvPr/>
        </p:nvSpPr>
        <p:spPr>
          <a:xfrm>
            <a:off x="548640" y="2569464"/>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03</a:t>
            </a:r>
            <a:endParaRPr lang="en-US" sz="1400" dirty="0"/>
          </a:p>
        </p:txBody>
      </p:sp>
      <p:sp>
        <p:nvSpPr>
          <p:cNvPr id="19" name="Shape 17"/>
          <p:cNvSpPr/>
          <p:nvPr/>
        </p:nvSpPr>
        <p:spPr>
          <a:xfrm>
            <a:off x="960120" y="2679192"/>
            <a:ext cx="27432" cy="310896"/>
          </a:xfrm>
          <a:prstGeom prst="rect">
            <a:avLst/>
          </a:prstGeom>
          <a:solidFill>
            <a:srgbClr val="3A9B98"/>
          </a:solidFill>
          <a:ln w="12700">
            <a:solidFill>
              <a:srgbClr val="3A9B98"/>
            </a:solidFill>
            <a:prstDash val="solid"/>
          </a:ln>
        </p:spPr>
      </p:sp>
      <p:sp>
        <p:nvSpPr>
          <p:cNvPr id="20" name="Text 18"/>
          <p:cNvSpPr/>
          <p:nvPr/>
        </p:nvSpPr>
        <p:spPr>
          <a:xfrm>
            <a:off x="1051560" y="2569464"/>
            <a:ext cx="3337560" cy="274320"/>
          </a:xfrm>
          <a:prstGeom prst="rect">
            <a:avLst/>
          </a:prstGeom>
          <a:noFill/>
          <a:ln/>
        </p:spPr>
        <p:txBody>
          <a:bodyPr wrap="square" lIns="0" tIns="0" rIns="0" bIns="0" rtlCol="0" anchor="b"/>
          <a:lstStyle/>
          <a:p>
            <a:pPr indent="0" marL="0">
              <a:buNone/>
            </a:pPr>
            <a:r>
              <a:rPr lang="en-US" sz="1000" b="1" dirty="0">
                <a:solidFill>
                  <a:srgbClr val="0F172A"/>
                </a:solidFill>
              </a:rPr>
              <a:t>Document Control</a:t>
            </a:r>
            <a:endParaRPr lang="en-US" sz="1000" dirty="0"/>
          </a:p>
        </p:txBody>
      </p:sp>
      <p:sp>
        <p:nvSpPr>
          <p:cNvPr id="21" name="Text 19"/>
          <p:cNvSpPr/>
          <p:nvPr/>
        </p:nvSpPr>
        <p:spPr>
          <a:xfrm>
            <a:off x="1051560" y="2834640"/>
            <a:ext cx="3337560" cy="265176"/>
          </a:xfrm>
          <a:prstGeom prst="rect">
            <a:avLst/>
          </a:prstGeom>
          <a:noFill/>
          <a:ln/>
        </p:spPr>
        <p:txBody>
          <a:bodyPr wrap="square" lIns="0" tIns="0" rIns="0" bIns="0" rtlCol="0" anchor="t"/>
          <a:lstStyle/>
          <a:p>
            <a:pPr indent="0" marL="0">
              <a:buNone/>
            </a:pPr>
            <a:r>
              <a:rPr lang="en-US" sz="800" dirty="0">
                <a:solidFill>
                  <a:srgbClr val="64748B"/>
                </a:solidFill>
              </a:rPr>
              <a:t>Register, create, workflow, archive</a:t>
            </a:r>
            <a:endParaRPr lang="en-US" sz="800" dirty="0"/>
          </a:p>
        </p:txBody>
      </p:sp>
      <p:sp>
        <p:nvSpPr>
          <p:cNvPr id="22" name="Shape 20"/>
          <p:cNvSpPr/>
          <p:nvPr/>
        </p:nvSpPr>
        <p:spPr>
          <a:xfrm>
            <a:off x="457200" y="3236976"/>
            <a:ext cx="4023360" cy="530352"/>
          </a:xfrm>
          <a:prstGeom prst="rect">
            <a:avLst/>
          </a:prstGeom>
          <a:solidFill>
            <a:srgbClr val="EEF8F7"/>
          </a:solidFill>
          <a:ln w="12700">
            <a:solidFill>
              <a:srgbClr val="DBE3EF"/>
            </a:solidFill>
            <a:prstDash val="solid"/>
          </a:ln>
        </p:spPr>
      </p:sp>
      <p:sp>
        <p:nvSpPr>
          <p:cNvPr id="23" name="Text 21"/>
          <p:cNvSpPr/>
          <p:nvPr/>
        </p:nvSpPr>
        <p:spPr>
          <a:xfrm>
            <a:off x="548640" y="3236976"/>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04</a:t>
            </a:r>
            <a:endParaRPr lang="en-US" sz="1400" dirty="0"/>
          </a:p>
        </p:txBody>
      </p:sp>
      <p:sp>
        <p:nvSpPr>
          <p:cNvPr id="24" name="Shape 22"/>
          <p:cNvSpPr/>
          <p:nvPr/>
        </p:nvSpPr>
        <p:spPr>
          <a:xfrm>
            <a:off x="960120" y="3346704"/>
            <a:ext cx="27432" cy="310896"/>
          </a:xfrm>
          <a:prstGeom prst="rect">
            <a:avLst/>
          </a:prstGeom>
          <a:solidFill>
            <a:srgbClr val="3A9B98"/>
          </a:solidFill>
          <a:ln w="12700">
            <a:solidFill>
              <a:srgbClr val="3A9B98"/>
            </a:solidFill>
            <a:prstDash val="solid"/>
          </a:ln>
        </p:spPr>
      </p:sp>
      <p:sp>
        <p:nvSpPr>
          <p:cNvPr id="25" name="Text 23"/>
          <p:cNvSpPr/>
          <p:nvPr/>
        </p:nvSpPr>
        <p:spPr>
          <a:xfrm>
            <a:off x="1051560" y="3236976"/>
            <a:ext cx="3337560" cy="274320"/>
          </a:xfrm>
          <a:prstGeom prst="rect">
            <a:avLst/>
          </a:prstGeom>
          <a:noFill/>
          <a:ln/>
        </p:spPr>
        <p:txBody>
          <a:bodyPr wrap="square" lIns="0" tIns="0" rIns="0" bIns="0" rtlCol="0" anchor="b"/>
          <a:lstStyle/>
          <a:p>
            <a:pPr indent="0" marL="0">
              <a:buNone/>
            </a:pPr>
            <a:r>
              <a:rPr lang="en-US" sz="1000" b="1" dirty="0">
                <a:solidFill>
                  <a:srgbClr val="0F172A"/>
                </a:solidFill>
              </a:rPr>
              <a:t>HSE Management</a:t>
            </a:r>
            <a:endParaRPr lang="en-US" sz="1000" dirty="0"/>
          </a:p>
        </p:txBody>
      </p:sp>
      <p:sp>
        <p:nvSpPr>
          <p:cNvPr id="26" name="Text 24"/>
          <p:cNvSpPr/>
          <p:nvPr/>
        </p:nvSpPr>
        <p:spPr>
          <a:xfrm>
            <a:off x="1051560" y="3502152"/>
            <a:ext cx="3337560" cy="265176"/>
          </a:xfrm>
          <a:prstGeom prst="rect">
            <a:avLst/>
          </a:prstGeom>
          <a:noFill/>
          <a:ln/>
        </p:spPr>
        <p:txBody>
          <a:bodyPr wrap="square" lIns="0" tIns="0" rIns="0" bIns="0" rtlCol="0" anchor="t"/>
          <a:lstStyle/>
          <a:p>
            <a:pPr indent="0" marL="0">
              <a:buNone/>
            </a:pPr>
            <a:r>
              <a:rPr lang="en-US" sz="800" dirty="0">
                <a:solidFill>
                  <a:srgbClr val="64748B"/>
                </a:solidFill>
              </a:rPr>
              <a:t>AINM, Observations, Inspections, PTW, Calendar</a:t>
            </a:r>
            <a:endParaRPr lang="en-US" sz="800" dirty="0"/>
          </a:p>
        </p:txBody>
      </p:sp>
      <p:sp>
        <p:nvSpPr>
          <p:cNvPr id="27" name="Shape 25"/>
          <p:cNvSpPr/>
          <p:nvPr/>
        </p:nvSpPr>
        <p:spPr>
          <a:xfrm>
            <a:off x="457200" y="3904488"/>
            <a:ext cx="4023360" cy="530352"/>
          </a:xfrm>
          <a:prstGeom prst="rect">
            <a:avLst/>
          </a:prstGeom>
          <a:solidFill>
            <a:srgbClr val="FFFFFF"/>
          </a:solidFill>
          <a:ln w="12700">
            <a:solidFill>
              <a:srgbClr val="DBE3EF"/>
            </a:solidFill>
            <a:prstDash val="solid"/>
          </a:ln>
        </p:spPr>
      </p:sp>
      <p:sp>
        <p:nvSpPr>
          <p:cNvPr id="28" name="Text 26"/>
          <p:cNvSpPr/>
          <p:nvPr/>
        </p:nvSpPr>
        <p:spPr>
          <a:xfrm>
            <a:off x="548640" y="3904488"/>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05</a:t>
            </a:r>
            <a:endParaRPr lang="en-US" sz="1400" dirty="0"/>
          </a:p>
        </p:txBody>
      </p:sp>
      <p:sp>
        <p:nvSpPr>
          <p:cNvPr id="29" name="Shape 27"/>
          <p:cNvSpPr/>
          <p:nvPr/>
        </p:nvSpPr>
        <p:spPr>
          <a:xfrm>
            <a:off x="960120" y="4014216"/>
            <a:ext cx="27432" cy="310896"/>
          </a:xfrm>
          <a:prstGeom prst="rect">
            <a:avLst/>
          </a:prstGeom>
          <a:solidFill>
            <a:srgbClr val="3A9B98"/>
          </a:solidFill>
          <a:ln w="12700">
            <a:solidFill>
              <a:srgbClr val="3A9B98"/>
            </a:solidFill>
            <a:prstDash val="solid"/>
          </a:ln>
        </p:spPr>
      </p:sp>
      <p:sp>
        <p:nvSpPr>
          <p:cNvPr id="30" name="Text 28"/>
          <p:cNvSpPr/>
          <p:nvPr/>
        </p:nvSpPr>
        <p:spPr>
          <a:xfrm>
            <a:off x="1051560" y="3904488"/>
            <a:ext cx="3337560" cy="274320"/>
          </a:xfrm>
          <a:prstGeom prst="rect">
            <a:avLst/>
          </a:prstGeom>
          <a:noFill/>
          <a:ln/>
        </p:spPr>
        <p:txBody>
          <a:bodyPr wrap="square" lIns="0" tIns="0" rIns="0" bIns="0" rtlCol="0" anchor="b"/>
          <a:lstStyle/>
          <a:p>
            <a:pPr indent="0" marL="0">
              <a:buNone/>
            </a:pPr>
            <a:r>
              <a:rPr lang="en-US" sz="1000" b="1" dirty="0">
                <a:solidFill>
                  <a:srgbClr val="0F172A"/>
                </a:solidFill>
              </a:rPr>
              <a:t>Risk Management</a:t>
            </a:r>
            <a:endParaRPr lang="en-US" sz="1000" dirty="0"/>
          </a:p>
        </p:txBody>
      </p:sp>
      <p:sp>
        <p:nvSpPr>
          <p:cNvPr id="31" name="Text 29"/>
          <p:cNvSpPr/>
          <p:nvPr/>
        </p:nvSpPr>
        <p:spPr>
          <a:xfrm>
            <a:off x="1051560" y="4169664"/>
            <a:ext cx="3337560" cy="265176"/>
          </a:xfrm>
          <a:prstGeom prst="rect">
            <a:avLst/>
          </a:prstGeom>
          <a:noFill/>
          <a:ln/>
        </p:spPr>
        <p:txBody>
          <a:bodyPr wrap="square" lIns="0" tIns="0" rIns="0" bIns="0" rtlCol="0" anchor="t"/>
          <a:lstStyle/>
          <a:p>
            <a:pPr indent="0" marL="0">
              <a:buNone/>
            </a:pPr>
            <a:r>
              <a:rPr lang="en-US" sz="800" dirty="0">
                <a:solidFill>
                  <a:srgbClr val="64748B"/>
                </a:solidFill>
              </a:rPr>
              <a:t>Risk register, controls, opportunities, reviews</a:t>
            </a:r>
            <a:endParaRPr lang="en-US" sz="800" dirty="0"/>
          </a:p>
        </p:txBody>
      </p:sp>
      <p:sp>
        <p:nvSpPr>
          <p:cNvPr id="32" name="Shape 30"/>
          <p:cNvSpPr/>
          <p:nvPr/>
        </p:nvSpPr>
        <p:spPr>
          <a:xfrm>
            <a:off x="4846320" y="1234440"/>
            <a:ext cx="4023360" cy="530352"/>
          </a:xfrm>
          <a:prstGeom prst="rect">
            <a:avLst/>
          </a:prstGeom>
          <a:solidFill>
            <a:srgbClr val="EEF8F7"/>
          </a:solidFill>
          <a:ln w="12700">
            <a:solidFill>
              <a:srgbClr val="DBE3EF"/>
            </a:solidFill>
            <a:prstDash val="solid"/>
          </a:ln>
        </p:spPr>
      </p:sp>
      <p:sp>
        <p:nvSpPr>
          <p:cNvPr id="33" name="Text 31"/>
          <p:cNvSpPr/>
          <p:nvPr/>
        </p:nvSpPr>
        <p:spPr>
          <a:xfrm>
            <a:off x="4937760" y="1234440"/>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06</a:t>
            </a:r>
            <a:endParaRPr lang="en-US" sz="1400" dirty="0"/>
          </a:p>
        </p:txBody>
      </p:sp>
      <p:sp>
        <p:nvSpPr>
          <p:cNvPr id="34" name="Shape 32"/>
          <p:cNvSpPr/>
          <p:nvPr/>
        </p:nvSpPr>
        <p:spPr>
          <a:xfrm>
            <a:off x="5349240" y="1344168"/>
            <a:ext cx="27432" cy="310896"/>
          </a:xfrm>
          <a:prstGeom prst="rect">
            <a:avLst/>
          </a:prstGeom>
          <a:solidFill>
            <a:srgbClr val="3A9B98"/>
          </a:solidFill>
          <a:ln w="12700">
            <a:solidFill>
              <a:srgbClr val="3A9B98"/>
            </a:solidFill>
            <a:prstDash val="solid"/>
          </a:ln>
        </p:spPr>
      </p:sp>
      <p:sp>
        <p:nvSpPr>
          <p:cNvPr id="35" name="Text 33"/>
          <p:cNvSpPr/>
          <p:nvPr/>
        </p:nvSpPr>
        <p:spPr>
          <a:xfrm>
            <a:off x="5440680" y="1234440"/>
            <a:ext cx="3337560" cy="274320"/>
          </a:xfrm>
          <a:prstGeom prst="rect">
            <a:avLst/>
          </a:prstGeom>
          <a:noFill/>
          <a:ln/>
        </p:spPr>
        <p:txBody>
          <a:bodyPr wrap="square" lIns="0" tIns="0" rIns="0" bIns="0" rtlCol="0" anchor="b"/>
          <a:lstStyle/>
          <a:p>
            <a:pPr indent="0" marL="0">
              <a:buNone/>
            </a:pPr>
            <a:r>
              <a:rPr lang="en-US" sz="1000" b="1" dirty="0">
                <a:solidFill>
                  <a:srgbClr val="0F172A"/>
                </a:solidFill>
              </a:rPr>
              <a:t>Asset Management</a:t>
            </a:r>
            <a:endParaRPr lang="en-US" sz="1000" dirty="0"/>
          </a:p>
        </p:txBody>
      </p:sp>
      <p:sp>
        <p:nvSpPr>
          <p:cNvPr id="36" name="Text 34"/>
          <p:cNvSpPr/>
          <p:nvPr/>
        </p:nvSpPr>
        <p:spPr>
          <a:xfrm>
            <a:off x="5440680" y="1499616"/>
            <a:ext cx="3337560" cy="265176"/>
          </a:xfrm>
          <a:prstGeom prst="rect">
            <a:avLst/>
          </a:prstGeom>
          <a:noFill/>
          <a:ln/>
        </p:spPr>
        <p:txBody>
          <a:bodyPr wrap="square" lIns="0" tIns="0" rIns="0" bIns="0" rtlCol="0" anchor="t"/>
          <a:lstStyle/>
          <a:p>
            <a:pPr indent="0" marL="0">
              <a:buNone/>
            </a:pPr>
            <a:r>
              <a:rPr lang="en-US" sz="800" dirty="0">
                <a:solidFill>
                  <a:srgbClr val="64748B"/>
                </a:solidFill>
              </a:rPr>
              <a:t>Assets, calibration, inspection, maintenance</a:t>
            </a:r>
            <a:endParaRPr lang="en-US" sz="800" dirty="0"/>
          </a:p>
        </p:txBody>
      </p:sp>
      <p:sp>
        <p:nvSpPr>
          <p:cNvPr id="37" name="Shape 35"/>
          <p:cNvSpPr/>
          <p:nvPr/>
        </p:nvSpPr>
        <p:spPr>
          <a:xfrm>
            <a:off x="4846320" y="1901952"/>
            <a:ext cx="4023360" cy="530352"/>
          </a:xfrm>
          <a:prstGeom prst="rect">
            <a:avLst/>
          </a:prstGeom>
          <a:solidFill>
            <a:srgbClr val="FFFFFF"/>
          </a:solidFill>
          <a:ln w="12700">
            <a:solidFill>
              <a:srgbClr val="DBE3EF"/>
            </a:solidFill>
            <a:prstDash val="solid"/>
          </a:ln>
        </p:spPr>
      </p:sp>
      <p:sp>
        <p:nvSpPr>
          <p:cNvPr id="38" name="Text 36"/>
          <p:cNvSpPr/>
          <p:nvPr/>
        </p:nvSpPr>
        <p:spPr>
          <a:xfrm>
            <a:off x="4937760" y="1901952"/>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07</a:t>
            </a:r>
            <a:endParaRPr lang="en-US" sz="1400" dirty="0"/>
          </a:p>
        </p:txBody>
      </p:sp>
      <p:sp>
        <p:nvSpPr>
          <p:cNvPr id="39" name="Shape 37"/>
          <p:cNvSpPr/>
          <p:nvPr/>
        </p:nvSpPr>
        <p:spPr>
          <a:xfrm>
            <a:off x="5349240" y="2011680"/>
            <a:ext cx="27432" cy="310896"/>
          </a:xfrm>
          <a:prstGeom prst="rect">
            <a:avLst/>
          </a:prstGeom>
          <a:solidFill>
            <a:srgbClr val="3A9B98"/>
          </a:solidFill>
          <a:ln w="12700">
            <a:solidFill>
              <a:srgbClr val="3A9B98"/>
            </a:solidFill>
            <a:prstDash val="solid"/>
          </a:ln>
        </p:spPr>
      </p:sp>
      <p:sp>
        <p:nvSpPr>
          <p:cNvPr id="40" name="Text 38"/>
          <p:cNvSpPr/>
          <p:nvPr/>
        </p:nvSpPr>
        <p:spPr>
          <a:xfrm>
            <a:off x="5440680" y="1901952"/>
            <a:ext cx="3337560" cy="274320"/>
          </a:xfrm>
          <a:prstGeom prst="rect">
            <a:avLst/>
          </a:prstGeom>
          <a:noFill/>
          <a:ln/>
        </p:spPr>
        <p:txBody>
          <a:bodyPr wrap="square" lIns="0" tIns="0" rIns="0" bIns="0" rtlCol="0" anchor="b"/>
          <a:lstStyle/>
          <a:p>
            <a:pPr indent="0" marL="0">
              <a:buNone/>
            </a:pPr>
            <a:r>
              <a:rPr lang="en-US" sz="1000" b="1" dirty="0">
                <a:solidFill>
                  <a:srgbClr val="0F172A"/>
                </a:solidFill>
              </a:rPr>
              <a:t>People Management</a:t>
            </a:r>
            <a:endParaRPr lang="en-US" sz="1000" dirty="0"/>
          </a:p>
        </p:txBody>
      </p:sp>
      <p:sp>
        <p:nvSpPr>
          <p:cNvPr id="41" name="Text 39"/>
          <p:cNvSpPr/>
          <p:nvPr/>
        </p:nvSpPr>
        <p:spPr>
          <a:xfrm>
            <a:off x="5440680" y="2167128"/>
            <a:ext cx="3337560" cy="265176"/>
          </a:xfrm>
          <a:prstGeom prst="rect">
            <a:avLst/>
          </a:prstGeom>
          <a:noFill/>
          <a:ln/>
        </p:spPr>
        <p:txBody>
          <a:bodyPr wrap="square" lIns="0" tIns="0" rIns="0" bIns="0" rtlCol="0" anchor="t"/>
          <a:lstStyle/>
          <a:p>
            <a:pPr indent="0" marL="0">
              <a:buNone/>
            </a:pPr>
            <a:r>
              <a:rPr lang="en-US" sz="800" dirty="0">
                <a:solidFill>
                  <a:srgbClr val="64748B"/>
                </a:solidFill>
              </a:rPr>
              <a:t>People directory and roles</a:t>
            </a:r>
            <a:endParaRPr lang="en-US" sz="800" dirty="0"/>
          </a:p>
        </p:txBody>
      </p:sp>
      <p:sp>
        <p:nvSpPr>
          <p:cNvPr id="42" name="Shape 40"/>
          <p:cNvSpPr/>
          <p:nvPr/>
        </p:nvSpPr>
        <p:spPr>
          <a:xfrm>
            <a:off x="4846320" y="2569464"/>
            <a:ext cx="4023360" cy="530352"/>
          </a:xfrm>
          <a:prstGeom prst="rect">
            <a:avLst/>
          </a:prstGeom>
          <a:solidFill>
            <a:srgbClr val="EEF8F7"/>
          </a:solidFill>
          <a:ln w="12700">
            <a:solidFill>
              <a:srgbClr val="DBE3EF"/>
            </a:solidFill>
            <a:prstDash val="solid"/>
          </a:ln>
        </p:spPr>
      </p:sp>
      <p:sp>
        <p:nvSpPr>
          <p:cNvPr id="43" name="Text 41"/>
          <p:cNvSpPr/>
          <p:nvPr/>
        </p:nvSpPr>
        <p:spPr>
          <a:xfrm>
            <a:off x="4937760" y="2569464"/>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08</a:t>
            </a:r>
            <a:endParaRPr lang="en-US" sz="1400" dirty="0"/>
          </a:p>
        </p:txBody>
      </p:sp>
      <p:sp>
        <p:nvSpPr>
          <p:cNvPr id="44" name="Shape 42"/>
          <p:cNvSpPr/>
          <p:nvPr/>
        </p:nvSpPr>
        <p:spPr>
          <a:xfrm>
            <a:off x="5349240" y="2679192"/>
            <a:ext cx="27432" cy="310896"/>
          </a:xfrm>
          <a:prstGeom prst="rect">
            <a:avLst/>
          </a:prstGeom>
          <a:solidFill>
            <a:srgbClr val="3A9B98"/>
          </a:solidFill>
          <a:ln w="12700">
            <a:solidFill>
              <a:srgbClr val="3A9B98"/>
            </a:solidFill>
            <a:prstDash val="solid"/>
          </a:ln>
        </p:spPr>
      </p:sp>
      <p:sp>
        <p:nvSpPr>
          <p:cNvPr id="45" name="Text 43"/>
          <p:cNvSpPr/>
          <p:nvPr/>
        </p:nvSpPr>
        <p:spPr>
          <a:xfrm>
            <a:off x="5440680" y="2569464"/>
            <a:ext cx="3337560" cy="274320"/>
          </a:xfrm>
          <a:prstGeom prst="rect">
            <a:avLst/>
          </a:prstGeom>
          <a:noFill/>
          <a:ln/>
        </p:spPr>
        <p:txBody>
          <a:bodyPr wrap="square" lIns="0" tIns="0" rIns="0" bIns="0" rtlCol="0" anchor="b"/>
          <a:lstStyle/>
          <a:p>
            <a:pPr indent="0" marL="0">
              <a:buNone/>
            </a:pPr>
            <a:r>
              <a:rPr lang="en-US" sz="1000" b="1" dirty="0">
                <a:solidFill>
                  <a:srgbClr val="0F172A"/>
                </a:solidFill>
              </a:rPr>
              <a:t>Admin / Settings</a:t>
            </a:r>
            <a:endParaRPr lang="en-US" sz="1000" dirty="0"/>
          </a:p>
        </p:txBody>
      </p:sp>
      <p:sp>
        <p:nvSpPr>
          <p:cNvPr id="46" name="Text 44"/>
          <p:cNvSpPr/>
          <p:nvPr/>
        </p:nvSpPr>
        <p:spPr>
          <a:xfrm>
            <a:off x="5440680" y="2834640"/>
            <a:ext cx="3337560" cy="265176"/>
          </a:xfrm>
          <a:prstGeom prst="rect">
            <a:avLst/>
          </a:prstGeom>
          <a:noFill/>
          <a:ln/>
        </p:spPr>
        <p:txBody>
          <a:bodyPr wrap="square" lIns="0" tIns="0" rIns="0" bIns="0" rtlCol="0" anchor="t"/>
          <a:lstStyle/>
          <a:p>
            <a:pPr indent="0" marL="0">
              <a:buNone/>
            </a:pPr>
            <a:r>
              <a:rPr lang="en-US" sz="800" dirty="0">
                <a:solidFill>
                  <a:srgbClr val="64748B"/>
                </a:solidFill>
              </a:rPr>
              <a:t>Departments, users, reference data, system config</a:t>
            </a:r>
            <a:endParaRPr lang="en-US" sz="800" dirty="0"/>
          </a:p>
        </p:txBody>
      </p:sp>
      <p:sp>
        <p:nvSpPr>
          <p:cNvPr id="47" name="Shape 45"/>
          <p:cNvSpPr/>
          <p:nvPr/>
        </p:nvSpPr>
        <p:spPr>
          <a:xfrm>
            <a:off x="4846320" y="3236976"/>
            <a:ext cx="4023360" cy="530352"/>
          </a:xfrm>
          <a:prstGeom prst="rect">
            <a:avLst/>
          </a:prstGeom>
          <a:solidFill>
            <a:srgbClr val="FFFFFF"/>
          </a:solidFill>
          <a:ln w="12700">
            <a:solidFill>
              <a:srgbClr val="DBE3EF"/>
            </a:solidFill>
            <a:prstDash val="solid"/>
          </a:ln>
        </p:spPr>
      </p:sp>
      <p:sp>
        <p:nvSpPr>
          <p:cNvPr id="48" name="Text 46"/>
          <p:cNvSpPr/>
          <p:nvPr/>
        </p:nvSpPr>
        <p:spPr>
          <a:xfrm>
            <a:off x="4937760" y="3236976"/>
            <a:ext cx="411480" cy="530352"/>
          </a:xfrm>
          <a:prstGeom prst="rect">
            <a:avLst/>
          </a:prstGeom>
          <a:noFill/>
          <a:ln/>
        </p:spPr>
        <p:txBody>
          <a:bodyPr wrap="square" lIns="0" tIns="0" rIns="0" bIns="0" rtlCol="0" anchor="ctr"/>
          <a:lstStyle/>
          <a:p>
            <a:pPr algn="ctr" indent="0" marL="0">
              <a:buNone/>
            </a:pPr>
            <a:r>
              <a:rPr lang="en-US" sz="1400" b="1" dirty="0">
                <a:solidFill>
                  <a:srgbClr val="3A9B98"/>
                </a:solidFill>
              </a:rPr>
              <a:t>09</a:t>
            </a:r>
            <a:endParaRPr lang="en-US" sz="1400" dirty="0"/>
          </a:p>
        </p:txBody>
      </p:sp>
      <p:sp>
        <p:nvSpPr>
          <p:cNvPr id="49" name="Shape 47"/>
          <p:cNvSpPr/>
          <p:nvPr/>
        </p:nvSpPr>
        <p:spPr>
          <a:xfrm>
            <a:off x="5349240" y="3346704"/>
            <a:ext cx="27432" cy="310896"/>
          </a:xfrm>
          <a:prstGeom prst="rect">
            <a:avLst/>
          </a:prstGeom>
          <a:solidFill>
            <a:srgbClr val="3A9B98"/>
          </a:solidFill>
          <a:ln w="12700">
            <a:solidFill>
              <a:srgbClr val="3A9B98"/>
            </a:solidFill>
            <a:prstDash val="solid"/>
          </a:ln>
        </p:spPr>
      </p:sp>
      <p:sp>
        <p:nvSpPr>
          <p:cNvPr id="50" name="Text 48"/>
          <p:cNvSpPr/>
          <p:nvPr/>
        </p:nvSpPr>
        <p:spPr>
          <a:xfrm>
            <a:off x="5440680" y="3236976"/>
            <a:ext cx="3337560" cy="274320"/>
          </a:xfrm>
          <a:prstGeom prst="rect">
            <a:avLst/>
          </a:prstGeom>
          <a:noFill/>
          <a:ln/>
        </p:spPr>
        <p:txBody>
          <a:bodyPr wrap="square" lIns="0" tIns="0" rIns="0" bIns="0" rtlCol="0" anchor="b"/>
          <a:lstStyle/>
          <a:p>
            <a:pPr indent="0" marL="0">
              <a:buNone/>
            </a:pPr>
            <a:r>
              <a:rPr lang="en-US" sz="1000" b="1" dirty="0">
                <a:solidFill>
                  <a:srgbClr val="0F172A"/>
                </a:solidFill>
              </a:rPr>
              <a:t>Action Management</a:t>
            </a:r>
            <a:endParaRPr lang="en-US" sz="1000" dirty="0"/>
          </a:p>
        </p:txBody>
      </p:sp>
      <p:sp>
        <p:nvSpPr>
          <p:cNvPr id="51" name="Text 49"/>
          <p:cNvSpPr/>
          <p:nvPr/>
        </p:nvSpPr>
        <p:spPr>
          <a:xfrm>
            <a:off x="5440680" y="3502152"/>
            <a:ext cx="3337560" cy="265176"/>
          </a:xfrm>
          <a:prstGeom prst="rect">
            <a:avLst/>
          </a:prstGeom>
          <a:noFill/>
          <a:ln/>
        </p:spPr>
        <p:txBody>
          <a:bodyPr wrap="square" lIns="0" tIns="0" rIns="0" bIns="0" rtlCol="0" anchor="t"/>
          <a:lstStyle/>
          <a:p>
            <a:pPr indent="0" marL="0">
              <a:buNone/>
            </a:pPr>
            <a:r>
              <a:rPr lang="en-US" sz="800" dirty="0">
                <a:solidFill>
                  <a:srgbClr val="64748B"/>
                </a:solidFill>
              </a:rPr>
              <a:t>Cross-module action tracking and follow-up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Getting Started</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3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Getting Started</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Login, navigation and finding your way around the system</a:t>
            </a:r>
            <a:endParaRPr lang="en-US" sz="1200" dirty="0"/>
          </a:p>
        </p:txBody>
      </p:sp>
      <p:sp>
        <p:nvSpPr>
          <p:cNvPr id="8" name="Shape 6"/>
          <p:cNvSpPr/>
          <p:nvPr/>
        </p:nvSpPr>
        <p:spPr>
          <a:xfrm>
            <a:off x="457200" y="1371600"/>
            <a:ext cx="2651760" cy="13716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2651760" cy="45720"/>
          </a:xfrm>
          <a:prstGeom prst="rect">
            <a:avLst/>
          </a:prstGeom>
          <a:solidFill>
            <a:srgbClr val="3A9B98"/>
          </a:solidFill>
          <a:ln w="12700">
            <a:solidFill>
              <a:srgbClr val="3A9B98"/>
            </a:solidFill>
            <a:prstDash val="solid"/>
          </a:ln>
        </p:spPr>
      </p:sp>
      <p:sp>
        <p:nvSpPr>
          <p:cNvPr id="10" name="Text 8"/>
          <p:cNvSpPr/>
          <p:nvPr/>
        </p:nvSpPr>
        <p:spPr>
          <a:xfrm>
            <a:off x="621792" y="1463040"/>
            <a:ext cx="2377440" cy="320040"/>
          </a:xfrm>
          <a:prstGeom prst="rect">
            <a:avLst/>
          </a:prstGeom>
          <a:noFill/>
          <a:ln/>
        </p:spPr>
        <p:txBody>
          <a:bodyPr wrap="square" lIns="0" tIns="0" rIns="0" bIns="0" rtlCol="0" anchor="ctr"/>
          <a:lstStyle/>
          <a:p>
            <a:pPr indent="0" marL="0">
              <a:buNone/>
            </a:pPr>
            <a:r>
              <a:rPr lang="en-US" sz="1100" b="1" dirty="0">
                <a:solidFill>
                  <a:srgbClr val="0F172A"/>
                </a:solidFill>
              </a:rPr>
              <a:t>🔐  Logging In</a:t>
            </a:r>
            <a:endParaRPr lang="en-US" sz="1100" dirty="0"/>
          </a:p>
        </p:txBody>
      </p:sp>
      <p:sp>
        <p:nvSpPr>
          <p:cNvPr id="11" name="Text 9"/>
          <p:cNvSpPr/>
          <p:nvPr/>
        </p:nvSpPr>
        <p:spPr>
          <a:xfrm>
            <a:off x="621792" y="1828800"/>
            <a:ext cx="2322576" cy="777240"/>
          </a:xfrm>
          <a:prstGeom prst="rect">
            <a:avLst/>
          </a:prstGeom>
          <a:noFill/>
          <a:ln/>
        </p:spPr>
        <p:txBody>
          <a:bodyPr wrap="square" lIns="0" tIns="0" rIns="0" bIns="0" rtlCol="0" anchor="t"/>
          <a:lstStyle/>
          <a:p>
            <a:pPr indent="0" marL="0">
              <a:buNone/>
            </a:pPr>
            <a:r>
              <a:rPr lang="en-US" sz="950" dirty="0">
                <a:solidFill>
                  <a:srgbClr val="475569"/>
                </a:solidFill>
              </a:rPr>
              <a:t>Navigate to your Enshore IMS URL and sign in with your company email and password. Your role and module access are configured by your System Administrator.</a:t>
            </a:r>
            <a:endParaRPr lang="en-US" sz="950" dirty="0"/>
          </a:p>
        </p:txBody>
      </p:sp>
      <p:sp>
        <p:nvSpPr>
          <p:cNvPr id="12" name="Shape 10"/>
          <p:cNvSpPr/>
          <p:nvPr/>
        </p:nvSpPr>
        <p:spPr>
          <a:xfrm>
            <a:off x="3246120" y="1371600"/>
            <a:ext cx="2651760" cy="13716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3246120" y="1371600"/>
            <a:ext cx="2651760" cy="45720"/>
          </a:xfrm>
          <a:prstGeom prst="rect">
            <a:avLst/>
          </a:prstGeom>
          <a:solidFill>
            <a:srgbClr val="3A9B98"/>
          </a:solidFill>
          <a:ln w="12700">
            <a:solidFill>
              <a:srgbClr val="3A9B98"/>
            </a:solidFill>
            <a:prstDash val="solid"/>
          </a:ln>
        </p:spPr>
      </p:sp>
      <p:sp>
        <p:nvSpPr>
          <p:cNvPr id="14" name="Text 12"/>
          <p:cNvSpPr/>
          <p:nvPr/>
        </p:nvSpPr>
        <p:spPr>
          <a:xfrm>
            <a:off x="3410712" y="1463040"/>
            <a:ext cx="2377440" cy="320040"/>
          </a:xfrm>
          <a:prstGeom prst="rect">
            <a:avLst/>
          </a:prstGeom>
          <a:noFill/>
          <a:ln/>
        </p:spPr>
        <p:txBody>
          <a:bodyPr wrap="square" lIns="0" tIns="0" rIns="0" bIns="0" rtlCol="0" anchor="ctr"/>
          <a:lstStyle/>
          <a:p>
            <a:pPr indent="0" marL="0">
              <a:buNone/>
            </a:pPr>
            <a:r>
              <a:rPr lang="en-US" sz="1100" b="1" dirty="0">
                <a:solidFill>
                  <a:srgbClr val="0F172A"/>
                </a:solidFill>
              </a:rPr>
              <a:t>🏠  Home Dashboard</a:t>
            </a:r>
            <a:endParaRPr lang="en-US" sz="1100" dirty="0"/>
          </a:p>
        </p:txBody>
      </p:sp>
      <p:sp>
        <p:nvSpPr>
          <p:cNvPr id="15" name="Text 13"/>
          <p:cNvSpPr/>
          <p:nvPr/>
        </p:nvSpPr>
        <p:spPr>
          <a:xfrm>
            <a:off x="3410712" y="1828800"/>
            <a:ext cx="2322576" cy="777240"/>
          </a:xfrm>
          <a:prstGeom prst="rect">
            <a:avLst/>
          </a:prstGeom>
          <a:noFill/>
          <a:ln/>
        </p:spPr>
        <p:txBody>
          <a:bodyPr wrap="square" lIns="0" tIns="0" rIns="0" bIns="0" rtlCol="0" anchor="t"/>
          <a:lstStyle/>
          <a:p>
            <a:pPr indent="0" marL="0">
              <a:buNone/>
            </a:pPr>
            <a:r>
              <a:rPr lang="en-US" sz="950" dirty="0">
                <a:solidFill>
                  <a:srgbClr val="475569"/>
                </a:solidFill>
              </a:rPr>
              <a:t>After login you land on the Home Dashboard — a summary of outstanding actions, recent activity, and quick-links to every module you have access to.</a:t>
            </a:r>
            <a:endParaRPr lang="en-US" sz="950" dirty="0"/>
          </a:p>
        </p:txBody>
      </p:sp>
      <p:sp>
        <p:nvSpPr>
          <p:cNvPr id="16" name="Shape 14"/>
          <p:cNvSpPr/>
          <p:nvPr/>
        </p:nvSpPr>
        <p:spPr>
          <a:xfrm>
            <a:off x="6035040" y="1371600"/>
            <a:ext cx="2651760" cy="13716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6035040" y="1371600"/>
            <a:ext cx="2651760" cy="45720"/>
          </a:xfrm>
          <a:prstGeom prst="rect">
            <a:avLst/>
          </a:prstGeom>
          <a:solidFill>
            <a:srgbClr val="3A9B98"/>
          </a:solidFill>
          <a:ln w="12700">
            <a:solidFill>
              <a:srgbClr val="3A9B98"/>
            </a:solidFill>
            <a:prstDash val="solid"/>
          </a:ln>
        </p:spPr>
      </p:sp>
      <p:sp>
        <p:nvSpPr>
          <p:cNvPr id="18" name="Text 16"/>
          <p:cNvSpPr/>
          <p:nvPr/>
        </p:nvSpPr>
        <p:spPr>
          <a:xfrm>
            <a:off x="6199632" y="1463040"/>
            <a:ext cx="2377440" cy="320040"/>
          </a:xfrm>
          <a:prstGeom prst="rect">
            <a:avLst/>
          </a:prstGeom>
          <a:noFill/>
          <a:ln/>
        </p:spPr>
        <p:txBody>
          <a:bodyPr wrap="square" lIns="0" tIns="0" rIns="0" bIns="0" rtlCol="0" anchor="ctr"/>
          <a:lstStyle/>
          <a:p>
            <a:pPr indent="0" marL="0">
              <a:buNone/>
            </a:pPr>
            <a:r>
              <a:rPr lang="en-US" sz="1100" b="1" dirty="0">
                <a:solidFill>
                  <a:srgbClr val="0F172A"/>
                </a:solidFill>
              </a:rPr>
              <a:t>🧭  Navigation Rail</a:t>
            </a:r>
            <a:endParaRPr lang="en-US" sz="1100" dirty="0"/>
          </a:p>
        </p:txBody>
      </p:sp>
      <p:sp>
        <p:nvSpPr>
          <p:cNvPr id="19" name="Text 17"/>
          <p:cNvSpPr/>
          <p:nvPr/>
        </p:nvSpPr>
        <p:spPr>
          <a:xfrm>
            <a:off x="6199632" y="1828800"/>
            <a:ext cx="2322576" cy="777240"/>
          </a:xfrm>
          <a:prstGeom prst="rect">
            <a:avLst/>
          </a:prstGeom>
          <a:noFill/>
          <a:ln/>
        </p:spPr>
        <p:txBody>
          <a:bodyPr wrap="square" lIns="0" tIns="0" rIns="0" bIns="0" rtlCol="0" anchor="t"/>
          <a:lstStyle/>
          <a:p>
            <a:pPr indent="0" marL="0">
              <a:buNone/>
            </a:pPr>
            <a:r>
              <a:rPr lang="en-US" sz="950" dirty="0">
                <a:solidFill>
                  <a:srgbClr val="475569"/>
                </a:solidFill>
              </a:rPr>
              <a:t>The icon rail on the left-hand side switches between modules. The active module is highlighted in teal. The header shows which module you are in.</a:t>
            </a:r>
            <a:endParaRPr lang="en-US" sz="950" dirty="0"/>
          </a:p>
        </p:txBody>
      </p:sp>
      <p:sp>
        <p:nvSpPr>
          <p:cNvPr id="20" name="Shape 18"/>
          <p:cNvSpPr/>
          <p:nvPr/>
        </p:nvSpPr>
        <p:spPr>
          <a:xfrm>
            <a:off x="457200" y="2880360"/>
            <a:ext cx="8229600" cy="1280160"/>
          </a:xfrm>
          <a:prstGeom prst="rect">
            <a:avLst/>
          </a:prstGeom>
          <a:solidFill>
            <a:srgbClr val="EEF8F7"/>
          </a:solidFill>
          <a:ln w="12700">
            <a:solidFill>
              <a:srgbClr val="2F7F7D"/>
            </a:solidFill>
            <a:prstDash val="solid"/>
          </a:ln>
        </p:spPr>
      </p:sp>
      <p:sp>
        <p:nvSpPr>
          <p:cNvPr id="21" name="Text 19"/>
          <p:cNvSpPr/>
          <p:nvPr/>
        </p:nvSpPr>
        <p:spPr>
          <a:xfrm>
            <a:off x="640080" y="2971800"/>
            <a:ext cx="7863840" cy="320040"/>
          </a:xfrm>
          <a:prstGeom prst="rect">
            <a:avLst/>
          </a:prstGeom>
          <a:noFill/>
          <a:ln/>
        </p:spPr>
        <p:txBody>
          <a:bodyPr wrap="square" lIns="0" tIns="0" rIns="0" bIns="0" rtlCol="0" anchor="ctr"/>
          <a:lstStyle/>
          <a:p>
            <a:pPr indent="0" marL="0">
              <a:buNone/>
            </a:pPr>
            <a:r>
              <a:rPr lang="en-US" sz="1100" b="1" dirty="0">
                <a:solidFill>
                  <a:srgbClr val="2F7F7D"/>
                </a:solidFill>
              </a:rPr>
              <a:t>👥  Roles &amp; Access Control</a:t>
            </a:r>
            <a:endParaRPr lang="en-US" sz="1100" dirty="0"/>
          </a:p>
        </p:txBody>
      </p:sp>
      <p:sp>
        <p:nvSpPr>
          <p:cNvPr id="22" name="Text 20"/>
          <p:cNvSpPr/>
          <p:nvPr/>
        </p:nvSpPr>
        <p:spPr>
          <a:xfrm>
            <a:off x="640080" y="3337560"/>
            <a:ext cx="1371600" cy="256032"/>
          </a:xfrm>
          <a:prstGeom prst="rect">
            <a:avLst/>
          </a:prstGeom>
          <a:noFill/>
          <a:ln/>
        </p:spPr>
        <p:txBody>
          <a:bodyPr wrap="square" lIns="0" tIns="0" rIns="0" bIns="0" rtlCol="0" anchor="ctr"/>
          <a:lstStyle/>
          <a:p>
            <a:pPr indent="0" marL="0">
              <a:buNone/>
            </a:pPr>
            <a:r>
              <a:rPr lang="en-US" sz="900" b="1" dirty="0">
                <a:solidFill>
                  <a:srgbClr val="2F7F7D"/>
                </a:solidFill>
              </a:rPr>
              <a:t>• Manager: </a:t>
            </a:r>
            <a:endParaRPr lang="en-US" sz="900" dirty="0"/>
          </a:p>
        </p:txBody>
      </p:sp>
      <p:sp>
        <p:nvSpPr>
          <p:cNvPr id="23" name="Text 21"/>
          <p:cNvSpPr/>
          <p:nvPr/>
        </p:nvSpPr>
        <p:spPr>
          <a:xfrm>
            <a:off x="1920240" y="3337560"/>
            <a:ext cx="1371600" cy="256032"/>
          </a:xfrm>
          <a:prstGeom prst="rect">
            <a:avLst/>
          </a:prstGeom>
          <a:noFill/>
          <a:ln/>
        </p:spPr>
        <p:txBody>
          <a:bodyPr wrap="square" lIns="0" tIns="0" rIns="0" bIns="0" rtlCol="0" anchor="ctr"/>
          <a:lstStyle/>
          <a:p>
            <a:pPr indent="0" marL="0">
              <a:buNone/>
            </a:pPr>
            <a:r>
              <a:rPr lang="en-US" sz="900" dirty="0">
                <a:solidFill>
                  <a:srgbClr val="475569"/>
                </a:solidFill>
              </a:rPr>
              <a:t>Full access to all modules</a:t>
            </a:r>
            <a:endParaRPr lang="en-US" sz="900" dirty="0"/>
          </a:p>
        </p:txBody>
      </p:sp>
      <p:sp>
        <p:nvSpPr>
          <p:cNvPr id="24" name="Text 22"/>
          <p:cNvSpPr/>
          <p:nvPr/>
        </p:nvSpPr>
        <p:spPr>
          <a:xfrm>
            <a:off x="3383280" y="3337560"/>
            <a:ext cx="1371600" cy="256032"/>
          </a:xfrm>
          <a:prstGeom prst="rect">
            <a:avLst/>
          </a:prstGeom>
          <a:noFill/>
          <a:ln/>
        </p:spPr>
        <p:txBody>
          <a:bodyPr wrap="square" lIns="0" tIns="0" rIns="0" bIns="0" rtlCol="0" anchor="ctr"/>
          <a:lstStyle/>
          <a:p>
            <a:pPr indent="0" marL="0">
              <a:buNone/>
            </a:pPr>
            <a:r>
              <a:rPr lang="en-US" sz="900" b="1" dirty="0">
                <a:solidFill>
                  <a:srgbClr val="2F7F7D"/>
                </a:solidFill>
              </a:rPr>
              <a:t>• Quality Engineer: </a:t>
            </a:r>
            <a:endParaRPr lang="en-US" sz="900" dirty="0"/>
          </a:p>
        </p:txBody>
      </p:sp>
      <p:sp>
        <p:nvSpPr>
          <p:cNvPr id="25" name="Text 23"/>
          <p:cNvSpPr/>
          <p:nvPr/>
        </p:nvSpPr>
        <p:spPr>
          <a:xfrm>
            <a:off x="4663440" y="3337560"/>
            <a:ext cx="1371600" cy="256032"/>
          </a:xfrm>
          <a:prstGeom prst="rect">
            <a:avLst/>
          </a:prstGeom>
          <a:noFill/>
          <a:ln/>
        </p:spPr>
        <p:txBody>
          <a:bodyPr wrap="square" lIns="0" tIns="0" rIns="0" bIns="0" rtlCol="0" anchor="ctr"/>
          <a:lstStyle/>
          <a:p>
            <a:pPr indent="0" marL="0">
              <a:buNone/>
            </a:pPr>
            <a:r>
              <a:rPr lang="en-US" sz="900" dirty="0">
                <a:solidFill>
                  <a:srgbClr val="475569"/>
                </a:solidFill>
              </a:rPr>
              <a:t>Quality, Documents, Actions</a:t>
            </a:r>
            <a:endParaRPr lang="en-US" sz="900" dirty="0"/>
          </a:p>
        </p:txBody>
      </p:sp>
      <p:sp>
        <p:nvSpPr>
          <p:cNvPr id="26" name="Text 24"/>
          <p:cNvSpPr/>
          <p:nvPr/>
        </p:nvSpPr>
        <p:spPr>
          <a:xfrm>
            <a:off x="6126480" y="3337560"/>
            <a:ext cx="1371600" cy="256032"/>
          </a:xfrm>
          <a:prstGeom prst="rect">
            <a:avLst/>
          </a:prstGeom>
          <a:noFill/>
          <a:ln/>
        </p:spPr>
        <p:txBody>
          <a:bodyPr wrap="square" lIns="0" tIns="0" rIns="0" bIns="0" rtlCol="0" anchor="ctr"/>
          <a:lstStyle/>
          <a:p>
            <a:pPr indent="0" marL="0">
              <a:buNone/>
            </a:pPr>
            <a:r>
              <a:rPr lang="en-US" sz="900" b="1" dirty="0">
                <a:solidFill>
                  <a:srgbClr val="2F7F7D"/>
                </a:solidFill>
              </a:rPr>
              <a:t>• HSE Officer: </a:t>
            </a:r>
            <a:endParaRPr lang="en-US" sz="900" dirty="0"/>
          </a:p>
        </p:txBody>
      </p:sp>
      <p:sp>
        <p:nvSpPr>
          <p:cNvPr id="27" name="Text 25"/>
          <p:cNvSpPr/>
          <p:nvPr/>
        </p:nvSpPr>
        <p:spPr>
          <a:xfrm>
            <a:off x="7406640" y="3337560"/>
            <a:ext cx="1371600" cy="256032"/>
          </a:xfrm>
          <a:prstGeom prst="rect">
            <a:avLst/>
          </a:prstGeom>
          <a:noFill/>
          <a:ln/>
        </p:spPr>
        <p:txBody>
          <a:bodyPr wrap="square" lIns="0" tIns="0" rIns="0" bIns="0" rtlCol="0" anchor="ctr"/>
          <a:lstStyle/>
          <a:p>
            <a:pPr indent="0" marL="0">
              <a:buNone/>
            </a:pPr>
            <a:r>
              <a:rPr lang="en-US" sz="900" dirty="0">
                <a:solidFill>
                  <a:srgbClr val="475569"/>
                </a:solidFill>
              </a:rPr>
              <a:t>HSE, Actions</a:t>
            </a:r>
            <a:endParaRPr lang="en-US" sz="900" dirty="0"/>
          </a:p>
        </p:txBody>
      </p:sp>
      <p:sp>
        <p:nvSpPr>
          <p:cNvPr id="28" name="Text 26"/>
          <p:cNvSpPr/>
          <p:nvPr/>
        </p:nvSpPr>
        <p:spPr>
          <a:xfrm>
            <a:off x="640080" y="3657600"/>
            <a:ext cx="1371600" cy="256032"/>
          </a:xfrm>
          <a:prstGeom prst="rect">
            <a:avLst/>
          </a:prstGeom>
          <a:noFill/>
          <a:ln/>
        </p:spPr>
        <p:txBody>
          <a:bodyPr wrap="square" lIns="0" tIns="0" rIns="0" bIns="0" rtlCol="0" anchor="ctr"/>
          <a:lstStyle/>
          <a:p>
            <a:pPr indent="0" marL="0">
              <a:buNone/>
            </a:pPr>
            <a:r>
              <a:rPr lang="en-US" sz="900" b="1" dirty="0">
                <a:solidFill>
                  <a:srgbClr val="2F7F7D"/>
                </a:solidFill>
              </a:rPr>
              <a:t>• Document Controller: </a:t>
            </a:r>
            <a:endParaRPr lang="en-US" sz="900" dirty="0"/>
          </a:p>
        </p:txBody>
      </p:sp>
      <p:sp>
        <p:nvSpPr>
          <p:cNvPr id="29" name="Text 27"/>
          <p:cNvSpPr/>
          <p:nvPr/>
        </p:nvSpPr>
        <p:spPr>
          <a:xfrm>
            <a:off x="1920240" y="3657600"/>
            <a:ext cx="1371600" cy="256032"/>
          </a:xfrm>
          <a:prstGeom prst="rect">
            <a:avLst/>
          </a:prstGeom>
          <a:noFill/>
          <a:ln/>
        </p:spPr>
        <p:txBody>
          <a:bodyPr wrap="square" lIns="0" tIns="0" rIns="0" bIns="0" rtlCol="0" anchor="ctr"/>
          <a:lstStyle/>
          <a:p>
            <a:pPr indent="0" marL="0">
              <a:buNone/>
            </a:pPr>
            <a:r>
              <a:rPr lang="en-US" sz="900" dirty="0">
                <a:solidFill>
                  <a:srgbClr val="475569"/>
                </a:solidFill>
              </a:rPr>
              <a:t>Documents, Actions</a:t>
            </a:r>
            <a:endParaRPr lang="en-US" sz="900" dirty="0"/>
          </a:p>
        </p:txBody>
      </p:sp>
      <p:sp>
        <p:nvSpPr>
          <p:cNvPr id="30" name="Text 28"/>
          <p:cNvSpPr/>
          <p:nvPr/>
        </p:nvSpPr>
        <p:spPr>
          <a:xfrm>
            <a:off x="3383280" y="3657600"/>
            <a:ext cx="1371600" cy="256032"/>
          </a:xfrm>
          <a:prstGeom prst="rect">
            <a:avLst/>
          </a:prstGeom>
          <a:noFill/>
          <a:ln/>
        </p:spPr>
        <p:txBody>
          <a:bodyPr wrap="square" lIns="0" tIns="0" rIns="0" bIns="0" rtlCol="0" anchor="ctr"/>
          <a:lstStyle/>
          <a:p>
            <a:pPr indent="0" marL="0">
              <a:buNone/>
            </a:pPr>
            <a:r>
              <a:rPr lang="en-US" sz="900" b="1" dirty="0">
                <a:solidFill>
                  <a:srgbClr val="2F7F7D"/>
                </a:solidFill>
              </a:rPr>
              <a:t>• Asset Manager: </a:t>
            </a:r>
            <a:endParaRPr lang="en-US" sz="900" dirty="0"/>
          </a:p>
        </p:txBody>
      </p:sp>
      <p:sp>
        <p:nvSpPr>
          <p:cNvPr id="31" name="Text 29"/>
          <p:cNvSpPr/>
          <p:nvPr/>
        </p:nvSpPr>
        <p:spPr>
          <a:xfrm>
            <a:off x="4663440" y="3657600"/>
            <a:ext cx="1371600" cy="256032"/>
          </a:xfrm>
          <a:prstGeom prst="rect">
            <a:avLst/>
          </a:prstGeom>
          <a:noFill/>
          <a:ln/>
        </p:spPr>
        <p:txBody>
          <a:bodyPr wrap="square" lIns="0" tIns="0" rIns="0" bIns="0" rtlCol="0" anchor="ctr"/>
          <a:lstStyle/>
          <a:p>
            <a:pPr indent="0" marL="0">
              <a:buNone/>
            </a:pPr>
            <a:r>
              <a:rPr lang="en-US" sz="900" dirty="0">
                <a:solidFill>
                  <a:srgbClr val="475569"/>
                </a:solidFill>
              </a:rPr>
              <a:t>Assets, Actions</a:t>
            </a:r>
            <a:endParaRPr lang="en-US" sz="900" dirty="0"/>
          </a:p>
        </p:txBody>
      </p:sp>
      <p:sp>
        <p:nvSpPr>
          <p:cNvPr id="32" name="Text 30"/>
          <p:cNvSpPr/>
          <p:nvPr/>
        </p:nvSpPr>
        <p:spPr>
          <a:xfrm>
            <a:off x="6126480" y="3657600"/>
            <a:ext cx="1371600" cy="256032"/>
          </a:xfrm>
          <a:prstGeom prst="rect">
            <a:avLst/>
          </a:prstGeom>
          <a:noFill/>
          <a:ln/>
        </p:spPr>
        <p:txBody>
          <a:bodyPr wrap="square" lIns="0" tIns="0" rIns="0" bIns="0" rtlCol="0" anchor="ctr"/>
          <a:lstStyle/>
          <a:p>
            <a:pPr indent="0" marL="0">
              <a:buNone/>
            </a:pPr>
            <a:r>
              <a:rPr lang="en-US" sz="900" b="1" dirty="0">
                <a:solidFill>
                  <a:srgbClr val="2F7F7D"/>
                </a:solidFill>
              </a:rPr>
              <a:t>• Viewer: </a:t>
            </a:r>
            <a:endParaRPr lang="en-US" sz="900" dirty="0"/>
          </a:p>
        </p:txBody>
      </p:sp>
      <p:sp>
        <p:nvSpPr>
          <p:cNvPr id="33" name="Text 31"/>
          <p:cNvSpPr/>
          <p:nvPr/>
        </p:nvSpPr>
        <p:spPr>
          <a:xfrm>
            <a:off x="7406640" y="3657600"/>
            <a:ext cx="1371600" cy="256032"/>
          </a:xfrm>
          <a:prstGeom prst="rect">
            <a:avLst/>
          </a:prstGeom>
          <a:noFill/>
          <a:ln/>
        </p:spPr>
        <p:txBody>
          <a:bodyPr wrap="square" lIns="0" tIns="0" rIns="0" bIns="0" rtlCol="0" anchor="ctr"/>
          <a:lstStyle/>
          <a:p>
            <a:pPr indent="0" marL="0">
              <a:buNone/>
            </a:pPr>
            <a:r>
              <a:rPr lang="en-US" sz="900" dirty="0">
                <a:solidFill>
                  <a:srgbClr val="475569"/>
                </a:solidFill>
              </a:rPr>
              <a:t>Read-only access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Quality Management</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4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Quality Management</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Central hub for quality performance — dashboard, nonconformances, changes, and audits</a:t>
            </a:r>
            <a:endParaRPr lang="en-US" sz="1200" dirty="0"/>
          </a:p>
        </p:txBody>
      </p:sp>
      <p:sp>
        <p:nvSpPr>
          <p:cNvPr id="8" name="Shape 6"/>
          <p:cNvSpPr/>
          <p:nvPr/>
        </p:nvSpPr>
        <p:spPr>
          <a:xfrm>
            <a:off x="457200" y="1417320"/>
            <a:ext cx="2724912" cy="16002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417320"/>
            <a:ext cx="2724912" cy="45720"/>
          </a:xfrm>
          <a:prstGeom prst="rect">
            <a:avLst/>
          </a:prstGeom>
          <a:solidFill>
            <a:srgbClr val="3A9B98"/>
          </a:solidFill>
          <a:ln w="12700">
            <a:solidFill>
              <a:srgbClr val="3A9B98"/>
            </a:solidFill>
            <a:prstDash val="solid"/>
          </a:ln>
        </p:spPr>
      </p:sp>
      <p:sp>
        <p:nvSpPr>
          <p:cNvPr id="10" name="Text 8"/>
          <p:cNvSpPr/>
          <p:nvPr/>
        </p:nvSpPr>
        <p:spPr>
          <a:xfrm>
            <a:off x="621792" y="150876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Quality Dashboard</a:t>
            </a:r>
            <a:endParaRPr lang="en-US" sz="1100" dirty="0"/>
          </a:p>
        </p:txBody>
      </p:sp>
      <p:sp>
        <p:nvSpPr>
          <p:cNvPr id="11" name="Text 9"/>
          <p:cNvSpPr/>
          <p:nvPr/>
        </p:nvSpPr>
        <p:spPr>
          <a:xfrm>
            <a:off x="621792" y="1874520"/>
            <a:ext cx="2395728" cy="1005840"/>
          </a:xfrm>
          <a:prstGeom prst="rect">
            <a:avLst/>
          </a:prstGeom>
          <a:noFill/>
          <a:ln/>
        </p:spPr>
        <p:txBody>
          <a:bodyPr wrap="square" lIns="0" tIns="0" rIns="0" bIns="0" rtlCol="0" anchor="t"/>
          <a:lstStyle/>
          <a:p>
            <a:pPr indent="0" marL="0">
              <a:buNone/>
            </a:pPr>
            <a:r>
              <a:rPr lang="en-US" sz="950" dirty="0">
                <a:solidFill>
                  <a:srgbClr val="475569"/>
                </a:solidFill>
              </a:rPr>
              <a:t>KPI cards, charts, and summary views. Year filter lets you compare periods at a glance.</a:t>
            </a:r>
            <a:endParaRPr lang="en-US" sz="950" dirty="0"/>
          </a:p>
        </p:txBody>
      </p:sp>
      <p:sp>
        <p:nvSpPr>
          <p:cNvPr id="12" name="Shape 10"/>
          <p:cNvSpPr/>
          <p:nvPr/>
        </p:nvSpPr>
        <p:spPr>
          <a:xfrm>
            <a:off x="3310128" y="1417320"/>
            <a:ext cx="2724912" cy="16002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3310128" y="1417320"/>
            <a:ext cx="2724912" cy="45720"/>
          </a:xfrm>
          <a:prstGeom prst="rect">
            <a:avLst/>
          </a:prstGeom>
          <a:solidFill>
            <a:srgbClr val="3A9B98"/>
          </a:solidFill>
          <a:ln w="12700">
            <a:solidFill>
              <a:srgbClr val="3A9B98"/>
            </a:solidFill>
            <a:prstDash val="solid"/>
          </a:ln>
        </p:spPr>
      </p:sp>
      <p:sp>
        <p:nvSpPr>
          <p:cNvPr id="14" name="Text 12"/>
          <p:cNvSpPr/>
          <p:nvPr/>
        </p:nvSpPr>
        <p:spPr>
          <a:xfrm>
            <a:off x="3474720" y="150876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Management of Change (MOC)</a:t>
            </a:r>
            <a:endParaRPr lang="en-US" sz="1100" dirty="0"/>
          </a:p>
        </p:txBody>
      </p:sp>
      <p:sp>
        <p:nvSpPr>
          <p:cNvPr id="15" name="Text 13"/>
          <p:cNvSpPr/>
          <p:nvPr/>
        </p:nvSpPr>
        <p:spPr>
          <a:xfrm>
            <a:off x="3474720" y="1874520"/>
            <a:ext cx="2395728" cy="1005840"/>
          </a:xfrm>
          <a:prstGeom prst="rect">
            <a:avLst/>
          </a:prstGeom>
          <a:noFill/>
          <a:ln/>
        </p:spPr>
        <p:txBody>
          <a:bodyPr wrap="square" lIns="0" tIns="0" rIns="0" bIns="0" rtlCol="0" anchor="t"/>
          <a:lstStyle/>
          <a:p>
            <a:pPr indent="0" marL="0">
              <a:buNone/>
            </a:pPr>
            <a:r>
              <a:rPr lang="en-US" sz="950" dirty="0">
                <a:solidFill>
                  <a:srgbClr val="475569"/>
                </a:solidFill>
              </a:rPr>
              <a:t>Raise, track and close changes to systems, processes or equipment. Supports impact assessment and approval routing.</a:t>
            </a:r>
            <a:endParaRPr lang="en-US" sz="950" dirty="0"/>
          </a:p>
        </p:txBody>
      </p:sp>
      <p:sp>
        <p:nvSpPr>
          <p:cNvPr id="16" name="Shape 14"/>
          <p:cNvSpPr/>
          <p:nvPr/>
        </p:nvSpPr>
        <p:spPr>
          <a:xfrm>
            <a:off x="6163056" y="1417320"/>
            <a:ext cx="2724912" cy="16002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6163056" y="1417320"/>
            <a:ext cx="2724912" cy="45720"/>
          </a:xfrm>
          <a:prstGeom prst="rect">
            <a:avLst/>
          </a:prstGeom>
          <a:solidFill>
            <a:srgbClr val="3A9B98"/>
          </a:solidFill>
          <a:ln w="12700">
            <a:solidFill>
              <a:srgbClr val="3A9B98"/>
            </a:solidFill>
            <a:prstDash val="solid"/>
          </a:ln>
        </p:spPr>
      </p:sp>
      <p:sp>
        <p:nvSpPr>
          <p:cNvPr id="18" name="Text 16"/>
          <p:cNvSpPr/>
          <p:nvPr/>
        </p:nvSpPr>
        <p:spPr>
          <a:xfrm>
            <a:off x="6327648" y="150876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NCR / CAPA</a:t>
            </a:r>
            <a:endParaRPr lang="en-US" sz="1100" dirty="0"/>
          </a:p>
        </p:txBody>
      </p:sp>
      <p:sp>
        <p:nvSpPr>
          <p:cNvPr id="19" name="Text 17"/>
          <p:cNvSpPr/>
          <p:nvPr/>
        </p:nvSpPr>
        <p:spPr>
          <a:xfrm>
            <a:off x="6327648" y="1874520"/>
            <a:ext cx="2395728" cy="1005840"/>
          </a:xfrm>
          <a:prstGeom prst="rect">
            <a:avLst/>
          </a:prstGeom>
          <a:noFill/>
          <a:ln/>
        </p:spPr>
        <p:txBody>
          <a:bodyPr wrap="square" lIns="0" tIns="0" rIns="0" bIns="0" rtlCol="0" anchor="t"/>
          <a:lstStyle/>
          <a:p>
            <a:pPr indent="0" marL="0">
              <a:buNone/>
            </a:pPr>
            <a:r>
              <a:rPr lang="en-US" sz="950" dirty="0">
                <a:solidFill>
                  <a:srgbClr val="475569"/>
                </a:solidFill>
              </a:rPr>
              <a:t>Log nonconformances and corrective actions. Tracks root cause, containment, corrective and preventive actions through to closure.</a:t>
            </a:r>
            <a:endParaRPr lang="en-US" sz="950" dirty="0"/>
          </a:p>
        </p:txBody>
      </p:sp>
      <p:sp>
        <p:nvSpPr>
          <p:cNvPr id="20" name="Shape 18"/>
          <p:cNvSpPr/>
          <p:nvPr/>
        </p:nvSpPr>
        <p:spPr>
          <a:xfrm>
            <a:off x="457200" y="3154680"/>
            <a:ext cx="2724912" cy="16002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57200" y="3154680"/>
            <a:ext cx="2724912" cy="45720"/>
          </a:xfrm>
          <a:prstGeom prst="rect">
            <a:avLst/>
          </a:prstGeom>
          <a:solidFill>
            <a:srgbClr val="3A9B98"/>
          </a:solidFill>
          <a:ln w="12700">
            <a:solidFill>
              <a:srgbClr val="3A9B98"/>
            </a:solidFill>
            <a:prstDash val="solid"/>
          </a:ln>
        </p:spPr>
      </p:sp>
      <p:sp>
        <p:nvSpPr>
          <p:cNvPr id="22" name="Text 20"/>
          <p:cNvSpPr/>
          <p:nvPr/>
        </p:nvSpPr>
        <p:spPr>
          <a:xfrm>
            <a:off x="621792"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Audits</a:t>
            </a:r>
            <a:endParaRPr lang="en-US" sz="1100" dirty="0"/>
          </a:p>
        </p:txBody>
      </p:sp>
      <p:sp>
        <p:nvSpPr>
          <p:cNvPr id="23" name="Text 21"/>
          <p:cNvSpPr/>
          <p:nvPr/>
        </p:nvSpPr>
        <p:spPr>
          <a:xfrm>
            <a:off x="621792" y="3611880"/>
            <a:ext cx="2395728" cy="1005840"/>
          </a:xfrm>
          <a:prstGeom prst="rect">
            <a:avLst/>
          </a:prstGeom>
          <a:noFill/>
          <a:ln/>
        </p:spPr>
        <p:txBody>
          <a:bodyPr wrap="square" lIns="0" tIns="0" rIns="0" bIns="0" rtlCol="0" anchor="t"/>
          <a:lstStyle/>
          <a:p>
            <a:pPr indent="0" marL="0">
              <a:buNone/>
            </a:pPr>
            <a:r>
              <a:rPr lang="en-US" sz="950" dirty="0">
                <a:solidFill>
                  <a:srgbClr val="475569"/>
                </a:solidFill>
              </a:rPr>
              <a:t>Schedule internal and external audits, record findings, assign corrective actions, and track closure. Reports summarise audit performance.</a:t>
            </a:r>
            <a:endParaRPr lang="en-US" sz="950" dirty="0"/>
          </a:p>
        </p:txBody>
      </p:sp>
      <p:sp>
        <p:nvSpPr>
          <p:cNvPr id="24" name="Shape 22"/>
          <p:cNvSpPr/>
          <p:nvPr/>
        </p:nvSpPr>
        <p:spPr>
          <a:xfrm>
            <a:off x="3310128" y="3154680"/>
            <a:ext cx="2724912" cy="16002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3310128" y="3154680"/>
            <a:ext cx="2724912" cy="45720"/>
          </a:xfrm>
          <a:prstGeom prst="rect">
            <a:avLst/>
          </a:prstGeom>
          <a:solidFill>
            <a:srgbClr val="3A9B98"/>
          </a:solidFill>
          <a:ln w="12700">
            <a:solidFill>
              <a:srgbClr val="3A9B98"/>
            </a:solidFill>
            <a:prstDash val="solid"/>
          </a:ln>
        </p:spPr>
      </p:sp>
      <p:sp>
        <p:nvSpPr>
          <p:cNvPr id="26" name="Text 24"/>
          <p:cNvSpPr/>
          <p:nvPr/>
        </p:nvSpPr>
        <p:spPr>
          <a:xfrm>
            <a:off x="3474720"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Actions</a:t>
            </a:r>
            <a:endParaRPr lang="en-US" sz="1100" dirty="0"/>
          </a:p>
        </p:txBody>
      </p:sp>
      <p:sp>
        <p:nvSpPr>
          <p:cNvPr id="27" name="Text 25"/>
          <p:cNvSpPr/>
          <p:nvPr/>
        </p:nvSpPr>
        <p:spPr>
          <a:xfrm>
            <a:off x="3474720" y="3611880"/>
            <a:ext cx="2395728" cy="1005840"/>
          </a:xfrm>
          <a:prstGeom prst="rect">
            <a:avLst/>
          </a:prstGeom>
          <a:noFill/>
          <a:ln/>
        </p:spPr>
        <p:txBody>
          <a:bodyPr wrap="square" lIns="0" tIns="0" rIns="0" bIns="0" rtlCol="0" anchor="t"/>
          <a:lstStyle/>
          <a:p>
            <a:pPr indent="0" marL="0">
              <a:buNone/>
            </a:pPr>
            <a:r>
              <a:rPr lang="en-US" sz="950" dirty="0">
                <a:solidFill>
                  <a:srgbClr val="475569"/>
                </a:solidFill>
              </a:rPr>
              <a:t>Quality-specific actions linked to MOC, NCR/CAPA, and audits. Priority, due date, owner, and evidence tracking.</a:t>
            </a:r>
            <a:endParaRPr lang="en-US" sz="950" dirty="0"/>
          </a:p>
        </p:txBody>
      </p:sp>
      <p:sp>
        <p:nvSpPr>
          <p:cNvPr id="28" name="Shape 26"/>
          <p:cNvSpPr/>
          <p:nvPr/>
        </p:nvSpPr>
        <p:spPr>
          <a:xfrm>
            <a:off x="6163056" y="3154680"/>
            <a:ext cx="2724912" cy="16002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6163056" y="3154680"/>
            <a:ext cx="2724912" cy="45720"/>
          </a:xfrm>
          <a:prstGeom prst="rect">
            <a:avLst/>
          </a:prstGeom>
          <a:solidFill>
            <a:srgbClr val="3A9B98"/>
          </a:solidFill>
          <a:ln w="12700">
            <a:solidFill>
              <a:srgbClr val="3A9B98"/>
            </a:solidFill>
            <a:prstDash val="solid"/>
          </a:ln>
        </p:spPr>
      </p:sp>
      <p:sp>
        <p:nvSpPr>
          <p:cNvPr id="30" name="Text 28"/>
          <p:cNvSpPr/>
          <p:nvPr/>
        </p:nvSpPr>
        <p:spPr>
          <a:xfrm>
            <a:off x="6327648"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Reports</a:t>
            </a:r>
            <a:endParaRPr lang="en-US" sz="1100" dirty="0"/>
          </a:p>
        </p:txBody>
      </p:sp>
      <p:sp>
        <p:nvSpPr>
          <p:cNvPr id="31" name="Text 29"/>
          <p:cNvSpPr/>
          <p:nvPr/>
        </p:nvSpPr>
        <p:spPr>
          <a:xfrm>
            <a:off x="6327648" y="3611880"/>
            <a:ext cx="2395728" cy="1005840"/>
          </a:xfrm>
          <a:prstGeom prst="rect">
            <a:avLst/>
          </a:prstGeom>
          <a:noFill/>
          <a:ln/>
        </p:spPr>
        <p:txBody>
          <a:bodyPr wrap="square" lIns="0" tIns="0" rIns="0" bIns="0" rtlCol="0" anchor="t"/>
          <a:lstStyle/>
          <a:p>
            <a:pPr indent="0" marL="0">
              <a:buNone/>
            </a:pPr>
            <a:r>
              <a:rPr lang="en-US" sz="950" dirty="0">
                <a:solidFill>
                  <a:srgbClr val="475569"/>
                </a:solidFill>
              </a:rPr>
              <a:t>Export and view quality performance trends, open items and closure rates.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Quality Management · NCR / CAPA</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5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NCR / CAPA — How It Works</a:t>
            </a:r>
            <a:endParaRPr lang="en-US" sz="2400" dirty="0"/>
          </a:p>
        </p:txBody>
      </p:sp>
      <p:sp>
        <p:nvSpPr>
          <p:cNvPr id="7" name="Shape 5"/>
          <p:cNvSpPr/>
          <p:nvPr/>
        </p:nvSpPr>
        <p:spPr>
          <a:xfrm>
            <a:off x="457200" y="1143000"/>
            <a:ext cx="438912" cy="438912"/>
          </a:xfrm>
          <a:prstGeom prst="ellipse">
            <a:avLst/>
          </a:prstGeom>
          <a:solidFill>
            <a:srgbClr val="3A9B98"/>
          </a:solidFill>
          <a:ln w="12700">
            <a:solidFill>
              <a:srgbClr val="3A9B98"/>
            </a:solidFill>
            <a:prstDash val="solid"/>
          </a:ln>
        </p:spPr>
      </p:sp>
      <p:sp>
        <p:nvSpPr>
          <p:cNvPr id="8" name="Text 6"/>
          <p:cNvSpPr/>
          <p:nvPr/>
        </p:nvSpPr>
        <p:spPr>
          <a:xfrm>
            <a:off x="457200" y="1143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Shape 7"/>
          <p:cNvSpPr/>
          <p:nvPr/>
        </p:nvSpPr>
        <p:spPr>
          <a:xfrm>
            <a:off x="649224" y="1591056"/>
            <a:ext cx="54864" cy="301752"/>
          </a:xfrm>
          <a:prstGeom prst="rect">
            <a:avLst/>
          </a:prstGeom>
          <a:solidFill>
            <a:srgbClr val="DBE3EF"/>
          </a:solidFill>
          <a:ln w="12700">
            <a:solidFill>
              <a:srgbClr val="DBE3EF"/>
            </a:solidFill>
            <a:prstDash val="solid"/>
          </a:ln>
        </p:spPr>
      </p:sp>
      <p:sp>
        <p:nvSpPr>
          <p:cNvPr id="10" name="Text 8"/>
          <p:cNvSpPr/>
          <p:nvPr/>
        </p:nvSpPr>
        <p:spPr>
          <a:xfrm>
            <a:off x="1051560" y="1133856"/>
            <a:ext cx="3200400" cy="274320"/>
          </a:xfrm>
          <a:prstGeom prst="rect">
            <a:avLst/>
          </a:prstGeom>
          <a:noFill/>
          <a:ln/>
        </p:spPr>
        <p:txBody>
          <a:bodyPr wrap="square" lIns="0" tIns="0" rIns="0" bIns="0" rtlCol="0" anchor="ctr"/>
          <a:lstStyle/>
          <a:p>
            <a:pPr indent="0" marL="0">
              <a:buNone/>
            </a:pPr>
            <a:r>
              <a:rPr lang="en-US" sz="1100" b="1" dirty="0">
                <a:solidFill>
                  <a:srgbClr val="0F172A"/>
                </a:solidFill>
              </a:rPr>
              <a:t>Create NCR</a:t>
            </a:r>
            <a:endParaRPr lang="en-US" sz="1100" dirty="0"/>
          </a:p>
        </p:txBody>
      </p:sp>
      <p:sp>
        <p:nvSpPr>
          <p:cNvPr id="11" name="Text 9"/>
          <p:cNvSpPr/>
          <p:nvPr/>
        </p:nvSpPr>
        <p:spPr>
          <a:xfrm>
            <a:off x="1051560" y="1399032"/>
            <a:ext cx="7589520" cy="365760"/>
          </a:xfrm>
          <a:prstGeom prst="rect">
            <a:avLst/>
          </a:prstGeom>
          <a:noFill/>
          <a:ln/>
        </p:spPr>
        <p:txBody>
          <a:bodyPr wrap="square" lIns="0" tIns="0" rIns="0" bIns="0" rtlCol="0" anchor="ctr"/>
          <a:lstStyle/>
          <a:p>
            <a:pPr indent="0" marL="0">
              <a:buNone/>
            </a:pPr>
            <a:r>
              <a:rPr lang="en-US" sz="950" dirty="0">
                <a:solidFill>
                  <a:srgbClr val="475569"/>
                </a:solidFill>
              </a:rPr>
              <a:t>Log the nonconformance with title, description, category, source, department, and severity.</a:t>
            </a:r>
            <a:endParaRPr lang="en-US" sz="950" dirty="0"/>
          </a:p>
        </p:txBody>
      </p:sp>
      <p:sp>
        <p:nvSpPr>
          <p:cNvPr id="12" name="Shape 10"/>
          <p:cNvSpPr/>
          <p:nvPr/>
        </p:nvSpPr>
        <p:spPr>
          <a:xfrm>
            <a:off x="457200" y="1901952"/>
            <a:ext cx="438912" cy="438912"/>
          </a:xfrm>
          <a:prstGeom prst="ellipse">
            <a:avLst/>
          </a:prstGeom>
          <a:solidFill>
            <a:srgbClr val="3A9B98"/>
          </a:solidFill>
          <a:ln w="12700">
            <a:solidFill>
              <a:srgbClr val="3A9B98"/>
            </a:solidFill>
            <a:prstDash val="solid"/>
          </a:ln>
        </p:spPr>
      </p:sp>
      <p:sp>
        <p:nvSpPr>
          <p:cNvPr id="13" name="Text 11"/>
          <p:cNvSpPr/>
          <p:nvPr/>
        </p:nvSpPr>
        <p:spPr>
          <a:xfrm>
            <a:off x="457200" y="190195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Shape 12"/>
          <p:cNvSpPr/>
          <p:nvPr/>
        </p:nvSpPr>
        <p:spPr>
          <a:xfrm>
            <a:off x="649224" y="2350008"/>
            <a:ext cx="54864" cy="301752"/>
          </a:xfrm>
          <a:prstGeom prst="rect">
            <a:avLst/>
          </a:prstGeom>
          <a:solidFill>
            <a:srgbClr val="DBE3EF"/>
          </a:solidFill>
          <a:ln w="12700">
            <a:solidFill>
              <a:srgbClr val="DBE3EF"/>
            </a:solidFill>
            <a:prstDash val="solid"/>
          </a:ln>
        </p:spPr>
      </p:sp>
      <p:sp>
        <p:nvSpPr>
          <p:cNvPr id="15" name="Text 13"/>
          <p:cNvSpPr/>
          <p:nvPr/>
        </p:nvSpPr>
        <p:spPr>
          <a:xfrm>
            <a:off x="1051560" y="1892808"/>
            <a:ext cx="3200400" cy="274320"/>
          </a:xfrm>
          <a:prstGeom prst="rect">
            <a:avLst/>
          </a:prstGeom>
          <a:noFill/>
          <a:ln/>
        </p:spPr>
        <p:txBody>
          <a:bodyPr wrap="square" lIns="0" tIns="0" rIns="0" bIns="0" rtlCol="0" anchor="ctr"/>
          <a:lstStyle/>
          <a:p>
            <a:pPr indent="0" marL="0">
              <a:buNone/>
            </a:pPr>
            <a:r>
              <a:rPr lang="en-US" sz="1100" b="1" dirty="0">
                <a:solidFill>
                  <a:srgbClr val="0F172A"/>
                </a:solidFill>
              </a:rPr>
              <a:t>Assign &amp; Investigate</a:t>
            </a:r>
            <a:endParaRPr lang="en-US" sz="1100" dirty="0"/>
          </a:p>
        </p:txBody>
      </p:sp>
      <p:sp>
        <p:nvSpPr>
          <p:cNvPr id="16" name="Text 14"/>
          <p:cNvSpPr/>
          <p:nvPr/>
        </p:nvSpPr>
        <p:spPr>
          <a:xfrm>
            <a:off x="1051560" y="2157984"/>
            <a:ext cx="7589520" cy="365760"/>
          </a:xfrm>
          <a:prstGeom prst="rect">
            <a:avLst/>
          </a:prstGeom>
          <a:noFill/>
          <a:ln/>
        </p:spPr>
        <p:txBody>
          <a:bodyPr wrap="square" lIns="0" tIns="0" rIns="0" bIns="0" rtlCol="0" anchor="ctr"/>
          <a:lstStyle/>
          <a:p>
            <a:pPr indent="0" marL="0">
              <a:buNone/>
            </a:pPr>
            <a:r>
              <a:rPr lang="en-US" sz="950" dirty="0">
                <a:solidFill>
                  <a:srgbClr val="475569"/>
                </a:solidFill>
              </a:rPr>
              <a:t>Assign an owner. Add root cause analysis and containment actions.</a:t>
            </a:r>
            <a:endParaRPr lang="en-US" sz="950" dirty="0"/>
          </a:p>
        </p:txBody>
      </p:sp>
      <p:sp>
        <p:nvSpPr>
          <p:cNvPr id="17" name="Shape 15"/>
          <p:cNvSpPr/>
          <p:nvPr/>
        </p:nvSpPr>
        <p:spPr>
          <a:xfrm>
            <a:off x="457200" y="2660904"/>
            <a:ext cx="438912" cy="438912"/>
          </a:xfrm>
          <a:prstGeom prst="ellipse">
            <a:avLst/>
          </a:prstGeom>
          <a:solidFill>
            <a:srgbClr val="3A9B98"/>
          </a:solidFill>
          <a:ln w="12700">
            <a:solidFill>
              <a:srgbClr val="3A9B98"/>
            </a:solidFill>
            <a:prstDash val="solid"/>
          </a:ln>
        </p:spPr>
      </p:sp>
      <p:sp>
        <p:nvSpPr>
          <p:cNvPr id="18" name="Text 16"/>
          <p:cNvSpPr/>
          <p:nvPr/>
        </p:nvSpPr>
        <p:spPr>
          <a:xfrm>
            <a:off x="457200" y="266090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9" name="Shape 17"/>
          <p:cNvSpPr/>
          <p:nvPr/>
        </p:nvSpPr>
        <p:spPr>
          <a:xfrm>
            <a:off x="649224" y="3108960"/>
            <a:ext cx="54864" cy="301752"/>
          </a:xfrm>
          <a:prstGeom prst="rect">
            <a:avLst/>
          </a:prstGeom>
          <a:solidFill>
            <a:srgbClr val="DBE3EF"/>
          </a:solidFill>
          <a:ln w="12700">
            <a:solidFill>
              <a:srgbClr val="DBE3EF"/>
            </a:solidFill>
            <a:prstDash val="solid"/>
          </a:ln>
        </p:spPr>
      </p:sp>
      <p:sp>
        <p:nvSpPr>
          <p:cNvPr id="20" name="Text 18"/>
          <p:cNvSpPr/>
          <p:nvPr/>
        </p:nvSpPr>
        <p:spPr>
          <a:xfrm>
            <a:off x="1051560" y="2651760"/>
            <a:ext cx="3200400" cy="274320"/>
          </a:xfrm>
          <a:prstGeom prst="rect">
            <a:avLst/>
          </a:prstGeom>
          <a:noFill/>
          <a:ln/>
        </p:spPr>
        <p:txBody>
          <a:bodyPr wrap="square" lIns="0" tIns="0" rIns="0" bIns="0" rtlCol="0" anchor="ctr"/>
          <a:lstStyle/>
          <a:p>
            <a:pPr indent="0" marL="0">
              <a:buNone/>
            </a:pPr>
            <a:r>
              <a:rPr lang="en-US" sz="1100" b="1" dirty="0">
                <a:solidFill>
                  <a:srgbClr val="0F172A"/>
                </a:solidFill>
              </a:rPr>
              <a:t>Corrective Action</a:t>
            </a:r>
            <a:endParaRPr lang="en-US" sz="1100" dirty="0"/>
          </a:p>
        </p:txBody>
      </p:sp>
      <p:sp>
        <p:nvSpPr>
          <p:cNvPr id="21" name="Text 19"/>
          <p:cNvSpPr/>
          <p:nvPr/>
        </p:nvSpPr>
        <p:spPr>
          <a:xfrm>
            <a:off x="1051560" y="2916936"/>
            <a:ext cx="7589520" cy="365760"/>
          </a:xfrm>
          <a:prstGeom prst="rect">
            <a:avLst/>
          </a:prstGeom>
          <a:noFill/>
          <a:ln/>
        </p:spPr>
        <p:txBody>
          <a:bodyPr wrap="square" lIns="0" tIns="0" rIns="0" bIns="0" rtlCol="0" anchor="ctr"/>
          <a:lstStyle/>
          <a:p>
            <a:pPr indent="0" marL="0">
              <a:buNone/>
            </a:pPr>
            <a:r>
              <a:rPr lang="en-US" sz="950" dirty="0">
                <a:solidFill>
                  <a:srgbClr val="475569"/>
                </a:solidFill>
              </a:rPr>
              <a:t>Define and assign CAPA. Set due dates and link evidence files.</a:t>
            </a:r>
            <a:endParaRPr lang="en-US" sz="950" dirty="0"/>
          </a:p>
        </p:txBody>
      </p:sp>
      <p:sp>
        <p:nvSpPr>
          <p:cNvPr id="22" name="Shape 20"/>
          <p:cNvSpPr/>
          <p:nvPr/>
        </p:nvSpPr>
        <p:spPr>
          <a:xfrm>
            <a:off x="457200" y="3419856"/>
            <a:ext cx="438912" cy="438912"/>
          </a:xfrm>
          <a:prstGeom prst="ellipse">
            <a:avLst/>
          </a:prstGeom>
          <a:solidFill>
            <a:srgbClr val="3A9B98"/>
          </a:solidFill>
          <a:ln w="12700">
            <a:solidFill>
              <a:srgbClr val="3A9B98"/>
            </a:solidFill>
            <a:prstDash val="solid"/>
          </a:ln>
        </p:spPr>
      </p:sp>
      <p:sp>
        <p:nvSpPr>
          <p:cNvPr id="23" name="Text 21"/>
          <p:cNvSpPr/>
          <p:nvPr/>
        </p:nvSpPr>
        <p:spPr>
          <a:xfrm>
            <a:off x="457200" y="341985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4" name="Shape 22"/>
          <p:cNvSpPr/>
          <p:nvPr/>
        </p:nvSpPr>
        <p:spPr>
          <a:xfrm>
            <a:off x="649224" y="3867912"/>
            <a:ext cx="54864" cy="301752"/>
          </a:xfrm>
          <a:prstGeom prst="rect">
            <a:avLst/>
          </a:prstGeom>
          <a:solidFill>
            <a:srgbClr val="DBE3EF"/>
          </a:solidFill>
          <a:ln w="12700">
            <a:solidFill>
              <a:srgbClr val="DBE3EF"/>
            </a:solidFill>
            <a:prstDash val="solid"/>
          </a:ln>
        </p:spPr>
      </p:sp>
      <p:sp>
        <p:nvSpPr>
          <p:cNvPr id="25" name="Text 23"/>
          <p:cNvSpPr/>
          <p:nvPr/>
        </p:nvSpPr>
        <p:spPr>
          <a:xfrm>
            <a:off x="1051560" y="3410712"/>
            <a:ext cx="3200400" cy="274320"/>
          </a:xfrm>
          <a:prstGeom prst="rect">
            <a:avLst/>
          </a:prstGeom>
          <a:noFill/>
          <a:ln/>
        </p:spPr>
        <p:txBody>
          <a:bodyPr wrap="square" lIns="0" tIns="0" rIns="0" bIns="0" rtlCol="0" anchor="ctr"/>
          <a:lstStyle/>
          <a:p>
            <a:pPr indent="0" marL="0">
              <a:buNone/>
            </a:pPr>
            <a:r>
              <a:rPr lang="en-US" sz="1100" b="1" dirty="0">
                <a:solidFill>
                  <a:srgbClr val="0F172A"/>
                </a:solidFill>
              </a:rPr>
              <a:t>Review &amp; Close</a:t>
            </a:r>
            <a:endParaRPr lang="en-US" sz="1100" dirty="0"/>
          </a:p>
        </p:txBody>
      </p:sp>
      <p:sp>
        <p:nvSpPr>
          <p:cNvPr id="26" name="Text 24"/>
          <p:cNvSpPr/>
          <p:nvPr/>
        </p:nvSpPr>
        <p:spPr>
          <a:xfrm>
            <a:off x="1051560" y="3675888"/>
            <a:ext cx="7589520" cy="365760"/>
          </a:xfrm>
          <a:prstGeom prst="rect">
            <a:avLst/>
          </a:prstGeom>
          <a:noFill/>
          <a:ln/>
        </p:spPr>
        <p:txBody>
          <a:bodyPr wrap="square" lIns="0" tIns="0" rIns="0" bIns="0" rtlCol="0" anchor="ctr"/>
          <a:lstStyle/>
          <a:p>
            <a:pPr indent="0" marL="0">
              <a:buNone/>
            </a:pPr>
            <a:r>
              <a:rPr lang="en-US" sz="950" dirty="0">
                <a:solidFill>
                  <a:srgbClr val="475569"/>
                </a:solidFill>
              </a:rPr>
              <a:t>Reviewer confirms action effectiveness. NCR is closed with closure notes.</a:t>
            </a:r>
            <a:endParaRPr lang="en-US" sz="950" dirty="0"/>
          </a:p>
        </p:txBody>
      </p:sp>
      <p:sp>
        <p:nvSpPr>
          <p:cNvPr id="27" name="Shape 25"/>
          <p:cNvSpPr/>
          <p:nvPr/>
        </p:nvSpPr>
        <p:spPr>
          <a:xfrm>
            <a:off x="457200" y="4178808"/>
            <a:ext cx="438912" cy="438912"/>
          </a:xfrm>
          <a:prstGeom prst="ellipse">
            <a:avLst/>
          </a:prstGeom>
          <a:solidFill>
            <a:srgbClr val="3A9B98"/>
          </a:solidFill>
          <a:ln w="12700">
            <a:solidFill>
              <a:srgbClr val="3A9B98"/>
            </a:solidFill>
            <a:prstDash val="solid"/>
          </a:ln>
        </p:spPr>
      </p:sp>
      <p:sp>
        <p:nvSpPr>
          <p:cNvPr id="28" name="Text 26"/>
          <p:cNvSpPr/>
          <p:nvPr/>
        </p:nvSpPr>
        <p:spPr>
          <a:xfrm>
            <a:off x="457200" y="41788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9" name="Text 27"/>
          <p:cNvSpPr/>
          <p:nvPr/>
        </p:nvSpPr>
        <p:spPr>
          <a:xfrm>
            <a:off x="1051560" y="4169664"/>
            <a:ext cx="3200400" cy="274320"/>
          </a:xfrm>
          <a:prstGeom prst="rect">
            <a:avLst/>
          </a:prstGeom>
          <a:noFill/>
          <a:ln/>
        </p:spPr>
        <p:txBody>
          <a:bodyPr wrap="square" lIns="0" tIns="0" rIns="0" bIns="0" rtlCol="0" anchor="ctr"/>
          <a:lstStyle/>
          <a:p>
            <a:pPr indent="0" marL="0">
              <a:buNone/>
            </a:pPr>
            <a:r>
              <a:rPr lang="en-US" sz="1100" b="1" dirty="0">
                <a:solidFill>
                  <a:srgbClr val="0F172A"/>
                </a:solidFill>
              </a:rPr>
              <a:t>Reports</a:t>
            </a:r>
            <a:endParaRPr lang="en-US" sz="1100" dirty="0"/>
          </a:p>
        </p:txBody>
      </p:sp>
      <p:sp>
        <p:nvSpPr>
          <p:cNvPr id="30" name="Text 28"/>
          <p:cNvSpPr/>
          <p:nvPr/>
        </p:nvSpPr>
        <p:spPr>
          <a:xfrm>
            <a:off x="1051560" y="4434840"/>
            <a:ext cx="7589520" cy="365760"/>
          </a:xfrm>
          <a:prstGeom prst="rect">
            <a:avLst/>
          </a:prstGeom>
          <a:noFill/>
          <a:ln/>
        </p:spPr>
        <p:txBody>
          <a:bodyPr wrap="square" lIns="0" tIns="0" rIns="0" bIns="0" rtlCol="0" anchor="ctr"/>
          <a:lstStyle/>
          <a:p>
            <a:pPr indent="0" marL="0">
              <a:buNone/>
            </a:pPr>
            <a:r>
              <a:rPr lang="en-US" sz="950" dirty="0">
                <a:solidFill>
                  <a:srgbClr val="475569"/>
                </a:solidFill>
              </a:rPr>
              <a:t>Dashboard shows open vs closed trend, NCR source breakdown, and overdue items.</a:t>
            </a:r>
            <a:endParaRPr lang="en-US" sz="950" dirty="0"/>
          </a:p>
        </p:txBody>
      </p:sp>
      <p:sp>
        <p:nvSpPr>
          <p:cNvPr id="31" name="Shape 29"/>
          <p:cNvSpPr/>
          <p:nvPr/>
        </p:nvSpPr>
        <p:spPr>
          <a:xfrm>
            <a:off x="4754880" y="1005840"/>
            <a:ext cx="3931920" cy="3200400"/>
          </a:xfrm>
          <a:prstGeom prst="rect">
            <a:avLst/>
          </a:prstGeom>
          <a:solidFill>
            <a:srgbClr val="EEF8F7"/>
          </a:solidFill>
          <a:ln w="12700">
            <a:solidFill>
              <a:srgbClr val="2F7F7D"/>
            </a:solidFill>
            <a:prstDash val="solid"/>
          </a:ln>
        </p:spPr>
      </p:sp>
      <p:sp>
        <p:nvSpPr>
          <p:cNvPr id="32" name="Text 30"/>
          <p:cNvSpPr/>
          <p:nvPr/>
        </p:nvSpPr>
        <p:spPr>
          <a:xfrm>
            <a:off x="4937760" y="1097280"/>
            <a:ext cx="3474720" cy="320040"/>
          </a:xfrm>
          <a:prstGeom prst="rect">
            <a:avLst/>
          </a:prstGeom>
          <a:noFill/>
          <a:ln/>
        </p:spPr>
        <p:txBody>
          <a:bodyPr wrap="square" lIns="0" tIns="0" rIns="0" bIns="0" rtlCol="0" anchor="ctr"/>
          <a:lstStyle/>
          <a:p>
            <a:pPr indent="0" marL="0">
              <a:buNone/>
            </a:pPr>
            <a:r>
              <a:rPr lang="en-US" sz="1100" b="1" dirty="0">
                <a:solidFill>
                  <a:srgbClr val="2F7F7D"/>
                </a:solidFill>
              </a:rPr>
              <a:t>Tabs in NCR / CAPA</a:t>
            </a:r>
            <a:endParaRPr lang="en-US" sz="1100" dirty="0"/>
          </a:p>
        </p:txBody>
      </p:sp>
      <p:sp>
        <p:nvSpPr>
          <p:cNvPr id="33" name="Text 31"/>
          <p:cNvSpPr/>
          <p:nvPr/>
        </p:nvSpPr>
        <p:spPr>
          <a:xfrm>
            <a:off x="4937760" y="1508760"/>
            <a:ext cx="3474720" cy="365760"/>
          </a:xfrm>
          <a:prstGeom prst="rect">
            <a:avLst/>
          </a:prstGeom>
          <a:noFill/>
          <a:ln/>
        </p:spPr>
        <p:txBody>
          <a:bodyPr wrap="square" lIns="0" tIns="0" rIns="0" bIns="0" rtlCol="0" anchor="ctr"/>
          <a:lstStyle/>
          <a:p>
            <a:pPr indent="0" marL="0">
              <a:buNone/>
            </a:pPr>
            <a:r>
              <a:rPr lang="en-US" sz="1000" dirty="0">
                <a:solidFill>
                  <a:srgbClr val="0F172A"/>
                </a:solidFill>
              </a:rPr>
              <a:t>→  Dashboard</a:t>
            </a:r>
            <a:endParaRPr lang="en-US" sz="1000" dirty="0"/>
          </a:p>
        </p:txBody>
      </p:sp>
      <p:sp>
        <p:nvSpPr>
          <p:cNvPr id="34" name="Text 32"/>
          <p:cNvSpPr/>
          <p:nvPr/>
        </p:nvSpPr>
        <p:spPr>
          <a:xfrm>
            <a:off x="4937760" y="1965960"/>
            <a:ext cx="3474720" cy="365760"/>
          </a:xfrm>
          <a:prstGeom prst="rect">
            <a:avLst/>
          </a:prstGeom>
          <a:noFill/>
          <a:ln/>
        </p:spPr>
        <p:txBody>
          <a:bodyPr wrap="square" lIns="0" tIns="0" rIns="0" bIns="0" rtlCol="0" anchor="ctr"/>
          <a:lstStyle/>
          <a:p>
            <a:pPr indent="0" marL="0">
              <a:buNone/>
            </a:pPr>
            <a:r>
              <a:rPr lang="en-US" sz="1000" dirty="0">
                <a:solidFill>
                  <a:srgbClr val="0F172A"/>
                </a:solidFill>
              </a:rPr>
              <a:t>→  NCR Register</a:t>
            </a:r>
            <a:endParaRPr lang="en-US" sz="1000" dirty="0"/>
          </a:p>
        </p:txBody>
      </p:sp>
      <p:sp>
        <p:nvSpPr>
          <p:cNvPr id="35" name="Text 33"/>
          <p:cNvSpPr/>
          <p:nvPr/>
        </p:nvSpPr>
        <p:spPr>
          <a:xfrm>
            <a:off x="4937760" y="2423160"/>
            <a:ext cx="3474720" cy="365760"/>
          </a:xfrm>
          <a:prstGeom prst="rect">
            <a:avLst/>
          </a:prstGeom>
          <a:noFill/>
          <a:ln/>
        </p:spPr>
        <p:txBody>
          <a:bodyPr wrap="square" lIns="0" tIns="0" rIns="0" bIns="0" rtlCol="0" anchor="ctr"/>
          <a:lstStyle/>
          <a:p>
            <a:pPr indent="0" marL="0">
              <a:buNone/>
            </a:pPr>
            <a:r>
              <a:rPr lang="en-US" sz="1000" dirty="0">
                <a:solidFill>
                  <a:srgbClr val="0F172A"/>
                </a:solidFill>
              </a:rPr>
              <a:t>→  Create NCR</a:t>
            </a:r>
            <a:endParaRPr lang="en-US" sz="1000" dirty="0"/>
          </a:p>
        </p:txBody>
      </p:sp>
      <p:sp>
        <p:nvSpPr>
          <p:cNvPr id="36" name="Text 34"/>
          <p:cNvSpPr/>
          <p:nvPr/>
        </p:nvSpPr>
        <p:spPr>
          <a:xfrm>
            <a:off x="4937760" y="2880360"/>
            <a:ext cx="3474720" cy="365760"/>
          </a:xfrm>
          <a:prstGeom prst="rect">
            <a:avLst/>
          </a:prstGeom>
          <a:noFill/>
          <a:ln/>
        </p:spPr>
        <p:txBody>
          <a:bodyPr wrap="square" lIns="0" tIns="0" rIns="0" bIns="0" rtlCol="0" anchor="ctr"/>
          <a:lstStyle/>
          <a:p>
            <a:pPr indent="0" marL="0">
              <a:buNone/>
            </a:pPr>
            <a:r>
              <a:rPr lang="en-US" sz="1000" dirty="0">
                <a:solidFill>
                  <a:srgbClr val="0F172A"/>
                </a:solidFill>
              </a:rPr>
              <a:t>→  Import</a:t>
            </a:r>
            <a:endParaRPr lang="en-US" sz="1000" dirty="0"/>
          </a:p>
        </p:txBody>
      </p:sp>
      <p:sp>
        <p:nvSpPr>
          <p:cNvPr id="37" name="Text 35"/>
          <p:cNvSpPr/>
          <p:nvPr/>
        </p:nvSpPr>
        <p:spPr>
          <a:xfrm>
            <a:off x="4937760" y="3337560"/>
            <a:ext cx="3474720" cy="365760"/>
          </a:xfrm>
          <a:prstGeom prst="rect">
            <a:avLst/>
          </a:prstGeom>
          <a:noFill/>
          <a:ln/>
        </p:spPr>
        <p:txBody>
          <a:bodyPr wrap="square" lIns="0" tIns="0" rIns="0" bIns="0" rtlCol="0" anchor="ctr"/>
          <a:lstStyle/>
          <a:p>
            <a:pPr indent="0" marL="0">
              <a:buNone/>
            </a:pPr>
            <a:r>
              <a:rPr lang="en-US" sz="1000" dirty="0">
                <a:solidFill>
                  <a:srgbClr val="0F172A"/>
                </a:solidFill>
              </a:rPr>
              <a:t>→  Reports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Quality Management · Management of Change</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6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Management of Change (MOC)</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Control and track all changes to systems, processes, and equipment</a:t>
            </a:r>
            <a:endParaRPr lang="en-US" sz="1200" dirty="0"/>
          </a:p>
        </p:txBody>
      </p:sp>
      <p:sp>
        <p:nvSpPr>
          <p:cNvPr id="8" name="Shape 6"/>
          <p:cNvSpPr/>
          <p:nvPr/>
        </p:nvSpPr>
        <p:spPr>
          <a:xfrm>
            <a:off x="457200" y="1371600"/>
            <a:ext cx="4023360" cy="13716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4023360" cy="45720"/>
          </a:xfrm>
          <a:prstGeom prst="rect">
            <a:avLst/>
          </a:prstGeom>
          <a:solidFill>
            <a:srgbClr val="3A9B98"/>
          </a:solidFill>
          <a:ln w="12700">
            <a:solidFill>
              <a:srgbClr val="3A9B98"/>
            </a:solidFill>
            <a:prstDash val="solid"/>
          </a:ln>
        </p:spPr>
      </p:sp>
      <p:sp>
        <p:nvSpPr>
          <p:cNvPr id="10" name="Text 8"/>
          <p:cNvSpPr/>
          <p:nvPr/>
        </p:nvSpPr>
        <p:spPr>
          <a:xfrm>
            <a:off x="621792" y="146304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Raising a Change</a:t>
            </a:r>
            <a:endParaRPr lang="en-US" sz="1100" dirty="0"/>
          </a:p>
        </p:txBody>
      </p:sp>
      <p:sp>
        <p:nvSpPr>
          <p:cNvPr id="11" name="Text 9"/>
          <p:cNvSpPr/>
          <p:nvPr/>
        </p:nvSpPr>
        <p:spPr>
          <a:xfrm>
            <a:off x="621792" y="1828800"/>
            <a:ext cx="3694176" cy="777240"/>
          </a:xfrm>
          <a:prstGeom prst="rect">
            <a:avLst/>
          </a:prstGeom>
          <a:noFill/>
          <a:ln/>
        </p:spPr>
        <p:txBody>
          <a:bodyPr wrap="square" lIns="0" tIns="0" rIns="0" bIns="0" rtlCol="0" anchor="t"/>
          <a:lstStyle/>
          <a:p>
            <a:pPr indent="0" marL="0">
              <a:buNone/>
            </a:pPr>
            <a:r>
              <a:rPr lang="en-US" sz="950" dirty="0">
                <a:solidFill>
                  <a:srgbClr val="475569"/>
                </a:solidFill>
              </a:rPr>
              <a:t>Navigate to MOC and click Create MOC. Enter the change title, description, change type, department, and risk level. Assign an owner and set a target completion date.</a:t>
            </a:r>
            <a:endParaRPr lang="en-US" sz="950" dirty="0"/>
          </a:p>
        </p:txBody>
      </p:sp>
      <p:sp>
        <p:nvSpPr>
          <p:cNvPr id="12" name="Shape 10"/>
          <p:cNvSpPr/>
          <p:nvPr/>
        </p:nvSpPr>
        <p:spPr>
          <a:xfrm>
            <a:off x="4663440" y="1371600"/>
            <a:ext cx="4023360" cy="13716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4663440" y="1371600"/>
            <a:ext cx="4023360" cy="45720"/>
          </a:xfrm>
          <a:prstGeom prst="rect">
            <a:avLst/>
          </a:prstGeom>
          <a:solidFill>
            <a:srgbClr val="3A9B98"/>
          </a:solidFill>
          <a:ln w="12700">
            <a:solidFill>
              <a:srgbClr val="3A9B98"/>
            </a:solidFill>
            <a:prstDash val="solid"/>
          </a:ln>
        </p:spPr>
      </p:sp>
      <p:sp>
        <p:nvSpPr>
          <p:cNvPr id="14" name="Text 12"/>
          <p:cNvSpPr/>
          <p:nvPr/>
        </p:nvSpPr>
        <p:spPr>
          <a:xfrm>
            <a:off x="4828032" y="146304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Impact Assessment</a:t>
            </a:r>
            <a:endParaRPr lang="en-US" sz="1100" dirty="0"/>
          </a:p>
        </p:txBody>
      </p:sp>
      <p:sp>
        <p:nvSpPr>
          <p:cNvPr id="15" name="Text 13"/>
          <p:cNvSpPr/>
          <p:nvPr/>
        </p:nvSpPr>
        <p:spPr>
          <a:xfrm>
            <a:off x="4828032" y="1828800"/>
            <a:ext cx="3694176" cy="777240"/>
          </a:xfrm>
          <a:prstGeom prst="rect">
            <a:avLst/>
          </a:prstGeom>
          <a:noFill/>
          <a:ln/>
        </p:spPr>
        <p:txBody>
          <a:bodyPr wrap="square" lIns="0" tIns="0" rIns="0" bIns="0" rtlCol="0" anchor="t"/>
          <a:lstStyle/>
          <a:p>
            <a:pPr indent="0" marL="0">
              <a:buNone/>
            </a:pPr>
            <a:r>
              <a:rPr lang="en-US" sz="950" dirty="0">
                <a:solidFill>
                  <a:srgbClr val="475569"/>
                </a:solidFill>
              </a:rPr>
              <a:t>Complete the impact assessment fields — identify affected systems, documents, people, and training requirements. This ensures downstream impacts are captured before approval.</a:t>
            </a:r>
            <a:endParaRPr lang="en-US" sz="950" dirty="0"/>
          </a:p>
        </p:txBody>
      </p:sp>
      <p:sp>
        <p:nvSpPr>
          <p:cNvPr id="16" name="Shape 14"/>
          <p:cNvSpPr/>
          <p:nvPr/>
        </p:nvSpPr>
        <p:spPr>
          <a:xfrm>
            <a:off x="457200" y="2926080"/>
            <a:ext cx="4023360" cy="13716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57200" y="2926080"/>
            <a:ext cx="4023360" cy="45720"/>
          </a:xfrm>
          <a:prstGeom prst="rect">
            <a:avLst/>
          </a:prstGeom>
          <a:solidFill>
            <a:srgbClr val="3A9B98"/>
          </a:solidFill>
          <a:ln w="12700">
            <a:solidFill>
              <a:srgbClr val="3A9B98"/>
            </a:solidFill>
            <a:prstDash val="solid"/>
          </a:ln>
        </p:spPr>
      </p:sp>
      <p:sp>
        <p:nvSpPr>
          <p:cNvPr id="18" name="Text 16"/>
          <p:cNvSpPr/>
          <p:nvPr/>
        </p:nvSpPr>
        <p:spPr>
          <a:xfrm>
            <a:off x="621792" y="301752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Approval &amp; Closure</a:t>
            </a:r>
            <a:endParaRPr lang="en-US" sz="1100" dirty="0"/>
          </a:p>
        </p:txBody>
      </p:sp>
      <p:sp>
        <p:nvSpPr>
          <p:cNvPr id="19" name="Text 17"/>
          <p:cNvSpPr/>
          <p:nvPr/>
        </p:nvSpPr>
        <p:spPr>
          <a:xfrm>
            <a:off x="621792" y="3383280"/>
            <a:ext cx="3694176" cy="777240"/>
          </a:xfrm>
          <a:prstGeom prst="rect">
            <a:avLst/>
          </a:prstGeom>
          <a:noFill/>
          <a:ln/>
        </p:spPr>
        <p:txBody>
          <a:bodyPr wrap="square" lIns="0" tIns="0" rIns="0" bIns="0" rtlCol="0" anchor="t"/>
          <a:lstStyle/>
          <a:p>
            <a:pPr indent="0" marL="0">
              <a:buNone/>
            </a:pPr>
            <a:r>
              <a:rPr lang="en-US" sz="950" dirty="0">
                <a:solidFill>
                  <a:srgbClr val="475569"/>
                </a:solidFill>
              </a:rPr>
              <a:t>MOC routes for review and approval. Once approved and implemented, the change is closed with implementation evidence. The status banner shows current stage at all times.</a:t>
            </a:r>
            <a:endParaRPr lang="en-US" sz="950" dirty="0"/>
          </a:p>
        </p:txBody>
      </p:sp>
      <p:sp>
        <p:nvSpPr>
          <p:cNvPr id="20" name="Shape 18"/>
          <p:cNvSpPr/>
          <p:nvPr/>
        </p:nvSpPr>
        <p:spPr>
          <a:xfrm>
            <a:off x="4663440" y="2926080"/>
            <a:ext cx="4023360" cy="137160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663440" y="2926080"/>
            <a:ext cx="4023360" cy="45720"/>
          </a:xfrm>
          <a:prstGeom prst="rect">
            <a:avLst/>
          </a:prstGeom>
          <a:solidFill>
            <a:srgbClr val="3A9B98"/>
          </a:solidFill>
          <a:ln w="12700">
            <a:solidFill>
              <a:srgbClr val="3A9B98"/>
            </a:solidFill>
            <a:prstDash val="solid"/>
          </a:ln>
        </p:spPr>
      </p:sp>
      <p:sp>
        <p:nvSpPr>
          <p:cNvPr id="22" name="Text 20"/>
          <p:cNvSpPr/>
          <p:nvPr/>
        </p:nvSpPr>
        <p:spPr>
          <a:xfrm>
            <a:off x="4828032" y="301752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MOC Register &amp; Reports</a:t>
            </a:r>
            <a:endParaRPr lang="en-US" sz="1100" dirty="0"/>
          </a:p>
        </p:txBody>
      </p:sp>
      <p:sp>
        <p:nvSpPr>
          <p:cNvPr id="23" name="Text 21"/>
          <p:cNvSpPr/>
          <p:nvPr/>
        </p:nvSpPr>
        <p:spPr>
          <a:xfrm>
            <a:off x="4828032" y="3383280"/>
            <a:ext cx="3694176" cy="777240"/>
          </a:xfrm>
          <a:prstGeom prst="rect">
            <a:avLst/>
          </a:prstGeom>
          <a:noFill/>
          <a:ln/>
        </p:spPr>
        <p:txBody>
          <a:bodyPr wrap="square" lIns="0" tIns="0" rIns="0" bIns="0" rtlCol="0" anchor="t"/>
          <a:lstStyle/>
          <a:p>
            <a:pPr indent="0" marL="0">
              <a:buNone/>
            </a:pPr>
            <a:r>
              <a:rPr lang="en-US" sz="950" dirty="0">
                <a:solidFill>
                  <a:srgbClr val="475569"/>
                </a:solidFill>
              </a:rPr>
              <a:t>The MOC register shows all changes with status, owner, and dates. Filter by type, department, or status. Reports track open changes, overdue items, and closure trends.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Document Control</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7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Document Control</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Controlled documents, certification, reviews, approvals, and revision history</a:t>
            </a:r>
            <a:endParaRPr lang="en-US" sz="1200" dirty="0"/>
          </a:p>
        </p:txBody>
      </p:sp>
      <p:sp>
        <p:nvSpPr>
          <p:cNvPr id="8" name="Shape 6"/>
          <p:cNvSpPr/>
          <p:nvPr/>
        </p:nvSpPr>
        <p:spPr>
          <a:xfrm>
            <a:off x="457200" y="137160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2724912" cy="45720"/>
          </a:xfrm>
          <a:prstGeom prst="rect">
            <a:avLst/>
          </a:prstGeom>
          <a:solidFill>
            <a:srgbClr val="3A9B98"/>
          </a:solidFill>
          <a:ln w="12700">
            <a:solidFill>
              <a:srgbClr val="3A9B98"/>
            </a:solidFill>
            <a:prstDash val="solid"/>
          </a:ln>
        </p:spPr>
      </p:sp>
      <p:sp>
        <p:nvSpPr>
          <p:cNvPr id="10" name="Text 8"/>
          <p:cNvSpPr/>
          <p:nvPr/>
        </p:nvSpPr>
        <p:spPr>
          <a:xfrm>
            <a:off x="621792" y="146304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Dashboard</a:t>
            </a:r>
            <a:endParaRPr lang="en-US" sz="1100" dirty="0"/>
          </a:p>
        </p:txBody>
      </p:sp>
      <p:sp>
        <p:nvSpPr>
          <p:cNvPr id="11" name="Text 9"/>
          <p:cNvSpPr/>
          <p:nvPr/>
        </p:nvSpPr>
        <p:spPr>
          <a:xfrm>
            <a:off x="621792" y="1828800"/>
            <a:ext cx="2395728" cy="1051560"/>
          </a:xfrm>
          <a:prstGeom prst="rect">
            <a:avLst/>
          </a:prstGeom>
          <a:noFill/>
          <a:ln/>
        </p:spPr>
        <p:txBody>
          <a:bodyPr wrap="square" lIns="0" tIns="0" rIns="0" bIns="0" rtlCol="0" anchor="t"/>
          <a:lstStyle/>
          <a:p>
            <a:pPr indent="0" marL="0">
              <a:buNone/>
            </a:pPr>
            <a:r>
              <a:rPr lang="en-US" sz="950" dirty="0">
                <a:solidFill>
                  <a:srgbClr val="475569"/>
                </a:solidFill>
              </a:rPr>
              <a:t>KPI overview — total documents, Live vs Draft counts, overdue reviews, recent activity, and upcoming review calendar.</a:t>
            </a:r>
            <a:endParaRPr lang="en-US" sz="950" dirty="0"/>
          </a:p>
        </p:txBody>
      </p:sp>
      <p:sp>
        <p:nvSpPr>
          <p:cNvPr id="12" name="Shape 10"/>
          <p:cNvSpPr/>
          <p:nvPr/>
        </p:nvSpPr>
        <p:spPr>
          <a:xfrm>
            <a:off x="3310128" y="137160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3310128" y="1371600"/>
            <a:ext cx="2724912" cy="45720"/>
          </a:xfrm>
          <a:prstGeom prst="rect">
            <a:avLst/>
          </a:prstGeom>
          <a:solidFill>
            <a:srgbClr val="3A9B98"/>
          </a:solidFill>
          <a:ln w="12700">
            <a:solidFill>
              <a:srgbClr val="3A9B98"/>
            </a:solidFill>
            <a:prstDash val="solid"/>
          </a:ln>
        </p:spPr>
      </p:sp>
      <p:sp>
        <p:nvSpPr>
          <p:cNvPr id="14" name="Text 12"/>
          <p:cNvSpPr/>
          <p:nvPr/>
        </p:nvSpPr>
        <p:spPr>
          <a:xfrm>
            <a:off x="3474720" y="146304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Document Register</a:t>
            </a:r>
            <a:endParaRPr lang="en-US" sz="1100" dirty="0"/>
          </a:p>
        </p:txBody>
      </p:sp>
      <p:sp>
        <p:nvSpPr>
          <p:cNvPr id="15" name="Text 13"/>
          <p:cNvSpPr/>
          <p:nvPr/>
        </p:nvSpPr>
        <p:spPr>
          <a:xfrm>
            <a:off x="3474720" y="1828800"/>
            <a:ext cx="2395728" cy="1051560"/>
          </a:xfrm>
          <a:prstGeom prst="rect">
            <a:avLst/>
          </a:prstGeom>
          <a:noFill/>
          <a:ln/>
        </p:spPr>
        <p:txBody>
          <a:bodyPr wrap="square" lIns="0" tIns="0" rIns="0" bIns="0" rtlCol="0" anchor="t"/>
          <a:lstStyle/>
          <a:p>
            <a:pPr indent="0" marL="0">
              <a:buNone/>
            </a:pPr>
            <a:r>
              <a:rPr lang="en-US" sz="950" dirty="0">
                <a:solidFill>
                  <a:srgbClr val="475569"/>
                </a:solidFill>
              </a:rPr>
              <a:t>Searchable and filterable full register of all controlled documents. Click any row to open the detail panel. Filter by type, department, status, or review date.</a:t>
            </a:r>
            <a:endParaRPr lang="en-US" sz="950" dirty="0"/>
          </a:p>
        </p:txBody>
      </p:sp>
      <p:sp>
        <p:nvSpPr>
          <p:cNvPr id="16" name="Shape 14"/>
          <p:cNvSpPr/>
          <p:nvPr/>
        </p:nvSpPr>
        <p:spPr>
          <a:xfrm>
            <a:off x="6163056" y="137160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6163056" y="1371600"/>
            <a:ext cx="2724912" cy="45720"/>
          </a:xfrm>
          <a:prstGeom prst="rect">
            <a:avLst/>
          </a:prstGeom>
          <a:solidFill>
            <a:srgbClr val="3A9B98"/>
          </a:solidFill>
          <a:ln w="12700">
            <a:solidFill>
              <a:srgbClr val="3A9B98"/>
            </a:solidFill>
            <a:prstDash val="solid"/>
          </a:ln>
        </p:spPr>
      </p:sp>
      <p:sp>
        <p:nvSpPr>
          <p:cNvPr id="18" name="Text 16"/>
          <p:cNvSpPr/>
          <p:nvPr/>
        </p:nvSpPr>
        <p:spPr>
          <a:xfrm>
            <a:off x="6327648" y="146304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Create New Document</a:t>
            </a:r>
            <a:endParaRPr lang="en-US" sz="1100" dirty="0"/>
          </a:p>
        </p:txBody>
      </p:sp>
      <p:sp>
        <p:nvSpPr>
          <p:cNvPr id="19" name="Text 17"/>
          <p:cNvSpPr/>
          <p:nvPr/>
        </p:nvSpPr>
        <p:spPr>
          <a:xfrm>
            <a:off x="6327648" y="1828800"/>
            <a:ext cx="2395728" cy="1051560"/>
          </a:xfrm>
          <a:prstGeom prst="rect">
            <a:avLst/>
          </a:prstGeom>
          <a:noFill/>
          <a:ln/>
        </p:spPr>
        <p:txBody>
          <a:bodyPr wrap="square" lIns="0" tIns="0" rIns="0" bIns="0" rtlCol="0" anchor="t"/>
          <a:lstStyle/>
          <a:p>
            <a:pPr indent="0" marL="0">
              <a:buNone/>
            </a:pPr>
            <a:r>
              <a:rPr lang="en-US" sz="950" dirty="0">
                <a:solidFill>
                  <a:srgbClr val="475569"/>
                </a:solidFill>
              </a:rPr>
              <a:t>Fill in Document Details, Review Settings, Originator and Notes. Document number is auto-generated. Click 'Create Draft Document →' to save.</a:t>
            </a:r>
            <a:endParaRPr lang="en-US" sz="950" dirty="0"/>
          </a:p>
        </p:txBody>
      </p:sp>
      <p:sp>
        <p:nvSpPr>
          <p:cNvPr id="20" name="Shape 18"/>
          <p:cNvSpPr/>
          <p:nvPr/>
        </p:nvSpPr>
        <p:spPr>
          <a:xfrm>
            <a:off x="457200" y="315468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57200" y="3154680"/>
            <a:ext cx="2724912" cy="45720"/>
          </a:xfrm>
          <a:prstGeom prst="rect">
            <a:avLst/>
          </a:prstGeom>
          <a:solidFill>
            <a:srgbClr val="3A9B98"/>
          </a:solidFill>
          <a:ln w="12700">
            <a:solidFill>
              <a:srgbClr val="3A9B98"/>
            </a:solidFill>
            <a:prstDash val="solid"/>
          </a:ln>
        </p:spPr>
      </p:sp>
      <p:sp>
        <p:nvSpPr>
          <p:cNvPr id="22" name="Text 20"/>
          <p:cNvSpPr/>
          <p:nvPr/>
        </p:nvSpPr>
        <p:spPr>
          <a:xfrm>
            <a:off x="621792"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Workflow</a:t>
            </a:r>
            <a:endParaRPr lang="en-US" sz="1100" dirty="0"/>
          </a:p>
        </p:txBody>
      </p:sp>
      <p:sp>
        <p:nvSpPr>
          <p:cNvPr id="23" name="Text 21"/>
          <p:cNvSpPr/>
          <p:nvPr/>
        </p:nvSpPr>
        <p:spPr>
          <a:xfrm>
            <a:off x="621792" y="3611880"/>
            <a:ext cx="2395728" cy="1051560"/>
          </a:xfrm>
          <a:prstGeom prst="rect">
            <a:avLst/>
          </a:prstGeom>
          <a:noFill/>
          <a:ln/>
        </p:spPr>
        <p:txBody>
          <a:bodyPr wrap="square" lIns="0" tIns="0" rIns="0" bIns="0" rtlCol="0" anchor="t"/>
          <a:lstStyle/>
          <a:p>
            <a:pPr indent="0" marL="0">
              <a:buNone/>
            </a:pPr>
            <a:r>
              <a:rPr lang="en-US" sz="950" dirty="0">
                <a:solidFill>
                  <a:srgbClr val="475569"/>
                </a:solidFill>
              </a:rPr>
              <a:t>Review Queue and Approval Queue in one place. Reviewers and approvers act on documents assigned to them. Status tracks through Draft → Review → Approval → Live.</a:t>
            </a:r>
            <a:endParaRPr lang="en-US" sz="950" dirty="0"/>
          </a:p>
        </p:txBody>
      </p:sp>
      <p:sp>
        <p:nvSpPr>
          <p:cNvPr id="24" name="Shape 22"/>
          <p:cNvSpPr/>
          <p:nvPr/>
        </p:nvSpPr>
        <p:spPr>
          <a:xfrm>
            <a:off x="3310128" y="315468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3310128" y="3154680"/>
            <a:ext cx="2724912" cy="45720"/>
          </a:xfrm>
          <a:prstGeom prst="rect">
            <a:avLst/>
          </a:prstGeom>
          <a:solidFill>
            <a:srgbClr val="3A9B98"/>
          </a:solidFill>
          <a:ln w="12700">
            <a:solidFill>
              <a:srgbClr val="3A9B98"/>
            </a:solidFill>
            <a:prstDash val="solid"/>
          </a:ln>
        </p:spPr>
      </p:sp>
      <p:sp>
        <p:nvSpPr>
          <p:cNvPr id="26" name="Text 24"/>
          <p:cNvSpPr/>
          <p:nvPr/>
        </p:nvSpPr>
        <p:spPr>
          <a:xfrm>
            <a:off x="3474720"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Archive</a:t>
            </a:r>
            <a:endParaRPr lang="en-US" sz="1100" dirty="0"/>
          </a:p>
        </p:txBody>
      </p:sp>
      <p:sp>
        <p:nvSpPr>
          <p:cNvPr id="27" name="Text 25"/>
          <p:cNvSpPr/>
          <p:nvPr/>
        </p:nvSpPr>
        <p:spPr>
          <a:xfrm>
            <a:off x="3474720" y="3611880"/>
            <a:ext cx="2395728" cy="1051560"/>
          </a:xfrm>
          <a:prstGeom prst="rect">
            <a:avLst/>
          </a:prstGeom>
          <a:noFill/>
          <a:ln/>
        </p:spPr>
        <p:txBody>
          <a:bodyPr wrap="square" lIns="0" tIns="0" rIns="0" bIns="0" rtlCol="0" anchor="t"/>
          <a:lstStyle/>
          <a:p>
            <a:pPr indent="0" marL="0">
              <a:buNone/>
            </a:pPr>
            <a:r>
              <a:rPr lang="en-US" sz="950" dirty="0">
                <a:solidFill>
                  <a:srgbClr val="475569"/>
                </a:solidFill>
              </a:rPr>
              <a:t>Superseded and archived documents. Documents moved here remain accessible for reference but are no longer considered Live.</a:t>
            </a:r>
            <a:endParaRPr lang="en-US" sz="950" dirty="0"/>
          </a:p>
        </p:txBody>
      </p:sp>
      <p:sp>
        <p:nvSpPr>
          <p:cNvPr id="28" name="Shape 26"/>
          <p:cNvSpPr/>
          <p:nvPr/>
        </p:nvSpPr>
        <p:spPr>
          <a:xfrm>
            <a:off x="6163056" y="315468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6163056" y="3154680"/>
            <a:ext cx="2724912" cy="45720"/>
          </a:xfrm>
          <a:prstGeom prst="rect">
            <a:avLst/>
          </a:prstGeom>
          <a:solidFill>
            <a:srgbClr val="3A9B98"/>
          </a:solidFill>
          <a:ln w="12700">
            <a:solidFill>
              <a:srgbClr val="3A9B98"/>
            </a:solidFill>
            <a:prstDash val="solid"/>
          </a:ln>
        </p:spPr>
      </p:sp>
      <p:sp>
        <p:nvSpPr>
          <p:cNvPr id="30" name="Text 28"/>
          <p:cNvSpPr/>
          <p:nvPr/>
        </p:nvSpPr>
        <p:spPr>
          <a:xfrm>
            <a:off x="6327648"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Reports</a:t>
            </a:r>
            <a:endParaRPr lang="en-US" sz="1100" dirty="0"/>
          </a:p>
        </p:txBody>
      </p:sp>
      <p:sp>
        <p:nvSpPr>
          <p:cNvPr id="31" name="Text 29"/>
          <p:cNvSpPr/>
          <p:nvPr/>
        </p:nvSpPr>
        <p:spPr>
          <a:xfrm>
            <a:off x="6327648" y="3611880"/>
            <a:ext cx="2395728" cy="1051560"/>
          </a:xfrm>
          <a:prstGeom prst="rect">
            <a:avLst/>
          </a:prstGeom>
          <a:noFill/>
          <a:ln/>
        </p:spPr>
        <p:txBody>
          <a:bodyPr wrap="square" lIns="0" tIns="0" rIns="0" bIns="0" rtlCol="0" anchor="t"/>
          <a:lstStyle/>
          <a:p>
            <a:pPr indent="0" marL="0">
              <a:buNone/>
            </a:pPr>
            <a:r>
              <a:rPr lang="en-US" sz="950" dirty="0">
                <a:solidFill>
                  <a:srgbClr val="475569"/>
                </a:solidFill>
              </a:rPr>
              <a:t>Document performance reporting — review cycle compliance, overdue documents, document type distribution, and department coverage.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Document Control · Workflow</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8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Document Lifecycle</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How a document moves from creation to Live status</a:t>
            </a:r>
            <a:endParaRPr lang="en-US" sz="1200" dirty="0"/>
          </a:p>
        </p:txBody>
      </p:sp>
      <p:sp>
        <p:nvSpPr>
          <p:cNvPr id="8" name="Shape 6"/>
          <p:cNvSpPr/>
          <p:nvPr/>
        </p:nvSpPr>
        <p:spPr>
          <a:xfrm>
            <a:off x="457200" y="1417320"/>
            <a:ext cx="1508760" cy="594360"/>
          </a:xfrm>
          <a:prstGeom prst="rect">
            <a:avLst/>
          </a:prstGeom>
          <a:solidFill>
            <a:srgbClr val="64748B"/>
          </a:solidFill>
          <a:ln w="12700">
            <a:solidFill>
              <a:srgbClr val="64748B"/>
            </a:solidFill>
            <a:prstDash val="solid"/>
          </a:ln>
        </p:spPr>
      </p:sp>
      <p:sp>
        <p:nvSpPr>
          <p:cNvPr id="9" name="Text 7"/>
          <p:cNvSpPr/>
          <p:nvPr/>
        </p:nvSpPr>
        <p:spPr>
          <a:xfrm>
            <a:off x="457200" y="1417320"/>
            <a:ext cx="1508760" cy="594360"/>
          </a:xfrm>
          <a:prstGeom prst="rect">
            <a:avLst/>
          </a:prstGeom>
          <a:noFill/>
          <a:ln/>
        </p:spPr>
        <p:txBody>
          <a:bodyPr wrap="square" lIns="0" tIns="0" rIns="0" bIns="0" rtlCol="0" anchor="ctr"/>
          <a:lstStyle/>
          <a:p>
            <a:pPr algn="ctr" indent="0" marL="0">
              <a:buNone/>
            </a:pPr>
            <a:r>
              <a:rPr lang="en-US" sz="1100" b="1" dirty="0">
                <a:solidFill>
                  <a:srgbClr val="FFFFFF"/>
                </a:solidFill>
              </a:rPr>
              <a:t>Draft</a:t>
            </a:r>
            <a:endParaRPr lang="en-US" sz="1100" dirty="0"/>
          </a:p>
        </p:txBody>
      </p:sp>
      <p:sp>
        <p:nvSpPr>
          <p:cNvPr id="10" name="Shape 8"/>
          <p:cNvSpPr/>
          <p:nvPr/>
        </p:nvSpPr>
        <p:spPr>
          <a:xfrm>
            <a:off x="1965960" y="1627632"/>
            <a:ext cx="182880" cy="164592"/>
          </a:xfrm>
          <a:prstGeom prst="rect">
            <a:avLst/>
          </a:prstGeom>
          <a:solidFill>
            <a:srgbClr val="DBE3EF"/>
          </a:solidFill>
          <a:ln w="12700">
            <a:solidFill>
              <a:srgbClr val="DBE3EF"/>
            </a:solidFill>
            <a:prstDash val="solid"/>
          </a:ln>
        </p:spPr>
      </p:sp>
      <p:sp>
        <p:nvSpPr>
          <p:cNvPr id="11" name="Text 9"/>
          <p:cNvSpPr/>
          <p:nvPr/>
        </p:nvSpPr>
        <p:spPr>
          <a:xfrm>
            <a:off x="457200" y="2148840"/>
            <a:ext cx="1508760" cy="2560320"/>
          </a:xfrm>
          <a:prstGeom prst="rect">
            <a:avLst/>
          </a:prstGeom>
          <a:noFill/>
          <a:ln/>
        </p:spPr>
        <p:txBody>
          <a:bodyPr wrap="square" lIns="0" tIns="0" rIns="0" bIns="0" rtlCol="0" anchor="t"/>
          <a:lstStyle/>
          <a:p>
            <a:pPr algn="l" indent="0" marL="0">
              <a:buNone/>
            </a:pPr>
            <a:r>
              <a:rPr lang="en-US" sz="900" dirty="0">
                <a:solidFill>
                  <a:srgbClr val="475569"/>
                </a:solidFill>
              </a:rPr>
              <a:t>Document created. Originator fills in details. File can be uploaded via Document Register.</a:t>
            </a:r>
            <a:endParaRPr lang="en-US" sz="900" dirty="0"/>
          </a:p>
        </p:txBody>
      </p:sp>
      <p:sp>
        <p:nvSpPr>
          <p:cNvPr id="12" name="Shape 10"/>
          <p:cNvSpPr/>
          <p:nvPr/>
        </p:nvSpPr>
        <p:spPr>
          <a:xfrm>
            <a:off x="2148840" y="1417320"/>
            <a:ext cx="1508760" cy="594360"/>
          </a:xfrm>
          <a:prstGeom prst="rect">
            <a:avLst/>
          </a:prstGeom>
          <a:solidFill>
            <a:srgbClr val="2563EB"/>
          </a:solidFill>
          <a:ln w="12700">
            <a:solidFill>
              <a:srgbClr val="2563EB"/>
            </a:solidFill>
            <a:prstDash val="solid"/>
          </a:ln>
        </p:spPr>
      </p:sp>
      <p:sp>
        <p:nvSpPr>
          <p:cNvPr id="13" name="Text 11"/>
          <p:cNvSpPr/>
          <p:nvPr/>
        </p:nvSpPr>
        <p:spPr>
          <a:xfrm>
            <a:off x="2148840" y="1417320"/>
            <a:ext cx="1508760" cy="594360"/>
          </a:xfrm>
          <a:prstGeom prst="rect">
            <a:avLst/>
          </a:prstGeom>
          <a:noFill/>
          <a:ln/>
        </p:spPr>
        <p:txBody>
          <a:bodyPr wrap="square" lIns="0" tIns="0" rIns="0" bIns="0" rtlCol="0" anchor="ctr"/>
          <a:lstStyle/>
          <a:p>
            <a:pPr algn="ctr" indent="0" marL="0">
              <a:buNone/>
            </a:pPr>
            <a:r>
              <a:rPr lang="en-US" sz="1100" b="1" dirty="0">
                <a:solidFill>
                  <a:srgbClr val="FFFFFF"/>
                </a:solidFill>
              </a:rPr>
              <a:t>In Review</a:t>
            </a:r>
            <a:endParaRPr lang="en-US" sz="1100" dirty="0"/>
          </a:p>
        </p:txBody>
      </p:sp>
      <p:sp>
        <p:nvSpPr>
          <p:cNvPr id="14" name="Shape 12"/>
          <p:cNvSpPr/>
          <p:nvPr/>
        </p:nvSpPr>
        <p:spPr>
          <a:xfrm>
            <a:off x="3657600" y="1627632"/>
            <a:ext cx="182880" cy="164592"/>
          </a:xfrm>
          <a:prstGeom prst="rect">
            <a:avLst/>
          </a:prstGeom>
          <a:solidFill>
            <a:srgbClr val="DBE3EF"/>
          </a:solidFill>
          <a:ln w="12700">
            <a:solidFill>
              <a:srgbClr val="DBE3EF"/>
            </a:solidFill>
            <a:prstDash val="solid"/>
          </a:ln>
        </p:spPr>
      </p:sp>
      <p:sp>
        <p:nvSpPr>
          <p:cNvPr id="15" name="Text 13"/>
          <p:cNvSpPr/>
          <p:nvPr/>
        </p:nvSpPr>
        <p:spPr>
          <a:xfrm>
            <a:off x="2148840" y="2148840"/>
            <a:ext cx="1508760" cy="2560320"/>
          </a:xfrm>
          <a:prstGeom prst="rect">
            <a:avLst/>
          </a:prstGeom>
          <a:noFill/>
          <a:ln/>
        </p:spPr>
        <p:txBody>
          <a:bodyPr wrap="square" lIns="0" tIns="0" rIns="0" bIns="0" rtlCol="0" anchor="t"/>
          <a:lstStyle/>
          <a:p>
            <a:pPr algn="l" indent="0" marL="0">
              <a:buNone/>
            </a:pPr>
            <a:r>
              <a:rPr lang="en-US" sz="900" dirty="0">
                <a:solidFill>
                  <a:srgbClr val="475569"/>
                </a:solidFill>
              </a:rPr>
              <a:t>Submitted for review. Assigned Reviewer receives email notification and acts via the Workflow tab.</a:t>
            </a:r>
            <a:endParaRPr lang="en-US" sz="900" dirty="0"/>
          </a:p>
        </p:txBody>
      </p:sp>
      <p:sp>
        <p:nvSpPr>
          <p:cNvPr id="16" name="Shape 14"/>
          <p:cNvSpPr/>
          <p:nvPr/>
        </p:nvSpPr>
        <p:spPr>
          <a:xfrm>
            <a:off x="3840480" y="1417320"/>
            <a:ext cx="1508760" cy="594360"/>
          </a:xfrm>
          <a:prstGeom prst="rect">
            <a:avLst/>
          </a:prstGeom>
          <a:solidFill>
            <a:srgbClr val="7C3AED"/>
          </a:solidFill>
          <a:ln w="12700">
            <a:solidFill>
              <a:srgbClr val="7C3AED"/>
            </a:solidFill>
            <a:prstDash val="solid"/>
          </a:ln>
        </p:spPr>
      </p:sp>
      <p:sp>
        <p:nvSpPr>
          <p:cNvPr id="17" name="Text 15"/>
          <p:cNvSpPr/>
          <p:nvPr/>
        </p:nvSpPr>
        <p:spPr>
          <a:xfrm>
            <a:off x="3840480" y="1417320"/>
            <a:ext cx="1508760" cy="594360"/>
          </a:xfrm>
          <a:prstGeom prst="rect">
            <a:avLst/>
          </a:prstGeom>
          <a:noFill/>
          <a:ln/>
        </p:spPr>
        <p:txBody>
          <a:bodyPr wrap="square" lIns="0" tIns="0" rIns="0" bIns="0" rtlCol="0" anchor="ctr"/>
          <a:lstStyle/>
          <a:p>
            <a:pPr algn="ctr" indent="0" marL="0">
              <a:buNone/>
            </a:pPr>
            <a:r>
              <a:rPr lang="en-US" sz="1100" b="1" dirty="0">
                <a:solidFill>
                  <a:srgbClr val="FFFFFF"/>
                </a:solidFill>
              </a:rPr>
              <a:t>Pending</a:t>
            </a:r>
            <a:endParaRPr lang="en-US" sz="1100" dirty="0"/>
          </a:p>
          <a:p>
            <a:pPr algn="ctr" indent="0" marL="0">
              <a:buNone/>
            </a:pPr>
            <a:r>
              <a:rPr lang="en-US" sz="1100" b="1" dirty="0">
                <a:solidFill>
                  <a:srgbClr val="FFFFFF"/>
                </a:solidFill>
              </a:rPr>
              <a:t>Approval</a:t>
            </a:r>
            <a:endParaRPr lang="en-US" sz="1100" dirty="0"/>
          </a:p>
        </p:txBody>
      </p:sp>
      <p:sp>
        <p:nvSpPr>
          <p:cNvPr id="18" name="Shape 16"/>
          <p:cNvSpPr/>
          <p:nvPr/>
        </p:nvSpPr>
        <p:spPr>
          <a:xfrm>
            <a:off x="5349240" y="1627632"/>
            <a:ext cx="182880" cy="164592"/>
          </a:xfrm>
          <a:prstGeom prst="rect">
            <a:avLst/>
          </a:prstGeom>
          <a:solidFill>
            <a:srgbClr val="DBE3EF"/>
          </a:solidFill>
          <a:ln w="12700">
            <a:solidFill>
              <a:srgbClr val="DBE3EF"/>
            </a:solidFill>
            <a:prstDash val="solid"/>
          </a:ln>
        </p:spPr>
      </p:sp>
      <p:sp>
        <p:nvSpPr>
          <p:cNvPr id="19" name="Text 17"/>
          <p:cNvSpPr/>
          <p:nvPr/>
        </p:nvSpPr>
        <p:spPr>
          <a:xfrm>
            <a:off x="3840480" y="2148840"/>
            <a:ext cx="1508760" cy="2560320"/>
          </a:xfrm>
          <a:prstGeom prst="rect">
            <a:avLst/>
          </a:prstGeom>
          <a:noFill/>
          <a:ln/>
        </p:spPr>
        <p:txBody>
          <a:bodyPr wrap="square" lIns="0" tIns="0" rIns="0" bIns="0" rtlCol="0" anchor="t"/>
          <a:lstStyle/>
          <a:p>
            <a:pPr algn="l" indent="0" marL="0">
              <a:buNone/>
            </a:pPr>
            <a:r>
              <a:rPr lang="en-US" sz="900" dirty="0">
                <a:solidFill>
                  <a:srgbClr val="475569"/>
                </a:solidFill>
              </a:rPr>
              <a:t>Review complete. Assigned Approver receives email notification and approves or rejects.</a:t>
            </a:r>
            <a:endParaRPr lang="en-US" sz="900" dirty="0"/>
          </a:p>
        </p:txBody>
      </p:sp>
      <p:sp>
        <p:nvSpPr>
          <p:cNvPr id="20" name="Shape 18"/>
          <p:cNvSpPr/>
          <p:nvPr/>
        </p:nvSpPr>
        <p:spPr>
          <a:xfrm>
            <a:off x="5532120" y="1417320"/>
            <a:ext cx="1508760" cy="594360"/>
          </a:xfrm>
          <a:prstGeom prst="rect">
            <a:avLst/>
          </a:prstGeom>
          <a:solidFill>
            <a:srgbClr val="2F7F7D"/>
          </a:solidFill>
          <a:ln w="12700">
            <a:solidFill>
              <a:srgbClr val="2F7F7D"/>
            </a:solidFill>
            <a:prstDash val="solid"/>
          </a:ln>
        </p:spPr>
      </p:sp>
      <p:sp>
        <p:nvSpPr>
          <p:cNvPr id="21" name="Text 19"/>
          <p:cNvSpPr/>
          <p:nvPr/>
        </p:nvSpPr>
        <p:spPr>
          <a:xfrm>
            <a:off x="5532120" y="1417320"/>
            <a:ext cx="1508760" cy="594360"/>
          </a:xfrm>
          <a:prstGeom prst="rect">
            <a:avLst/>
          </a:prstGeom>
          <a:noFill/>
          <a:ln/>
        </p:spPr>
        <p:txBody>
          <a:bodyPr wrap="square" lIns="0" tIns="0" rIns="0" bIns="0" rtlCol="0" anchor="ctr"/>
          <a:lstStyle/>
          <a:p>
            <a:pPr algn="ctr" indent="0" marL="0">
              <a:buNone/>
            </a:pPr>
            <a:r>
              <a:rPr lang="en-US" sz="1100" b="1" dirty="0">
                <a:solidFill>
                  <a:srgbClr val="FFFFFF"/>
                </a:solidFill>
              </a:rPr>
              <a:t>Live</a:t>
            </a:r>
            <a:endParaRPr lang="en-US" sz="1100" dirty="0"/>
          </a:p>
        </p:txBody>
      </p:sp>
      <p:sp>
        <p:nvSpPr>
          <p:cNvPr id="22" name="Shape 20"/>
          <p:cNvSpPr/>
          <p:nvPr/>
        </p:nvSpPr>
        <p:spPr>
          <a:xfrm>
            <a:off x="7040880" y="1627632"/>
            <a:ext cx="182880" cy="164592"/>
          </a:xfrm>
          <a:prstGeom prst="rect">
            <a:avLst/>
          </a:prstGeom>
          <a:solidFill>
            <a:srgbClr val="DBE3EF"/>
          </a:solidFill>
          <a:ln w="12700">
            <a:solidFill>
              <a:srgbClr val="DBE3EF"/>
            </a:solidFill>
            <a:prstDash val="solid"/>
          </a:ln>
        </p:spPr>
      </p:sp>
      <p:sp>
        <p:nvSpPr>
          <p:cNvPr id="23" name="Text 21"/>
          <p:cNvSpPr/>
          <p:nvPr/>
        </p:nvSpPr>
        <p:spPr>
          <a:xfrm>
            <a:off x="5532120" y="2148840"/>
            <a:ext cx="1508760" cy="2560320"/>
          </a:xfrm>
          <a:prstGeom prst="rect">
            <a:avLst/>
          </a:prstGeom>
          <a:noFill/>
          <a:ln/>
        </p:spPr>
        <p:txBody>
          <a:bodyPr wrap="square" lIns="0" tIns="0" rIns="0" bIns="0" rtlCol="0" anchor="t"/>
          <a:lstStyle/>
          <a:p>
            <a:pPr algn="l" indent="0" marL="0">
              <a:buNone/>
            </a:pPr>
            <a:r>
              <a:rPr lang="en-US" sz="900" dirty="0">
                <a:solidFill>
                  <a:srgbClr val="475569"/>
                </a:solidFill>
              </a:rPr>
              <a:t>Approved and published. Document is now the current controlled version.</a:t>
            </a:r>
            <a:endParaRPr lang="en-US" sz="900" dirty="0"/>
          </a:p>
        </p:txBody>
      </p:sp>
      <p:sp>
        <p:nvSpPr>
          <p:cNvPr id="24" name="Shape 22"/>
          <p:cNvSpPr/>
          <p:nvPr/>
        </p:nvSpPr>
        <p:spPr>
          <a:xfrm>
            <a:off x="7223760" y="1417320"/>
            <a:ext cx="1508760" cy="594360"/>
          </a:xfrm>
          <a:prstGeom prst="rect">
            <a:avLst/>
          </a:prstGeom>
          <a:solidFill>
            <a:srgbClr val="78716C"/>
          </a:solidFill>
          <a:ln w="12700">
            <a:solidFill>
              <a:srgbClr val="78716C"/>
            </a:solidFill>
            <a:prstDash val="solid"/>
          </a:ln>
        </p:spPr>
      </p:sp>
      <p:sp>
        <p:nvSpPr>
          <p:cNvPr id="25" name="Text 23"/>
          <p:cNvSpPr/>
          <p:nvPr/>
        </p:nvSpPr>
        <p:spPr>
          <a:xfrm>
            <a:off x="7223760" y="1417320"/>
            <a:ext cx="1508760" cy="594360"/>
          </a:xfrm>
          <a:prstGeom prst="rect">
            <a:avLst/>
          </a:prstGeom>
          <a:noFill/>
          <a:ln/>
        </p:spPr>
        <p:txBody>
          <a:bodyPr wrap="square" lIns="0" tIns="0" rIns="0" bIns="0" rtlCol="0" anchor="ctr"/>
          <a:lstStyle/>
          <a:p>
            <a:pPr algn="ctr" indent="0" marL="0">
              <a:buNone/>
            </a:pPr>
            <a:r>
              <a:rPr lang="en-US" sz="1100" b="1" dirty="0">
                <a:solidFill>
                  <a:srgbClr val="FFFFFF"/>
                </a:solidFill>
              </a:rPr>
              <a:t>Archived</a:t>
            </a:r>
            <a:endParaRPr lang="en-US" sz="1100" dirty="0"/>
          </a:p>
        </p:txBody>
      </p:sp>
      <p:sp>
        <p:nvSpPr>
          <p:cNvPr id="26" name="Text 24"/>
          <p:cNvSpPr/>
          <p:nvPr/>
        </p:nvSpPr>
        <p:spPr>
          <a:xfrm>
            <a:off x="7223760" y="2148840"/>
            <a:ext cx="1508760" cy="2560320"/>
          </a:xfrm>
          <a:prstGeom prst="rect">
            <a:avLst/>
          </a:prstGeom>
          <a:noFill/>
          <a:ln/>
        </p:spPr>
        <p:txBody>
          <a:bodyPr wrap="square" lIns="0" tIns="0" rIns="0" bIns="0" rtlCol="0" anchor="t"/>
          <a:lstStyle/>
          <a:p>
            <a:pPr algn="l" indent="0" marL="0">
              <a:buNone/>
            </a:pPr>
            <a:r>
              <a:rPr lang="en-US" sz="900" dirty="0">
                <a:solidFill>
                  <a:srgbClr val="475569"/>
                </a:solidFill>
              </a:rPr>
              <a:t>Superseded by a new revision or manually archived. Remains accessible for reference.</a:t>
            </a:r>
            <a:endParaRPr lang="en-US" sz="900" dirty="0"/>
          </a:p>
        </p:txBody>
      </p:sp>
      <p:sp>
        <p:nvSpPr>
          <p:cNvPr id="27" name="Shape 25"/>
          <p:cNvSpPr/>
          <p:nvPr/>
        </p:nvSpPr>
        <p:spPr>
          <a:xfrm>
            <a:off x="457200" y="4572000"/>
            <a:ext cx="8229600" cy="411480"/>
          </a:xfrm>
          <a:prstGeom prst="rect">
            <a:avLst/>
          </a:prstGeom>
          <a:solidFill>
            <a:srgbClr val="EEF8F7"/>
          </a:solidFill>
          <a:ln w="12700">
            <a:solidFill>
              <a:srgbClr val="3A9B98"/>
            </a:solidFill>
            <a:prstDash val="solid"/>
          </a:ln>
        </p:spPr>
      </p:sp>
      <p:sp>
        <p:nvSpPr>
          <p:cNvPr id="28" name="Text 26"/>
          <p:cNvSpPr/>
          <p:nvPr/>
        </p:nvSpPr>
        <p:spPr>
          <a:xfrm>
            <a:off x="594360" y="4617720"/>
            <a:ext cx="7955280" cy="320040"/>
          </a:xfrm>
          <a:prstGeom prst="rect">
            <a:avLst/>
          </a:prstGeom>
          <a:noFill/>
          <a:ln/>
        </p:spPr>
        <p:txBody>
          <a:bodyPr wrap="square" lIns="0" tIns="0" rIns="0" bIns="0" rtlCol="0" anchor="ctr"/>
          <a:lstStyle/>
          <a:p>
            <a:pPr indent="0" marL="0">
              <a:buNone/>
            </a:pPr>
            <a:r>
              <a:rPr lang="en-US" sz="950" dirty="0">
                <a:solidFill>
                  <a:srgbClr val="2F7F7D"/>
                </a:solidFill>
              </a:rPr>
              <a:t>💡  Tip: Email notifications are sent automatically at each workflow step. No manual chasing needed — the system does it for you.</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HSE Management</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9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HSE Management</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Health, Safety and Environment — incidents, observations, inspections, PTW, and calendar</a:t>
            </a:r>
            <a:endParaRPr lang="en-US" sz="1200" dirty="0"/>
          </a:p>
        </p:txBody>
      </p:sp>
      <p:sp>
        <p:nvSpPr>
          <p:cNvPr id="8" name="Shape 6"/>
          <p:cNvSpPr/>
          <p:nvPr/>
        </p:nvSpPr>
        <p:spPr>
          <a:xfrm>
            <a:off x="457200" y="13716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2029968" cy="45720"/>
          </a:xfrm>
          <a:prstGeom prst="rect">
            <a:avLst/>
          </a:prstGeom>
          <a:solidFill>
            <a:srgbClr val="3A9B98"/>
          </a:solidFill>
          <a:ln w="12700">
            <a:solidFill>
              <a:srgbClr val="3A9B98"/>
            </a:solidFill>
            <a:prstDash val="solid"/>
          </a:ln>
        </p:spPr>
      </p:sp>
      <p:sp>
        <p:nvSpPr>
          <p:cNvPr id="10" name="Text 8"/>
          <p:cNvSpPr/>
          <p:nvPr/>
        </p:nvSpPr>
        <p:spPr>
          <a:xfrm>
            <a:off x="621792" y="14630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HSE Dashboard</a:t>
            </a:r>
            <a:endParaRPr lang="en-US" sz="1100" dirty="0"/>
          </a:p>
        </p:txBody>
      </p:sp>
      <p:sp>
        <p:nvSpPr>
          <p:cNvPr id="11" name="Text 9"/>
          <p:cNvSpPr/>
          <p:nvPr/>
        </p:nvSpPr>
        <p:spPr>
          <a:xfrm>
            <a:off x="621792" y="1828800"/>
            <a:ext cx="1700784" cy="1051560"/>
          </a:xfrm>
          <a:prstGeom prst="rect">
            <a:avLst/>
          </a:prstGeom>
          <a:noFill/>
          <a:ln/>
        </p:spPr>
        <p:txBody>
          <a:bodyPr wrap="square" lIns="0" tIns="0" rIns="0" bIns="0" rtlCol="0" anchor="t"/>
          <a:lstStyle/>
          <a:p>
            <a:pPr indent="0" marL="0">
              <a:buNone/>
            </a:pPr>
            <a:r>
              <a:rPr lang="en-US" sz="950" dirty="0">
                <a:solidFill>
                  <a:srgbClr val="475569"/>
                </a:solidFill>
              </a:rPr>
              <a:t>Live KPIs: AINM split, inspection status, action pressure, calendar pressure, and HSE action load by person.</a:t>
            </a:r>
            <a:endParaRPr lang="en-US" sz="950" dirty="0"/>
          </a:p>
        </p:txBody>
      </p:sp>
      <p:sp>
        <p:nvSpPr>
          <p:cNvPr id="12" name="Shape 10"/>
          <p:cNvSpPr/>
          <p:nvPr/>
        </p:nvSpPr>
        <p:spPr>
          <a:xfrm>
            <a:off x="2606040" y="13716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2606040" y="1371600"/>
            <a:ext cx="2029968" cy="45720"/>
          </a:xfrm>
          <a:prstGeom prst="rect">
            <a:avLst/>
          </a:prstGeom>
          <a:solidFill>
            <a:srgbClr val="3A9B98"/>
          </a:solidFill>
          <a:ln w="12700">
            <a:solidFill>
              <a:srgbClr val="3A9B98"/>
            </a:solidFill>
            <a:prstDash val="solid"/>
          </a:ln>
        </p:spPr>
      </p:sp>
      <p:sp>
        <p:nvSpPr>
          <p:cNvPr id="14" name="Text 12"/>
          <p:cNvSpPr/>
          <p:nvPr/>
        </p:nvSpPr>
        <p:spPr>
          <a:xfrm>
            <a:off x="2770632" y="14630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HSE Calendar</a:t>
            </a:r>
            <a:endParaRPr lang="en-US" sz="1100" dirty="0"/>
          </a:p>
        </p:txBody>
      </p:sp>
      <p:sp>
        <p:nvSpPr>
          <p:cNvPr id="15" name="Text 13"/>
          <p:cNvSpPr/>
          <p:nvPr/>
        </p:nvSpPr>
        <p:spPr>
          <a:xfrm>
            <a:off x="2770632" y="1828800"/>
            <a:ext cx="1700784" cy="1051560"/>
          </a:xfrm>
          <a:prstGeom prst="rect">
            <a:avLst/>
          </a:prstGeom>
          <a:noFill/>
          <a:ln/>
        </p:spPr>
        <p:txBody>
          <a:bodyPr wrap="square" lIns="0" tIns="0" rIns="0" bIns="0" rtlCol="0" anchor="t"/>
          <a:lstStyle/>
          <a:p>
            <a:pPr indent="0" marL="0">
              <a:buNone/>
            </a:pPr>
            <a:r>
              <a:rPr lang="en-US" sz="950" dirty="0">
                <a:solidFill>
                  <a:srgbClr val="475569"/>
                </a:solidFill>
              </a:rPr>
              <a:t>Plan and track recurring HSE inspections and events. Overdue and upcoming items flagged automatically.</a:t>
            </a:r>
            <a:endParaRPr lang="en-US" sz="950" dirty="0"/>
          </a:p>
        </p:txBody>
      </p:sp>
      <p:sp>
        <p:nvSpPr>
          <p:cNvPr id="16" name="Shape 14"/>
          <p:cNvSpPr/>
          <p:nvPr/>
        </p:nvSpPr>
        <p:spPr>
          <a:xfrm>
            <a:off x="4754880" y="13716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754880" y="1371600"/>
            <a:ext cx="2029968" cy="45720"/>
          </a:xfrm>
          <a:prstGeom prst="rect">
            <a:avLst/>
          </a:prstGeom>
          <a:solidFill>
            <a:srgbClr val="3A9B98"/>
          </a:solidFill>
          <a:ln w="12700">
            <a:solidFill>
              <a:srgbClr val="3A9B98"/>
            </a:solidFill>
            <a:prstDash val="solid"/>
          </a:ln>
        </p:spPr>
      </p:sp>
      <p:sp>
        <p:nvSpPr>
          <p:cNvPr id="18" name="Text 16"/>
          <p:cNvSpPr/>
          <p:nvPr/>
        </p:nvSpPr>
        <p:spPr>
          <a:xfrm>
            <a:off x="4919472" y="14630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AINM</a:t>
            </a:r>
            <a:endParaRPr lang="en-US" sz="1100" dirty="0"/>
          </a:p>
        </p:txBody>
      </p:sp>
      <p:sp>
        <p:nvSpPr>
          <p:cNvPr id="19" name="Text 17"/>
          <p:cNvSpPr/>
          <p:nvPr/>
        </p:nvSpPr>
        <p:spPr>
          <a:xfrm>
            <a:off x="4919472" y="1828800"/>
            <a:ext cx="1700784" cy="1051560"/>
          </a:xfrm>
          <a:prstGeom prst="rect">
            <a:avLst/>
          </a:prstGeom>
          <a:noFill/>
          <a:ln/>
        </p:spPr>
        <p:txBody>
          <a:bodyPr wrap="square" lIns="0" tIns="0" rIns="0" bIns="0" rtlCol="0" anchor="t"/>
          <a:lstStyle/>
          <a:p>
            <a:pPr indent="0" marL="0">
              <a:buNone/>
            </a:pPr>
            <a:r>
              <a:rPr lang="en-US" sz="950" dirty="0">
                <a:solidFill>
                  <a:srgbClr val="475569"/>
                </a:solidFill>
              </a:rPr>
              <a:t>Accident, Incident and Near Miss register. Log events, assign investigation, track closure, and report trends.</a:t>
            </a:r>
            <a:endParaRPr lang="en-US" sz="950" dirty="0"/>
          </a:p>
        </p:txBody>
      </p:sp>
      <p:sp>
        <p:nvSpPr>
          <p:cNvPr id="20" name="Shape 18"/>
          <p:cNvSpPr/>
          <p:nvPr/>
        </p:nvSpPr>
        <p:spPr>
          <a:xfrm>
            <a:off x="6903720" y="13716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903720" y="1371600"/>
            <a:ext cx="2029968" cy="45720"/>
          </a:xfrm>
          <a:prstGeom prst="rect">
            <a:avLst/>
          </a:prstGeom>
          <a:solidFill>
            <a:srgbClr val="3A9B98"/>
          </a:solidFill>
          <a:ln w="12700">
            <a:solidFill>
              <a:srgbClr val="3A9B98"/>
            </a:solidFill>
            <a:prstDash val="solid"/>
          </a:ln>
        </p:spPr>
      </p:sp>
      <p:sp>
        <p:nvSpPr>
          <p:cNvPr id="22" name="Text 20"/>
          <p:cNvSpPr/>
          <p:nvPr/>
        </p:nvSpPr>
        <p:spPr>
          <a:xfrm>
            <a:off x="7068312" y="14630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Observations</a:t>
            </a:r>
            <a:endParaRPr lang="en-US" sz="1100" dirty="0"/>
          </a:p>
        </p:txBody>
      </p:sp>
      <p:sp>
        <p:nvSpPr>
          <p:cNvPr id="23" name="Text 21"/>
          <p:cNvSpPr/>
          <p:nvPr/>
        </p:nvSpPr>
        <p:spPr>
          <a:xfrm>
            <a:off x="7068312" y="1828800"/>
            <a:ext cx="1700784" cy="1051560"/>
          </a:xfrm>
          <a:prstGeom prst="rect">
            <a:avLst/>
          </a:prstGeom>
          <a:noFill/>
          <a:ln/>
        </p:spPr>
        <p:txBody>
          <a:bodyPr wrap="square" lIns="0" tIns="0" rIns="0" bIns="0" rtlCol="0" anchor="t"/>
          <a:lstStyle/>
          <a:p>
            <a:pPr indent="0" marL="0">
              <a:buNone/>
            </a:pPr>
            <a:r>
              <a:rPr lang="en-US" sz="950" dirty="0">
                <a:solidFill>
                  <a:srgbClr val="475569"/>
                </a:solidFill>
              </a:rPr>
              <a:t>Log safety observations (positive and negative). Assign follow-up actions and track resolution.</a:t>
            </a:r>
            <a:endParaRPr lang="en-US" sz="950" dirty="0"/>
          </a:p>
        </p:txBody>
      </p:sp>
      <p:sp>
        <p:nvSpPr>
          <p:cNvPr id="24" name="Shape 22"/>
          <p:cNvSpPr/>
          <p:nvPr/>
        </p:nvSpPr>
        <p:spPr>
          <a:xfrm>
            <a:off x="457200" y="315468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457200" y="3154680"/>
            <a:ext cx="2029968" cy="45720"/>
          </a:xfrm>
          <a:prstGeom prst="rect">
            <a:avLst/>
          </a:prstGeom>
          <a:solidFill>
            <a:srgbClr val="3A9B98"/>
          </a:solidFill>
          <a:ln w="12700">
            <a:solidFill>
              <a:srgbClr val="3A9B98"/>
            </a:solidFill>
            <a:prstDash val="solid"/>
          </a:ln>
        </p:spPr>
      </p:sp>
      <p:sp>
        <p:nvSpPr>
          <p:cNvPr id="26" name="Text 24"/>
          <p:cNvSpPr/>
          <p:nvPr/>
        </p:nvSpPr>
        <p:spPr>
          <a:xfrm>
            <a:off x="621792" y="324612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Permit to Work (PTW)</a:t>
            </a:r>
            <a:endParaRPr lang="en-US" sz="1100" dirty="0"/>
          </a:p>
        </p:txBody>
      </p:sp>
      <p:sp>
        <p:nvSpPr>
          <p:cNvPr id="27" name="Text 25"/>
          <p:cNvSpPr/>
          <p:nvPr/>
        </p:nvSpPr>
        <p:spPr>
          <a:xfrm>
            <a:off x="621792" y="3611880"/>
            <a:ext cx="1700784" cy="1051560"/>
          </a:xfrm>
          <a:prstGeom prst="rect">
            <a:avLst/>
          </a:prstGeom>
          <a:noFill/>
          <a:ln/>
        </p:spPr>
        <p:txBody>
          <a:bodyPr wrap="square" lIns="0" tIns="0" rIns="0" bIns="0" rtlCol="0" anchor="t"/>
          <a:lstStyle/>
          <a:p>
            <a:pPr indent="0" marL="0">
              <a:buNone/>
            </a:pPr>
            <a:r>
              <a:rPr lang="en-US" sz="950" dirty="0">
                <a:solidFill>
                  <a:srgbClr val="475569"/>
                </a:solidFill>
              </a:rPr>
              <a:t>Issue, manage and close permits to work. Ensures hazard controls are in place before work begins.</a:t>
            </a:r>
            <a:endParaRPr lang="en-US" sz="950" dirty="0"/>
          </a:p>
        </p:txBody>
      </p:sp>
      <p:sp>
        <p:nvSpPr>
          <p:cNvPr id="28" name="Shape 26"/>
          <p:cNvSpPr/>
          <p:nvPr/>
        </p:nvSpPr>
        <p:spPr>
          <a:xfrm>
            <a:off x="2606040" y="315468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606040" y="3154680"/>
            <a:ext cx="2029968" cy="45720"/>
          </a:xfrm>
          <a:prstGeom prst="rect">
            <a:avLst/>
          </a:prstGeom>
          <a:solidFill>
            <a:srgbClr val="3A9B98"/>
          </a:solidFill>
          <a:ln w="12700">
            <a:solidFill>
              <a:srgbClr val="3A9B98"/>
            </a:solidFill>
            <a:prstDash val="solid"/>
          </a:ln>
        </p:spPr>
      </p:sp>
      <p:sp>
        <p:nvSpPr>
          <p:cNvPr id="30" name="Text 28"/>
          <p:cNvSpPr/>
          <p:nvPr/>
        </p:nvSpPr>
        <p:spPr>
          <a:xfrm>
            <a:off x="2770632" y="324612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Inspections</a:t>
            </a:r>
            <a:endParaRPr lang="en-US" sz="1100" dirty="0"/>
          </a:p>
        </p:txBody>
      </p:sp>
      <p:sp>
        <p:nvSpPr>
          <p:cNvPr id="31" name="Text 29"/>
          <p:cNvSpPr/>
          <p:nvPr/>
        </p:nvSpPr>
        <p:spPr>
          <a:xfrm>
            <a:off x="2770632" y="3611880"/>
            <a:ext cx="1700784" cy="1051560"/>
          </a:xfrm>
          <a:prstGeom prst="rect">
            <a:avLst/>
          </a:prstGeom>
          <a:noFill/>
          <a:ln/>
        </p:spPr>
        <p:txBody>
          <a:bodyPr wrap="square" lIns="0" tIns="0" rIns="0" bIns="0" rtlCol="0" anchor="t"/>
          <a:lstStyle/>
          <a:p>
            <a:pPr indent="0" marL="0">
              <a:buNone/>
            </a:pPr>
            <a:r>
              <a:rPr lang="en-US" sz="950" dirty="0">
                <a:solidFill>
                  <a:srgbClr val="475569"/>
                </a:solidFill>
              </a:rPr>
              <a:t>Schedule and record HSE inspections. Field inspection mode available on mobile. Log findings and corrective actions.</a:t>
            </a:r>
            <a:endParaRPr lang="en-US" sz="950" dirty="0"/>
          </a:p>
        </p:txBody>
      </p:sp>
      <p:sp>
        <p:nvSpPr>
          <p:cNvPr id="32" name="Shape 30"/>
          <p:cNvSpPr/>
          <p:nvPr/>
        </p:nvSpPr>
        <p:spPr>
          <a:xfrm>
            <a:off x="4754880" y="315468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33" name="Shape 31"/>
          <p:cNvSpPr/>
          <p:nvPr/>
        </p:nvSpPr>
        <p:spPr>
          <a:xfrm>
            <a:off x="4754880" y="3154680"/>
            <a:ext cx="2029968" cy="45720"/>
          </a:xfrm>
          <a:prstGeom prst="rect">
            <a:avLst/>
          </a:prstGeom>
          <a:solidFill>
            <a:srgbClr val="3A9B98"/>
          </a:solidFill>
          <a:ln w="12700">
            <a:solidFill>
              <a:srgbClr val="3A9B98"/>
            </a:solidFill>
            <a:prstDash val="solid"/>
          </a:ln>
        </p:spPr>
      </p:sp>
      <p:sp>
        <p:nvSpPr>
          <p:cNvPr id="34" name="Text 32"/>
          <p:cNvSpPr/>
          <p:nvPr/>
        </p:nvSpPr>
        <p:spPr>
          <a:xfrm>
            <a:off x="4919472" y="324612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HSE Actions</a:t>
            </a:r>
            <a:endParaRPr lang="en-US" sz="1100" dirty="0"/>
          </a:p>
        </p:txBody>
      </p:sp>
      <p:sp>
        <p:nvSpPr>
          <p:cNvPr id="35" name="Text 33"/>
          <p:cNvSpPr/>
          <p:nvPr/>
        </p:nvSpPr>
        <p:spPr>
          <a:xfrm>
            <a:off x="4919472" y="3611880"/>
            <a:ext cx="1700784" cy="1051560"/>
          </a:xfrm>
          <a:prstGeom prst="rect">
            <a:avLst/>
          </a:prstGeom>
          <a:noFill/>
          <a:ln/>
        </p:spPr>
        <p:txBody>
          <a:bodyPr wrap="square" lIns="0" tIns="0" rIns="0" bIns="0" rtlCol="0" anchor="t"/>
          <a:lstStyle/>
          <a:p>
            <a:pPr indent="0" marL="0">
              <a:buNone/>
            </a:pPr>
            <a:r>
              <a:rPr lang="en-US" sz="950" dirty="0">
                <a:solidFill>
                  <a:srgbClr val="475569"/>
                </a:solidFill>
              </a:rPr>
              <a:t>All HSE-originated actions in one register. Priority, owner, due date, and evidence upload.</a:t>
            </a:r>
            <a:endParaRPr lang="en-US" sz="950" dirty="0"/>
          </a:p>
        </p:txBody>
      </p:sp>
      <p:sp>
        <p:nvSpPr>
          <p:cNvPr id="36" name="Shape 34"/>
          <p:cNvSpPr/>
          <p:nvPr/>
        </p:nvSpPr>
        <p:spPr>
          <a:xfrm>
            <a:off x="6903720" y="315468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37" name="Shape 35"/>
          <p:cNvSpPr/>
          <p:nvPr/>
        </p:nvSpPr>
        <p:spPr>
          <a:xfrm>
            <a:off x="6903720" y="3154680"/>
            <a:ext cx="2029968" cy="45720"/>
          </a:xfrm>
          <a:prstGeom prst="rect">
            <a:avLst/>
          </a:prstGeom>
          <a:solidFill>
            <a:srgbClr val="3A9B98"/>
          </a:solidFill>
          <a:ln w="12700">
            <a:solidFill>
              <a:srgbClr val="3A9B98"/>
            </a:solidFill>
            <a:prstDash val="solid"/>
          </a:ln>
        </p:spPr>
      </p:sp>
      <p:sp>
        <p:nvSpPr>
          <p:cNvPr id="38" name="Text 36"/>
          <p:cNvSpPr/>
          <p:nvPr/>
        </p:nvSpPr>
        <p:spPr>
          <a:xfrm>
            <a:off x="7068312" y="324612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Reports</a:t>
            </a:r>
            <a:endParaRPr lang="en-US" sz="1100" dirty="0"/>
          </a:p>
        </p:txBody>
      </p:sp>
      <p:sp>
        <p:nvSpPr>
          <p:cNvPr id="39" name="Text 37"/>
          <p:cNvSpPr/>
          <p:nvPr/>
        </p:nvSpPr>
        <p:spPr>
          <a:xfrm>
            <a:off x="7068312" y="3611880"/>
            <a:ext cx="1700784" cy="1051560"/>
          </a:xfrm>
          <a:prstGeom prst="rect">
            <a:avLst/>
          </a:prstGeom>
          <a:noFill/>
          <a:ln/>
        </p:spPr>
        <p:txBody>
          <a:bodyPr wrap="square" lIns="0" tIns="0" rIns="0" bIns="0" rtlCol="0" anchor="t"/>
          <a:lstStyle/>
          <a:p>
            <a:pPr indent="0" marL="0">
              <a:buNone/>
            </a:pPr>
            <a:r>
              <a:rPr lang="en-US" sz="950" dirty="0">
                <a:solidFill>
                  <a:srgbClr val="475569"/>
                </a:solidFill>
              </a:rPr>
              <a:t>HSE performance reports — incident trends, inspection rates, action closure, and RIDDOR-style summaries.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HSE Management · AINM &amp; Observations</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10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AINM &amp; Observations</a:t>
            </a:r>
            <a:endParaRPr lang="en-US" sz="2400" dirty="0"/>
          </a:p>
        </p:txBody>
      </p:sp>
      <p:sp>
        <p:nvSpPr>
          <p:cNvPr id="7" name="Shape 5"/>
          <p:cNvSpPr/>
          <p:nvPr/>
        </p:nvSpPr>
        <p:spPr>
          <a:xfrm>
            <a:off x="457200" y="1051560"/>
            <a:ext cx="4023360" cy="365760"/>
          </a:xfrm>
          <a:prstGeom prst="rect">
            <a:avLst/>
          </a:prstGeom>
          <a:solidFill>
            <a:srgbClr val="3A9B98"/>
          </a:solidFill>
          <a:ln w="12700">
            <a:solidFill>
              <a:srgbClr val="3A9B98"/>
            </a:solidFill>
            <a:prstDash val="solid"/>
          </a:ln>
        </p:spPr>
      </p:sp>
      <p:sp>
        <p:nvSpPr>
          <p:cNvPr id="8" name="Text 6"/>
          <p:cNvSpPr/>
          <p:nvPr/>
        </p:nvSpPr>
        <p:spPr>
          <a:xfrm>
            <a:off x="548640" y="1051560"/>
            <a:ext cx="3840480" cy="365760"/>
          </a:xfrm>
          <a:prstGeom prst="rect">
            <a:avLst/>
          </a:prstGeom>
          <a:noFill/>
          <a:ln/>
        </p:spPr>
        <p:txBody>
          <a:bodyPr wrap="square" lIns="0" tIns="0" rIns="0" bIns="0" rtlCol="0" anchor="ctr"/>
          <a:lstStyle/>
          <a:p>
            <a:pPr indent="0" marL="0">
              <a:buNone/>
            </a:pPr>
            <a:r>
              <a:rPr lang="en-US" sz="1000" b="1" dirty="0">
                <a:solidFill>
                  <a:srgbClr val="FFFFFF"/>
                </a:solidFill>
              </a:rPr>
              <a:t>AINM — Accidents, Incidents &amp; Near Misses</a:t>
            </a:r>
            <a:endParaRPr lang="en-US" sz="1000" dirty="0"/>
          </a:p>
        </p:txBody>
      </p:sp>
      <p:sp>
        <p:nvSpPr>
          <p:cNvPr id="9" name="Text 7"/>
          <p:cNvSpPr/>
          <p:nvPr/>
        </p:nvSpPr>
        <p:spPr>
          <a:xfrm>
            <a:off x="594360" y="1508760"/>
            <a:ext cx="3749040" cy="411480"/>
          </a:xfrm>
          <a:prstGeom prst="rect">
            <a:avLst/>
          </a:prstGeom>
          <a:noFill/>
          <a:ln/>
        </p:spPr>
        <p:txBody>
          <a:bodyPr wrap="square" lIns="0" tIns="0" rIns="0" bIns="0" rtlCol="0" anchor="ctr"/>
          <a:lstStyle/>
          <a:p>
            <a:pPr indent="0" marL="0">
              <a:buNone/>
            </a:pPr>
            <a:r>
              <a:rPr lang="en-US" sz="950" dirty="0">
                <a:solidFill>
                  <a:srgbClr val="475569"/>
                </a:solidFill>
              </a:rPr>
              <a:t>1.  Select AINM from the HSE menu</a:t>
            </a:r>
            <a:endParaRPr lang="en-US" sz="950" dirty="0"/>
          </a:p>
        </p:txBody>
      </p:sp>
      <p:sp>
        <p:nvSpPr>
          <p:cNvPr id="10" name="Text 8"/>
          <p:cNvSpPr/>
          <p:nvPr/>
        </p:nvSpPr>
        <p:spPr>
          <a:xfrm>
            <a:off x="594360" y="1984248"/>
            <a:ext cx="3749040" cy="411480"/>
          </a:xfrm>
          <a:prstGeom prst="rect">
            <a:avLst/>
          </a:prstGeom>
          <a:noFill/>
          <a:ln/>
        </p:spPr>
        <p:txBody>
          <a:bodyPr wrap="square" lIns="0" tIns="0" rIns="0" bIns="0" rtlCol="0" anchor="ctr"/>
          <a:lstStyle/>
          <a:p>
            <a:pPr indent="0" marL="0">
              <a:buNone/>
            </a:pPr>
            <a:r>
              <a:rPr lang="en-US" sz="950" dirty="0">
                <a:solidFill>
                  <a:srgbClr val="475569"/>
                </a:solidFill>
              </a:rPr>
              <a:t>2.  Click 'Create Record' and choose type: Accident, Incident, or Near Miss</a:t>
            </a:r>
            <a:endParaRPr lang="en-US" sz="950" dirty="0"/>
          </a:p>
        </p:txBody>
      </p:sp>
      <p:sp>
        <p:nvSpPr>
          <p:cNvPr id="11" name="Text 9"/>
          <p:cNvSpPr/>
          <p:nvPr/>
        </p:nvSpPr>
        <p:spPr>
          <a:xfrm>
            <a:off x="594360" y="2459736"/>
            <a:ext cx="3749040" cy="411480"/>
          </a:xfrm>
          <a:prstGeom prst="rect">
            <a:avLst/>
          </a:prstGeom>
          <a:noFill/>
          <a:ln/>
        </p:spPr>
        <p:txBody>
          <a:bodyPr wrap="square" lIns="0" tIns="0" rIns="0" bIns="0" rtlCol="0" anchor="ctr"/>
          <a:lstStyle/>
          <a:p>
            <a:pPr indent="0" marL="0">
              <a:buNone/>
            </a:pPr>
            <a:r>
              <a:rPr lang="en-US" sz="950" dirty="0">
                <a:solidFill>
                  <a:srgbClr val="475569"/>
                </a:solidFill>
              </a:rPr>
              <a:t>3.  Complete the event details — date, location, description, people involved</a:t>
            </a:r>
            <a:endParaRPr lang="en-US" sz="950" dirty="0"/>
          </a:p>
        </p:txBody>
      </p:sp>
      <p:sp>
        <p:nvSpPr>
          <p:cNvPr id="12" name="Text 10"/>
          <p:cNvSpPr/>
          <p:nvPr/>
        </p:nvSpPr>
        <p:spPr>
          <a:xfrm>
            <a:off x="594360" y="2935224"/>
            <a:ext cx="3749040" cy="411480"/>
          </a:xfrm>
          <a:prstGeom prst="rect">
            <a:avLst/>
          </a:prstGeom>
          <a:noFill/>
          <a:ln/>
        </p:spPr>
        <p:txBody>
          <a:bodyPr wrap="square" lIns="0" tIns="0" rIns="0" bIns="0" rtlCol="0" anchor="ctr"/>
          <a:lstStyle/>
          <a:p>
            <a:pPr indent="0" marL="0">
              <a:buNone/>
            </a:pPr>
            <a:r>
              <a:rPr lang="en-US" sz="950" dirty="0">
                <a:solidFill>
                  <a:srgbClr val="475569"/>
                </a:solidFill>
              </a:rPr>
              <a:t>4.  Assign an investigator and set investigation due date</a:t>
            </a:r>
            <a:endParaRPr lang="en-US" sz="950" dirty="0"/>
          </a:p>
        </p:txBody>
      </p:sp>
      <p:sp>
        <p:nvSpPr>
          <p:cNvPr id="13" name="Text 11"/>
          <p:cNvSpPr/>
          <p:nvPr/>
        </p:nvSpPr>
        <p:spPr>
          <a:xfrm>
            <a:off x="594360" y="3410712"/>
            <a:ext cx="3749040" cy="411480"/>
          </a:xfrm>
          <a:prstGeom prst="rect">
            <a:avLst/>
          </a:prstGeom>
          <a:noFill/>
          <a:ln/>
        </p:spPr>
        <p:txBody>
          <a:bodyPr wrap="square" lIns="0" tIns="0" rIns="0" bIns="0" rtlCol="0" anchor="ctr"/>
          <a:lstStyle/>
          <a:p>
            <a:pPr indent="0" marL="0">
              <a:buNone/>
            </a:pPr>
            <a:r>
              <a:rPr lang="en-US" sz="950" dirty="0">
                <a:solidFill>
                  <a:srgbClr val="475569"/>
                </a:solidFill>
              </a:rPr>
              <a:t>5.  Record root cause and corrective actions</a:t>
            </a:r>
            <a:endParaRPr lang="en-US" sz="950" dirty="0"/>
          </a:p>
        </p:txBody>
      </p:sp>
      <p:sp>
        <p:nvSpPr>
          <p:cNvPr id="14" name="Text 12"/>
          <p:cNvSpPr/>
          <p:nvPr/>
        </p:nvSpPr>
        <p:spPr>
          <a:xfrm>
            <a:off x="594360" y="3886200"/>
            <a:ext cx="3749040" cy="411480"/>
          </a:xfrm>
          <a:prstGeom prst="rect">
            <a:avLst/>
          </a:prstGeom>
          <a:noFill/>
          <a:ln/>
        </p:spPr>
        <p:txBody>
          <a:bodyPr wrap="square" lIns="0" tIns="0" rIns="0" bIns="0" rtlCol="0" anchor="ctr"/>
          <a:lstStyle/>
          <a:p>
            <a:pPr indent="0" marL="0">
              <a:buNone/>
            </a:pPr>
            <a:r>
              <a:rPr lang="en-US" sz="950" dirty="0">
                <a:solidFill>
                  <a:srgbClr val="475569"/>
                </a:solidFill>
              </a:rPr>
              <a:t>6.  Close the record once all actions are complete</a:t>
            </a:r>
            <a:endParaRPr lang="en-US" sz="950" dirty="0"/>
          </a:p>
        </p:txBody>
      </p:sp>
      <p:sp>
        <p:nvSpPr>
          <p:cNvPr id="15" name="Shape 13"/>
          <p:cNvSpPr/>
          <p:nvPr/>
        </p:nvSpPr>
        <p:spPr>
          <a:xfrm>
            <a:off x="4663440" y="1051560"/>
            <a:ext cx="4023360" cy="365760"/>
          </a:xfrm>
          <a:prstGeom prst="rect">
            <a:avLst/>
          </a:prstGeom>
          <a:solidFill>
            <a:srgbClr val="2F7F7D"/>
          </a:solidFill>
          <a:ln w="12700">
            <a:solidFill>
              <a:srgbClr val="2F7F7D"/>
            </a:solidFill>
            <a:prstDash val="solid"/>
          </a:ln>
        </p:spPr>
      </p:sp>
      <p:sp>
        <p:nvSpPr>
          <p:cNvPr id="16" name="Text 14"/>
          <p:cNvSpPr/>
          <p:nvPr/>
        </p:nvSpPr>
        <p:spPr>
          <a:xfrm>
            <a:off x="4754880" y="1051560"/>
            <a:ext cx="3840480" cy="365760"/>
          </a:xfrm>
          <a:prstGeom prst="rect">
            <a:avLst/>
          </a:prstGeom>
          <a:noFill/>
          <a:ln/>
        </p:spPr>
        <p:txBody>
          <a:bodyPr wrap="square" lIns="0" tIns="0" rIns="0" bIns="0" rtlCol="0" anchor="ctr"/>
          <a:lstStyle/>
          <a:p>
            <a:pPr indent="0" marL="0">
              <a:buNone/>
            </a:pPr>
            <a:r>
              <a:rPr lang="en-US" sz="1000" b="1" dirty="0">
                <a:solidFill>
                  <a:srgbClr val="FFFFFF"/>
                </a:solidFill>
              </a:rPr>
              <a:t>Observations — Safety Observations Register</a:t>
            </a:r>
            <a:endParaRPr lang="en-US" sz="1000" dirty="0"/>
          </a:p>
        </p:txBody>
      </p:sp>
      <p:sp>
        <p:nvSpPr>
          <p:cNvPr id="17" name="Shape 15"/>
          <p:cNvSpPr/>
          <p:nvPr/>
        </p:nvSpPr>
        <p:spPr>
          <a:xfrm>
            <a:off x="4663440" y="1508760"/>
            <a:ext cx="4023360" cy="640080"/>
          </a:xfrm>
          <a:prstGeom prst="rect">
            <a:avLst/>
          </a:prstGeom>
          <a:solidFill>
            <a:srgbClr val="FFFFFF"/>
          </a:solidFill>
          <a:ln w="12700">
            <a:solidFill>
              <a:srgbClr val="DBE3EF"/>
            </a:solidFill>
            <a:prstDash val="solid"/>
          </a:ln>
        </p:spPr>
      </p:sp>
      <p:sp>
        <p:nvSpPr>
          <p:cNvPr id="18" name="Text 16"/>
          <p:cNvSpPr/>
          <p:nvPr/>
        </p:nvSpPr>
        <p:spPr>
          <a:xfrm>
            <a:off x="4800600" y="1572768"/>
            <a:ext cx="914400" cy="228600"/>
          </a:xfrm>
          <a:prstGeom prst="rect">
            <a:avLst/>
          </a:prstGeom>
          <a:noFill/>
          <a:ln/>
        </p:spPr>
        <p:txBody>
          <a:bodyPr wrap="square" lIns="0" tIns="0" rIns="0" bIns="0" rtlCol="0" anchor="ctr"/>
          <a:lstStyle/>
          <a:p>
            <a:pPr indent="0" marL="0">
              <a:buNone/>
            </a:pPr>
            <a:r>
              <a:rPr lang="en-US" sz="950" b="1" dirty="0">
                <a:solidFill>
                  <a:srgbClr val="2F7F7D"/>
                </a:solidFill>
              </a:rPr>
              <a:t>Positive</a:t>
            </a:r>
            <a:endParaRPr lang="en-US" sz="950" dirty="0"/>
          </a:p>
        </p:txBody>
      </p:sp>
      <p:sp>
        <p:nvSpPr>
          <p:cNvPr id="19" name="Text 17"/>
          <p:cNvSpPr/>
          <p:nvPr/>
        </p:nvSpPr>
        <p:spPr>
          <a:xfrm>
            <a:off x="4800600" y="1801368"/>
            <a:ext cx="3749040" cy="320040"/>
          </a:xfrm>
          <a:prstGeom prst="rect">
            <a:avLst/>
          </a:prstGeom>
          <a:noFill/>
          <a:ln/>
        </p:spPr>
        <p:txBody>
          <a:bodyPr wrap="square" lIns="0" tIns="0" rIns="0" bIns="0" rtlCol="0" anchor="ctr"/>
          <a:lstStyle/>
          <a:p>
            <a:pPr indent="0" marL="0">
              <a:buNone/>
            </a:pPr>
            <a:r>
              <a:rPr lang="en-US" sz="900" dirty="0">
                <a:solidFill>
                  <a:srgbClr val="475569"/>
                </a:solidFill>
              </a:rPr>
              <a:t>Record safe behaviours, good practice, and near-miss prevention.</a:t>
            </a:r>
            <a:endParaRPr lang="en-US" sz="900" dirty="0"/>
          </a:p>
        </p:txBody>
      </p:sp>
      <p:sp>
        <p:nvSpPr>
          <p:cNvPr id="20" name="Shape 18"/>
          <p:cNvSpPr/>
          <p:nvPr/>
        </p:nvSpPr>
        <p:spPr>
          <a:xfrm>
            <a:off x="4663440" y="2258568"/>
            <a:ext cx="4023360" cy="640080"/>
          </a:xfrm>
          <a:prstGeom prst="rect">
            <a:avLst/>
          </a:prstGeom>
          <a:solidFill>
            <a:srgbClr val="EEF8F7"/>
          </a:solidFill>
          <a:ln w="12700">
            <a:solidFill>
              <a:srgbClr val="DBE3EF"/>
            </a:solidFill>
            <a:prstDash val="solid"/>
          </a:ln>
        </p:spPr>
      </p:sp>
      <p:sp>
        <p:nvSpPr>
          <p:cNvPr id="21" name="Text 19"/>
          <p:cNvSpPr/>
          <p:nvPr/>
        </p:nvSpPr>
        <p:spPr>
          <a:xfrm>
            <a:off x="4800600" y="2322576"/>
            <a:ext cx="914400" cy="228600"/>
          </a:xfrm>
          <a:prstGeom prst="rect">
            <a:avLst/>
          </a:prstGeom>
          <a:noFill/>
          <a:ln/>
        </p:spPr>
        <p:txBody>
          <a:bodyPr wrap="square" lIns="0" tIns="0" rIns="0" bIns="0" rtlCol="0" anchor="ctr"/>
          <a:lstStyle/>
          <a:p>
            <a:pPr indent="0" marL="0">
              <a:buNone/>
            </a:pPr>
            <a:r>
              <a:rPr lang="en-US" sz="950" b="1" dirty="0">
                <a:solidFill>
                  <a:srgbClr val="2F7F7D"/>
                </a:solidFill>
              </a:rPr>
              <a:t>Negative</a:t>
            </a:r>
            <a:endParaRPr lang="en-US" sz="950" dirty="0"/>
          </a:p>
        </p:txBody>
      </p:sp>
      <p:sp>
        <p:nvSpPr>
          <p:cNvPr id="22" name="Text 20"/>
          <p:cNvSpPr/>
          <p:nvPr/>
        </p:nvSpPr>
        <p:spPr>
          <a:xfrm>
            <a:off x="4800600" y="2551176"/>
            <a:ext cx="3749040" cy="320040"/>
          </a:xfrm>
          <a:prstGeom prst="rect">
            <a:avLst/>
          </a:prstGeom>
          <a:noFill/>
          <a:ln/>
        </p:spPr>
        <p:txBody>
          <a:bodyPr wrap="square" lIns="0" tIns="0" rIns="0" bIns="0" rtlCol="0" anchor="ctr"/>
          <a:lstStyle/>
          <a:p>
            <a:pPr indent="0" marL="0">
              <a:buNone/>
            </a:pPr>
            <a:r>
              <a:rPr lang="en-US" sz="900" dirty="0">
                <a:solidFill>
                  <a:srgbClr val="475569"/>
                </a:solidFill>
              </a:rPr>
              <a:t>Log unsafe acts or conditions requiring follow-up.</a:t>
            </a:r>
            <a:endParaRPr lang="en-US" sz="900" dirty="0"/>
          </a:p>
        </p:txBody>
      </p:sp>
      <p:sp>
        <p:nvSpPr>
          <p:cNvPr id="23" name="Shape 21"/>
          <p:cNvSpPr/>
          <p:nvPr/>
        </p:nvSpPr>
        <p:spPr>
          <a:xfrm>
            <a:off x="4663440" y="3008376"/>
            <a:ext cx="4023360" cy="640080"/>
          </a:xfrm>
          <a:prstGeom prst="rect">
            <a:avLst/>
          </a:prstGeom>
          <a:solidFill>
            <a:srgbClr val="FFFFFF"/>
          </a:solidFill>
          <a:ln w="12700">
            <a:solidFill>
              <a:srgbClr val="DBE3EF"/>
            </a:solidFill>
            <a:prstDash val="solid"/>
          </a:ln>
        </p:spPr>
      </p:sp>
      <p:sp>
        <p:nvSpPr>
          <p:cNvPr id="24" name="Text 22"/>
          <p:cNvSpPr/>
          <p:nvPr/>
        </p:nvSpPr>
        <p:spPr>
          <a:xfrm>
            <a:off x="4800600" y="3072384"/>
            <a:ext cx="914400" cy="228600"/>
          </a:xfrm>
          <a:prstGeom prst="rect">
            <a:avLst/>
          </a:prstGeom>
          <a:noFill/>
          <a:ln/>
        </p:spPr>
        <p:txBody>
          <a:bodyPr wrap="square" lIns="0" tIns="0" rIns="0" bIns="0" rtlCol="0" anchor="ctr"/>
          <a:lstStyle/>
          <a:p>
            <a:pPr indent="0" marL="0">
              <a:buNone/>
            </a:pPr>
            <a:r>
              <a:rPr lang="en-US" sz="950" b="1" dirty="0">
                <a:solidFill>
                  <a:srgbClr val="2F7F7D"/>
                </a:solidFill>
              </a:rPr>
              <a:t>Actions</a:t>
            </a:r>
            <a:endParaRPr lang="en-US" sz="950" dirty="0"/>
          </a:p>
        </p:txBody>
      </p:sp>
      <p:sp>
        <p:nvSpPr>
          <p:cNvPr id="25" name="Text 23"/>
          <p:cNvSpPr/>
          <p:nvPr/>
        </p:nvSpPr>
        <p:spPr>
          <a:xfrm>
            <a:off x="4800600" y="3300984"/>
            <a:ext cx="3749040" cy="320040"/>
          </a:xfrm>
          <a:prstGeom prst="rect">
            <a:avLst/>
          </a:prstGeom>
          <a:noFill/>
          <a:ln/>
        </p:spPr>
        <p:txBody>
          <a:bodyPr wrap="square" lIns="0" tIns="0" rIns="0" bIns="0" rtlCol="0" anchor="ctr"/>
          <a:lstStyle/>
          <a:p>
            <a:pPr indent="0" marL="0">
              <a:buNone/>
            </a:pPr>
            <a:r>
              <a:rPr lang="en-US" sz="900" dirty="0">
                <a:solidFill>
                  <a:srgbClr val="475569"/>
                </a:solidFill>
              </a:rPr>
              <a:t>Assign corrective actions directly from an observation.</a:t>
            </a:r>
            <a:endParaRPr lang="en-US" sz="900" dirty="0"/>
          </a:p>
        </p:txBody>
      </p:sp>
      <p:sp>
        <p:nvSpPr>
          <p:cNvPr id="26" name="Shape 24"/>
          <p:cNvSpPr/>
          <p:nvPr/>
        </p:nvSpPr>
        <p:spPr>
          <a:xfrm>
            <a:off x="4663440" y="3758184"/>
            <a:ext cx="4023360" cy="640080"/>
          </a:xfrm>
          <a:prstGeom prst="rect">
            <a:avLst/>
          </a:prstGeom>
          <a:solidFill>
            <a:srgbClr val="EEF8F7"/>
          </a:solidFill>
          <a:ln w="12700">
            <a:solidFill>
              <a:srgbClr val="DBE3EF"/>
            </a:solidFill>
            <a:prstDash val="solid"/>
          </a:ln>
        </p:spPr>
      </p:sp>
      <p:sp>
        <p:nvSpPr>
          <p:cNvPr id="27" name="Text 25"/>
          <p:cNvSpPr/>
          <p:nvPr/>
        </p:nvSpPr>
        <p:spPr>
          <a:xfrm>
            <a:off x="4800600" y="3822192"/>
            <a:ext cx="914400" cy="228600"/>
          </a:xfrm>
          <a:prstGeom prst="rect">
            <a:avLst/>
          </a:prstGeom>
          <a:noFill/>
          <a:ln/>
        </p:spPr>
        <p:txBody>
          <a:bodyPr wrap="square" lIns="0" tIns="0" rIns="0" bIns="0" rtlCol="0" anchor="ctr"/>
          <a:lstStyle/>
          <a:p>
            <a:pPr indent="0" marL="0">
              <a:buNone/>
            </a:pPr>
            <a:r>
              <a:rPr lang="en-US" sz="950" b="1" dirty="0">
                <a:solidFill>
                  <a:srgbClr val="2F7F7D"/>
                </a:solidFill>
              </a:rPr>
              <a:t>Public Link</a:t>
            </a:r>
            <a:endParaRPr lang="en-US" sz="950" dirty="0"/>
          </a:p>
        </p:txBody>
      </p:sp>
      <p:sp>
        <p:nvSpPr>
          <p:cNvPr id="28" name="Text 26"/>
          <p:cNvSpPr/>
          <p:nvPr/>
        </p:nvSpPr>
        <p:spPr>
          <a:xfrm>
            <a:off x="4800600" y="4050792"/>
            <a:ext cx="3749040" cy="320040"/>
          </a:xfrm>
          <a:prstGeom prst="rect">
            <a:avLst/>
          </a:prstGeom>
          <a:noFill/>
          <a:ln/>
        </p:spPr>
        <p:txBody>
          <a:bodyPr wrap="square" lIns="0" tIns="0" rIns="0" bIns="0" rtlCol="0" anchor="ctr"/>
          <a:lstStyle/>
          <a:p>
            <a:pPr indent="0" marL="0">
              <a:buNone/>
            </a:pPr>
            <a:r>
              <a:rPr lang="en-US" sz="900" dirty="0">
                <a:solidFill>
                  <a:srgbClr val="475569"/>
                </a:solidFill>
              </a:rPr>
              <a:t>A public observation submission link can be shared with field teams — no login required.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HSE Management · Inspections &amp; PTW</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11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Inspections &amp; Permit to Work</a:t>
            </a:r>
            <a:endParaRPr lang="en-US" sz="2400" dirty="0"/>
          </a:p>
        </p:txBody>
      </p:sp>
      <p:sp>
        <p:nvSpPr>
          <p:cNvPr id="7" name="Shape 5"/>
          <p:cNvSpPr/>
          <p:nvPr/>
        </p:nvSpPr>
        <p:spPr>
          <a:xfrm>
            <a:off x="457200" y="105156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457200" y="1051560"/>
            <a:ext cx="4023360" cy="45720"/>
          </a:xfrm>
          <a:prstGeom prst="rect">
            <a:avLst/>
          </a:prstGeom>
          <a:solidFill>
            <a:srgbClr val="3A9B98"/>
          </a:solidFill>
          <a:ln w="12700">
            <a:solidFill>
              <a:srgbClr val="3A9B98"/>
            </a:solidFill>
            <a:prstDash val="solid"/>
          </a:ln>
        </p:spPr>
      </p:sp>
      <p:sp>
        <p:nvSpPr>
          <p:cNvPr id="9" name="Text 7"/>
          <p:cNvSpPr/>
          <p:nvPr/>
        </p:nvSpPr>
        <p:spPr>
          <a:xfrm>
            <a:off x="621792" y="114300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Conducting an Inspection</a:t>
            </a:r>
            <a:endParaRPr lang="en-US" sz="1100" dirty="0"/>
          </a:p>
        </p:txBody>
      </p:sp>
      <p:sp>
        <p:nvSpPr>
          <p:cNvPr id="10" name="Text 8"/>
          <p:cNvSpPr/>
          <p:nvPr/>
        </p:nvSpPr>
        <p:spPr>
          <a:xfrm>
            <a:off x="621792" y="1508760"/>
            <a:ext cx="3694176" cy="960120"/>
          </a:xfrm>
          <a:prstGeom prst="rect">
            <a:avLst/>
          </a:prstGeom>
          <a:noFill/>
          <a:ln/>
        </p:spPr>
        <p:txBody>
          <a:bodyPr wrap="square" lIns="0" tIns="0" rIns="0" bIns="0" rtlCol="0" anchor="t"/>
          <a:lstStyle/>
          <a:p>
            <a:pPr indent="0" marL="0">
              <a:buNone/>
            </a:pPr>
            <a:r>
              <a:rPr lang="en-US" sz="950" dirty="0">
                <a:solidFill>
                  <a:srgbClr val="475569"/>
                </a:solidFill>
              </a:rPr>
              <a:t>Go to HSE → Inspections. Create a new inspection, select the inspection type and date. Work through the checklist items, marking each as Pass / Fail / N/A and adding comments. Raise corrective actions directly from failed items.</a:t>
            </a:r>
            <a:endParaRPr lang="en-US" sz="950" dirty="0"/>
          </a:p>
        </p:txBody>
      </p:sp>
      <p:sp>
        <p:nvSpPr>
          <p:cNvPr id="11" name="Shape 9"/>
          <p:cNvSpPr/>
          <p:nvPr/>
        </p:nvSpPr>
        <p:spPr>
          <a:xfrm>
            <a:off x="4663440" y="105156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2" name="Shape 10"/>
          <p:cNvSpPr/>
          <p:nvPr/>
        </p:nvSpPr>
        <p:spPr>
          <a:xfrm>
            <a:off x="4663440" y="1051560"/>
            <a:ext cx="4023360" cy="45720"/>
          </a:xfrm>
          <a:prstGeom prst="rect">
            <a:avLst/>
          </a:prstGeom>
          <a:solidFill>
            <a:srgbClr val="3A9B98"/>
          </a:solidFill>
          <a:ln w="12700">
            <a:solidFill>
              <a:srgbClr val="3A9B98"/>
            </a:solidFill>
            <a:prstDash val="solid"/>
          </a:ln>
        </p:spPr>
      </p:sp>
      <p:sp>
        <p:nvSpPr>
          <p:cNvPr id="13" name="Text 11"/>
          <p:cNvSpPr/>
          <p:nvPr/>
        </p:nvSpPr>
        <p:spPr>
          <a:xfrm>
            <a:off x="4828032" y="114300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Field Inspection Mode</a:t>
            </a:r>
            <a:endParaRPr lang="en-US" sz="1100" dirty="0"/>
          </a:p>
        </p:txBody>
      </p:sp>
      <p:sp>
        <p:nvSpPr>
          <p:cNvPr id="14" name="Text 12"/>
          <p:cNvSpPr/>
          <p:nvPr/>
        </p:nvSpPr>
        <p:spPr>
          <a:xfrm>
            <a:off x="4828032" y="1508760"/>
            <a:ext cx="3694176" cy="960120"/>
          </a:xfrm>
          <a:prstGeom prst="rect">
            <a:avLst/>
          </a:prstGeom>
          <a:noFill/>
          <a:ln/>
        </p:spPr>
        <p:txBody>
          <a:bodyPr wrap="square" lIns="0" tIns="0" rIns="0" bIns="0" rtlCol="0" anchor="t"/>
          <a:lstStyle/>
          <a:p>
            <a:pPr indent="0" marL="0">
              <a:buNone/>
            </a:pPr>
            <a:r>
              <a:rPr lang="en-US" sz="950" dirty="0">
                <a:solidFill>
                  <a:srgbClr val="475569"/>
                </a:solidFill>
              </a:rPr>
              <a:t>On tablets and phones, HSE Inspections can be opened in Field Mode — a simplified, touch-friendly interface designed for use on-site. Access it by clicking the field inspection icon in the header.</a:t>
            </a:r>
            <a:endParaRPr lang="en-US" sz="950" dirty="0"/>
          </a:p>
        </p:txBody>
      </p:sp>
      <p:sp>
        <p:nvSpPr>
          <p:cNvPr id="15" name="Shape 13"/>
          <p:cNvSpPr/>
          <p:nvPr/>
        </p:nvSpPr>
        <p:spPr>
          <a:xfrm>
            <a:off x="457200" y="2743200"/>
            <a:ext cx="4023360"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457200" y="2743200"/>
            <a:ext cx="4023360" cy="45720"/>
          </a:xfrm>
          <a:prstGeom prst="rect">
            <a:avLst/>
          </a:prstGeom>
          <a:solidFill>
            <a:srgbClr val="3A9B98"/>
          </a:solidFill>
          <a:ln w="12700">
            <a:solidFill>
              <a:srgbClr val="3A9B98"/>
            </a:solidFill>
            <a:prstDash val="solid"/>
          </a:ln>
        </p:spPr>
      </p:sp>
      <p:sp>
        <p:nvSpPr>
          <p:cNvPr id="17" name="Text 15"/>
          <p:cNvSpPr/>
          <p:nvPr/>
        </p:nvSpPr>
        <p:spPr>
          <a:xfrm>
            <a:off x="621792" y="283464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Permit to Work (PTW)</a:t>
            </a:r>
            <a:endParaRPr lang="en-US" sz="1100" dirty="0"/>
          </a:p>
        </p:txBody>
      </p:sp>
      <p:sp>
        <p:nvSpPr>
          <p:cNvPr id="18" name="Text 16"/>
          <p:cNvSpPr/>
          <p:nvPr/>
        </p:nvSpPr>
        <p:spPr>
          <a:xfrm>
            <a:off x="621792" y="3200400"/>
            <a:ext cx="3694176" cy="1051560"/>
          </a:xfrm>
          <a:prstGeom prst="rect">
            <a:avLst/>
          </a:prstGeom>
          <a:noFill/>
          <a:ln/>
        </p:spPr>
        <p:txBody>
          <a:bodyPr wrap="square" lIns="0" tIns="0" rIns="0" bIns="0" rtlCol="0" anchor="t"/>
          <a:lstStyle/>
          <a:p>
            <a:pPr indent="0" marL="0">
              <a:buNone/>
            </a:pPr>
            <a:r>
              <a:rPr lang="en-US" sz="950" dirty="0">
                <a:solidFill>
                  <a:srgbClr val="475569"/>
                </a:solidFill>
              </a:rPr>
              <a:t>Navigate to HSE → PTW. Issue a new permit by selecting the work type, location, hazards, and required controls. The permit must be approved before work starts and closed on completion. Permits cannot be reopened once closed.</a:t>
            </a:r>
            <a:endParaRPr lang="en-US" sz="950" dirty="0"/>
          </a:p>
        </p:txBody>
      </p:sp>
      <p:sp>
        <p:nvSpPr>
          <p:cNvPr id="19" name="Shape 17"/>
          <p:cNvSpPr/>
          <p:nvPr/>
        </p:nvSpPr>
        <p:spPr>
          <a:xfrm>
            <a:off x="4663440" y="2743200"/>
            <a:ext cx="4023360"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4663440" y="2743200"/>
            <a:ext cx="4023360" cy="45720"/>
          </a:xfrm>
          <a:prstGeom prst="rect">
            <a:avLst/>
          </a:prstGeom>
          <a:solidFill>
            <a:srgbClr val="3A9B98"/>
          </a:solidFill>
          <a:ln w="12700">
            <a:solidFill>
              <a:srgbClr val="3A9B98"/>
            </a:solidFill>
            <a:prstDash val="solid"/>
          </a:ln>
        </p:spPr>
      </p:sp>
      <p:sp>
        <p:nvSpPr>
          <p:cNvPr id="21" name="Text 19"/>
          <p:cNvSpPr/>
          <p:nvPr/>
        </p:nvSpPr>
        <p:spPr>
          <a:xfrm>
            <a:off x="4828032" y="283464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HSE Calendar</a:t>
            </a:r>
            <a:endParaRPr lang="en-US" sz="1100" dirty="0"/>
          </a:p>
        </p:txBody>
      </p:sp>
      <p:sp>
        <p:nvSpPr>
          <p:cNvPr id="22" name="Text 20"/>
          <p:cNvSpPr/>
          <p:nvPr/>
        </p:nvSpPr>
        <p:spPr>
          <a:xfrm>
            <a:off x="4828032" y="3200400"/>
            <a:ext cx="3694176" cy="1051560"/>
          </a:xfrm>
          <a:prstGeom prst="rect">
            <a:avLst/>
          </a:prstGeom>
          <a:noFill/>
          <a:ln/>
        </p:spPr>
        <p:txBody>
          <a:bodyPr wrap="square" lIns="0" tIns="0" rIns="0" bIns="0" rtlCol="0" anchor="t"/>
          <a:lstStyle/>
          <a:p>
            <a:pPr indent="0" marL="0">
              <a:buNone/>
            </a:pPr>
            <a:r>
              <a:rPr lang="en-US" sz="950" dirty="0">
                <a:solidFill>
                  <a:srgbClr val="475569"/>
                </a:solidFill>
              </a:rPr>
              <a:t>The HSE Calendar shows all scheduled inspections and recurring HSE events. Items overdue are highlighted in red. Click any event to view or update it. Use the calendar to ensure inspection compliance and forward planning.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Risk Management</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12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Risk Management</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Risk register, controls, opportunities, reviews, and reporting</a:t>
            </a:r>
            <a:endParaRPr lang="en-US" sz="1200" dirty="0"/>
          </a:p>
        </p:txBody>
      </p:sp>
      <p:sp>
        <p:nvSpPr>
          <p:cNvPr id="8" name="Shape 6"/>
          <p:cNvSpPr/>
          <p:nvPr/>
        </p:nvSpPr>
        <p:spPr>
          <a:xfrm>
            <a:off x="457200" y="141732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417320"/>
            <a:ext cx="2029968" cy="45720"/>
          </a:xfrm>
          <a:prstGeom prst="rect">
            <a:avLst/>
          </a:prstGeom>
          <a:solidFill>
            <a:srgbClr val="3A9B98"/>
          </a:solidFill>
          <a:ln w="12700">
            <a:solidFill>
              <a:srgbClr val="3A9B98"/>
            </a:solidFill>
            <a:prstDash val="solid"/>
          </a:ln>
        </p:spPr>
      </p:sp>
      <p:sp>
        <p:nvSpPr>
          <p:cNvPr id="10" name="Text 8"/>
          <p:cNvSpPr/>
          <p:nvPr/>
        </p:nvSpPr>
        <p:spPr>
          <a:xfrm>
            <a:off x="621792" y="150876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Risk Dashboard</a:t>
            </a:r>
            <a:endParaRPr lang="en-US" sz="1100" dirty="0"/>
          </a:p>
        </p:txBody>
      </p:sp>
      <p:sp>
        <p:nvSpPr>
          <p:cNvPr id="11" name="Text 9"/>
          <p:cNvSpPr/>
          <p:nvPr/>
        </p:nvSpPr>
        <p:spPr>
          <a:xfrm>
            <a:off x="621792" y="1874520"/>
            <a:ext cx="1700784" cy="1051560"/>
          </a:xfrm>
          <a:prstGeom prst="rect">
            <a:avLst/>
          </a:prstGeom>
          <a:noFill/>
          <a:ln/>
        </p:spPr>
        <p:txBody>
          <a:bodyPr wrap="square" lIns="0" tIns="0" rIns="0" bIns="0" rtlCol="0" anchor="t"/>
          <a:lstStyle/>
          <a:p>
            <a:pPr indent="0" marL="0">
              <a:buNone/>
            </a:pPr>
            <a:r>
              <a:rPr lang="en-US" sz="950" dirty="0">
                <a:solidFill>
                  <a:srgbClr val="475569"/>
                </a:solidFill>
              </a:rPr>
              <a:t>Overview of risk profile — risk by category, high/medium/low distribution, residual risk trend, and outstanding actions.</a:t>
            </a:r>
            <a:endParaRPr lang="en-US" sz="950" dirty="0"/>
          </a:p>
        </p:txBody>
      </p:sp>
      <p:sp>
        <p:nvSpPr>
          <p:cNvPr id="12" name="Shape 10"/>
          <p:cNvSpPr/>
          <p:nvPr/>
        </p:nvSpPr>
        <p:spPr>
          <a:xfrm>
            <a:off x="2606040" y="141732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2606040" y="1417320"/>
            <a:ext cx="2029968" cy="45720"/>
          </a:xfrm>
          <a:prstGeom prst="rect">
            <a:avLst/>
          </a:prstGeom>
          <a:solidFill>
            <a:srgbClr val="3A9B98"/>
          </a:solidFill>
          <a:ln w="12700">
            <a:solidFill>
              <a:srgbClr val="3A9B98"/>
            </a:solidFill>
            <a:prstDash val="solid"/>
          </a:ln>
        </p:spPr>
      </p:sp>
      <p:sp>
        <p:nvSpPr>
          <p:cNvPr id="14" name="Text 12"/>
          <p:cNvSpPr/>
          <p:nvPr/>
        </p:nvSpPr>
        <p:spPr>
          <a:xfrm>
            <a:off x="2770632" y="150876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Risk Register</a:t>
            </a:r>
            <a:endParaRPr lang="en-US" sz="1100" dirty="0"/>
          </a:p>
        </p:txBody>
      </p:sp>
      <p:sp>
        <p:nvSpPr>
          <p:cNvPr id="15" name="Text 13"/>
          <p:cNvSpPr/>
          <p:nvPr/>
        </p:nvSpPr>
        <p:spPr>
          <a:xfrm>
            <a:off x="2770632" y="1874520"/>
            <a:ext cx="1700784" cy="1051560"/>
          </a:xfrm>
          <a:prstGeom prst="rect">
            <a:avLst/>
          </a:prstGeom>
          <a:noFill/>
          <a:ln/>
        </p:spPr>
        <p:txBody>
          <a:bodyPr wrap="square" lIns="0" tIns="0" rIns="0" bIns="0" rtlCol="0" anchor="t"/>
          <a:lstStyle/>
          <a:p>
            <a:pPr indent="0" marL="0">
              <a:buNone/>
            </a:pPr>
            <a:r>
              <a:rPr lang="en-US" sz="950" dirty="0">
                <a:solidFill>
                  <a:srgbClr val="475569"/>
                </a:solidFill>
              </a:rPr>
              <a:t>Full register of all identified risks. Filter by category, rating, department, or owner. Click a risk to view full details, controls, and history.</a:t>
            </a:r>
            <a:endParaRPr lang="en-US" sz="950" dirty="0"/>
          </a:p>
        </p:txBody>
      </p:sp>
      <p:sp>
        <p:nvSpPr>
          <p:cNvPr id="16" name="Shape 14"/>
          <p:cNvSpPr/>
          <p:nvPr/>
        </p:nvSpPr>
        <p:spPr>
          <a:xfrm>
            <a:off x="4754880" y="141732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754880" y="1417320"/>
            <a:ext cx="2029968" cy="45720"/>
          </a:xfrm>
          <a:prstGeom prst="rect">
            <a:avLst/>
          </a:prstGeom>
          <a:solidFill>
            <a:srgbClr val="3A9B98"/>
          </a:solidFill>
          <a:ln w="12700">
            <a:solidFill>
              <a:srgbClr val="3A9B98"/>
            </a:solidFill>
            <a:prstDash val="solid"/>
          </a:ln>
        </p:spPr>
      </p:sp>
      <p:sp>
        <p:nvSpPr>
          <p:cNvPr id="18" name="Text 16"/>
          <p:cNvSpPr/>
          <p:nvPr/>
        </p:nvSpPr>
        <p:spPr>
          <a:xfrm>
            <a:off x="4919472" y="150876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Controls</a:t>
            </a:r>
            <a:endParaRPr lang="en-US" sz="1100" dirty="0"/>
          </a:p>
        </p:txBody>
      </p:sp>
      <p:sp>
        <p:nvSpPr>
          <p:cNvPr id="19" name="Text 17"/>
          <p:cNvSpPr/>
          <p:nvPr/>
        </p:nvSpPr>
        <p:spPr>
          <a:xfrm>
            <a:off x="4919472" y="1874520"/>
            <a:ext cx="1700784" cy="1051560"/>
          </a:xfrm>
          <a:prstGeom prst="rect">
            <a:avLst/>
          </a:prstGeom>
          <a:noFill/>
          <a:ln/>
        </p:spPr>
        <p:txBody>
          <a:bodyPr wrap="square" lIns="0" tIns="0" rIns="0" bIns="0" rtlCol="0" anchor="t"/>
          <a:lstStyle/>
          <a:p>
            <a:pPr indent="0" marL="0">
              <a:buNone/>
            </a:pPr>
            <a:r>
              <a:rPr lang="en-US" sz="950" dirty="0">
                <a:solidFill>
                  <a:srgbClr val="475569"/>
                </a:solidFill>
              </a:rPr>
              <a:t>Document and track the controls in place for each risk. Link controls to specific risks and track their effectiveness review dates.</a:t>
            </a:r>
            <a:endParaRPr lang="en-US" sz="950" dirty="0"/>
          </a:p>
        </p:txBody>
      </p:sp>
      <p:sp>
        <p:nvSpPr>
          <p:cNvPr id="20" name="Shape 18"/>
          <p:cNvSpPr/>
          <p:nvPr/>
        </p:nvSpPr>
        <p:spPr>
          <a:xfrm>
            <a:off x="6903720" y="141732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903720" y="1417320"/>
            <a:ext cx="2029968" cy="45720"/>
          </a:xfrm>
          <a:prstGeom prst="rect">
            <a:avLst/>
          </a:prstGeom>
          <a:solidFill>
            <a:srgbClr val="3A9B98"/>
          </a:solidFill>
          <a:ln w="12700">
            <a:solidFill>
              <a:srgbClr val="3A9B98"/>
            </a:solidFill>
            <a:prstDash val="solid"/>
          </a:ln>
        </p:spPr>
      </p:sp>
      <p:sp>
        <p:nvSpPr>
          <p:cNvPr id="22" name="Text 20"/>
          <p:cNvSpPr/>
          <p:nvPr/>
        </p:nvSpPr>
        <p:spPr>
          <a:xfrm>
            <a:off x="7068312" y="150876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Opportunities</a:t>
            </a:r>
            <a:endParaRPr lang="en-US" sz="1100" dirty="0"/>
          </a:p>
        </p:txBody>
      </p:sp>
      <p:sp>
        <p:nvSpPr>
          <p:cNvPr id="23" name="Text 21"/>
          <p:cNvSpPr/>
          <p:nvPr/>
        </p:nvSpPr>
        <p:spPr>
          <a:xfrm>
            <a:off x="7068312" y="1874520"/>
            <a:ext cx="1700784" cy="1051560"/>
          </a:xfrm>
          <a:prstGeom prst="rect">
            <a:avLst/>
          </a:prstGeom>
          <a:noFill/>
          <a:ln/>
        </p:spPr>
        <p:txBody>
          <a:bodyPr wrap="square" lIns="0" tIns="0" rIns="0" bIns="0" rtlCol="0" anchor="t"/>
          <a:lstStyle/>
          <a:p>
            <a:pPr indent="0" marL="0">
              <a:buNone/>
            </a:pPr>
            <a:r>
              <a:rPr lang="en-US" sz="950" dirty="0">
                <a:solidFill>
                  <a:srgbClr val="475569"/>
                </a:solidFill>
              </a:rPr>
              <a:t>Log and track improvement opportunities identified during risk reviews. Assign owners and track to closure.</a:t>
            </a:r>
            <a:endParaRPr lang="en-US" sz="950" dirty="0"/>
          </a:p>
        </p:txBody>
      </p:sp>
      <p:sp>
        <p:nvSpPr>
          <p:cNvPr id="24" name="Shape 22"/>
          <p:cNvSpPr/>
          <p:nvPr/>
        </p:nvSpPr>
        <p:spPr>
          <a:xfrm>
            <a:off x="457200" y="32004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457200" y="3200400"/>
            <a:ext cx="2029968" cy="45720"/>
          </a:xfrm>
          <a:prstGeom prst="rect">
            <a:avLst/>
          </a:prstGeom>
          <a:solidFill>
            <a:srgbClr val="3A9B98"/>
          </a:solidFill>
          <a:ln w="12700">
            <a:solidFill>
              <a:srgbClr val="3A9B98"/>
            </a:solidFill>
            <a:prstDash val="solid"/>
          </a:ln>
        </p:spPr>
      </p:sp>
      <p:sp>
        <p:nvSpPr>
          <p:cNvPr id="26" name="Text 24"/>
          <p:cNvSpPr/>
          <p:nvPr/>
        </p:nvSpPr>
        <p:spPr>
          <a:xfrm>
            <a:off x="621792" y="32918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Reviews</a:t>
            </a:r>
            <a:endParaRPr lang="en-US" sz="1100" dirty="0"/>
          </a:p>
        </p:txBody>
      </p:sp>
      <p:sp>
        <p:nvSpPr>
          <p:cNvPr id="27" name="Text 25"/>
          <p:cNvSpPr/>
          <p:nvPr/>
        </p:nvSpPr>
        <p:spPr>
          <a:xfrm>
            <a:off x="621792" y="3657600"/>
            <a:ext cx="1700784" cy="1051560"/>
          </a:xfrm>
          <a:prstGeom prst="rect">
            <a:avLst/>
          </a:prstGeom>
          <a:noFill/>
          <a:ln/>
        </p:spPr>
        <p:txBody>
          <a:bodyPr wrap="square" lIns="0" tIns="0" rIns="0" bIns="0" rtlCol="0" anchor="t"/>
          <a:lstStyle/>
          <a:p>
            <a:pPr indent="0" marL="0">
              <a:buNone/>
            </a:pPr>
            <a:r>
              <a:rPr lang="en-US" sz="950" dirty="0">
                <a:solidFill>
                  <a:srgbClr val="475569"/>
                </a:solidFill>
              </a:rPr>
              <a:t>Schedule and record formal risk reviews. Track review dates, attendees, and outcomes. Flag risks requiring re-assessment.</a:t>
            </a:r>
            <a:endParaRPr lang="en-US" sz="950" dirty="0"/>
          </a:p>
        </p:txBody>
      </p:sp>
      <p:sp>
        <p:nvSpPr>
          <p:cNvPr id="28" name="Shape 26"/>
          <p:cNvSpPr/>
          <p:nvPr/>
        </p:nvSpPr>
        <p:spPr>
          <a:xfrm>
            <a:off x="2606040" y="32004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606040" y="3200400"/>
            <a:ext cx="2029968" cy="45720"/>
          </a:xfrm>
          <a:prstGeom prst="rect">
            <a:avLst/>
          </a:prstGeom>
          <a:solidFill>
            <a:srgbClr val="3A9B98"/>
          </a:solidFill>
          <a:ln w="12700">
            <a:solidFill>
              <a:srgbClr val="3A9B98"/>
            </a:solidFill>
            <a:prstDash val="solid"/>
          </a:ln>
        </p:spPr>
      </p:sp>
      <p:sp>
        <p:nvSpPr>
          <p:cNvPr id="30" name="Text 28"/>
          <p:cNvSpPr/>
          <p:nvPr/>
        </p:nvSpPr>
        <p:spPr>
          <a:xfrm>
            <a:off x="2770632" y="32918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Risk Actions</a:t>
            </a:r>
            <a:endParaRPr lang="en-US" sz="1100" dirty="0"/>
          </a:p>
        </p:txBody>
      </p:sp>
      <p:sp>
        <p:nvSpPr>
          <p:cNvPr id="31" name="Text 29"/>
          <p:cNvSpPr/>
          <p:nvPr/>
        </p:nvSpPr>
        <p:spPr>
          <a:xfrm>
            <a:off x="2770632" y="3657600"/>
            <a:ext cx="1700784" cy="1051560"/>
          </a:xfrm>
          <a:prstGeom prst="rect">
            <a:avLst/>
          </a:prstGeom>
          <a:noFill/>
          <a:ln/>
        </p:spPr>
        <p:txBody>
          <a:bodyPr wrap="square" lIns="0" tIns="0" rIns="0" bIns="0" rtlCol="0" anchor="t"/>
          <a:lstStyle/>
          <a:p>
            <a:pPr indent="0" marL="0">
              <a:buNone/>
            </a:pPr>
            <a:r>
              <a:rPr lang="en-US" sz="950" dirty="0">
                <a:solidFill>
                  <a:srgbClr val="475569"/>
                </a:solidFill>
              </a:rPr>
              <a:t>Actions arising from risk reviews and control gaps. Full action tracking with owner, due date, priority, and evidence.</a:t>
            </a:r>
            <a:endParaRPr lang="en-US" sz="950" dirty="0"/>
          </a:p>
        </p:txBody>
      </p:sp>
      <p:sp>
        <p:nvSpPr>
          <p:cNvPr id="32" name="Shape 30"/>
          <p:cNvSpPr/>
          <p:nvPr/>
        </p:nvSpPr>
        <p:spPr>
          <a:xfrm>
            <a:off x="4754880" y="32004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33" name="Shape 31"/>
          <p:cNvSpPr/>
          <p:nvPr/>
        </p:nvSpPr>
        <p:spPr>
          <a:xfrm>
            <a:off x="4754880" y="3200400"/>
            <a:ext cx="2029968" cy="45720"/>
          </a:xfrm>
          <a:prstGeom prst="rect">
            <a:avLst/>
          </a:prstGeom>
          <a:solidFill>
            <a:srgbClr val="3A9B98"/>
          </a:solidFill>
          <a:ln w="12700">
            <a:solidFill>
              <a:srgbClr val="3A9B98"/>
            </a:solidFill>
            <a:prstDash val="solid"/>
          </a:ln>
        </p:spPr>
      </p:sp>
      <p:sp>
        <p:nvSpPr>
          <p:cNvPr id="34" name="Text 32"/>
          <p:cNvSpPr/>
          <p:nvPr/>
        </p:nvSpPr>
        <p:spPr>
          <a:xfrm>
            <a:off x="4919472" y="32918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Reports</a:t>
            </a:r>
            <a:endParaRPr lang="en-US" sz="1100" dirty="0"/>
          </a:p>
        </p:txBody>
      </p:sp>
      <p:sp>
        <p:nvSpPr>
          <p:cNvPr id="35" name="Text 33"/>
          <p:cNvSpPr/>
          <p:nvPr/>
        </p:nvSpPr>
        <p:spPr>
          <a:xfrm>
            <a:off x="4919472" y="3657600"/>
            <a:ext cx="1700784" cy="1051560"/>
          </a:xfrm>
          <a:prstGeom prst="rect">
            <a:avLst/>
          </a:prstGeom>
          <a:noFill/>
          <a:ln/>
        </p:spPr>
        <p:txBody>
          <a:bodyPr wrap="square" lIns="0" tIns="0" rIns="0" bIns="0" rtlCol="0" anchor="t"/>
          <a:lstStyle/>
          <a:p>
            <a:pPr indent="0" marL="0">
              <a:buNone/>
            </a:pPr>
            <a:r>
              <a:rPr lang="en-US" sz="950" dirty="0">
                <a:solidFill>
                  <a:srgbClr val="475569"/>
                </a:solidFill>
              </a:rPr>
              <a:t>Risk performance reporting — risk profile trends, control effectiveness, action closure rates, and review compliance.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Risk Management · Register</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13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Working with the Risk Register</a:t>
            </a:r>
            <a:endParaRPr lang="en-US" sz="2400" dirty="0"/>
          </a:p>
        </p:txBody>
      </p:sp>
      <p:sp>
        <p:nvSpPr>
          <p:cNvPr id="7" name="Shape 5"/>
          <p:cNvSpPr/>
          <p:nvPr/>
        </p:nvSpPr>
        <p:spPr>
          <a:xfrm>
            <a:off x="457200" y="1097280"/>
            <a:ext cx="4114800" cy="1097280"/>
          </a:xfrm>
          <a:prstGeom prst="rect">
            <a:avLst/>
          </a:prstGeom>
          <a:solidFill>
            <a:srgbClr val="FFFFFF"/>
          </a:solidFill>
          <a:ln w="12700">
            <a:solidFill>
              <a:srgbClr val="DBE3EF"/>
            </a:solidFill>
            <a:prstDash val="solid"/>
          </a:ln>
        </p:spPr>
      </p:sp>
      <p:sp>
        <p:nvSpPr>
          <p:cNvPr id="8" name="Shape 6"/>
          <p:cNvSpPr/>
          <p:nvPr/>
        </p:nvSpPr>
        <p:spPr>
          <a:xfrm>
            <a:off x="566928" y="1207008"/>
            <a:ext cx="384048" cy="384048"/>
          </a:xfrm>
          <a:prstGeom prst="ellipse">
            <a:avLst/>
          </a:prstGeom>
          <a:solidFill>
            <a:srgbClr val="3A9B98"/>
          </a:solidFill>
          <a:ln w="12700">
            <a:solidFill>
              <a:srgbClr val="3A9B98"/>
            </a:solidFill>
            <a:prstDash val="solid"/>
          </a:ln>
        </p:spPr>
      </p:sp>
      <p:sp>
        <p:nvSpPr>
          <p:cNvPr id="9" name="Text 7"/>
          <p:cNvSpPr/>
          <p:nvPr/>
        </p:nvSpPr>
        <p:spPr>
          <a:xfrm>
            <a:off x="566928" y="12070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0" name="Text 8"/>
          <p:cNvSpPr/>
          <p:nvPr/>
        </p:nvSpPr>
        <p:spPr>
          <a:xfrm>
            <a:off x="1051560" y="1188720"/>
            <a:ext cx="3383280" cy="274320"/>
          </a:xfrm>
          <a:prstGeom prst="rect">
            <a:avLst/>
          </a:prstGeom>
          <a:noFill/>
          <a:ln/>
        </p:spPr>
        <p:txBody>
          <a:bodyPr wrap="square" lIns="0" tIns="0" rIns="0" bIns="0" rtlCol="0" anchor="ctr"/>
          <a:lstStyle/>
          <a:p>
            <a:pPr indent="0" marL="0">
              <a:buNone/>
            </a:pPr>
            <a:r>
              <a:rPr lang="en-US" sz="1000" b="1" dirty="0">
                <a:solidFill>
                  <a:srgbClr val="0F172A"/>
                </a:solidFill>
              </a:rPr>
              <a:t>Add a Risk</a:t>
            </a:r>
            <a:endParaRPr lang="en-US" sz="1000" dirty="0"/>
          </a:p>
        </p:txBody>
      </p:sp>
      <p:sp>
        <p:nvSpPr>
          <p:cNvPr id="11" name="Text 9"/>
          <p:cNvSpPr/>
          <p:nvPr/>
        </p:nvSpPr>
        <p:spPr>
          <a:xfrm>
            <a:off x="1051560" y="1481328"/>
            <a:ext cx="3383280" cy="594360"/>
          </a:xfrm>
          <a:prstGeom prst="rect">
            <a:avLst/>
          </a:prstGeom>
          <a:noFill/>
          <a:ln/>
        </p:spPr>
        <p:txBody>
          <a:bodyPr wrap="square" lIns="0" tIns="0" rIns="0" bIns="0" rtlCol="0" anchor="ctr"/>
          <a:lstStyle/>
          <a:p>
            <a:pPr indent="0" marL="0">
              <a:buNone/>
            </a:pPr>
            <a:r>
              <a:rPr lang="en-US" sz="900" dirty="0">
                <a:solidFill>
                  <a:srgbClr val="475569"/>
                </a:solidFill>
              </a:rPr>
              <a:t>Go to Risk → Register. Click 'Add Risk'. Enter the risk title, description, category, and the department it applies to.</a:t>
            </a:r>
            <a:endParaRPr lang="en-US" sz="900" dirty="0"/>
          </a:p>
        </p:txBody>
      </p:sp>
      <p:sp>
        <p:nvSpPr>
          <p:cNvPr id="12" name="Shape 10"/>
          <p:cNvSpPr/>
          <p:nvPr/>
        </p:nvSpPr>
        <p:spPr>
          <a:xfrm>
            <a:off x="4846320" y="1097280"/>
            <a:ext cx="4114800" cy="1097280"/>
          </a:xfrm>
          <a:prstGeom prst="rect">
            <a:avLst/>
          </a:prstGeom>
          <a:solidFill>
            <a:srgbClr val="EEF8F7"/>
          </a:solidFill>
          <a:ln w="12700">
            <a:solidFill>
              <a:srgbClr val="DBE3EF"/>
            </a:solidFill>
            <a:prstDash val="solid"/>
          </a:ln>
        </p:spPr>
      </p:sp>
      <p:sp>
        <p:nvSpPr>
          <p:cNvPr id="13" name="Shape 11"/>
          <p:cNvSpPr/>
          <p:nvPr/>
        </p:nvSpPr>
        <p:spPr>
          <a:xfrm>
            <a:off x="4956048" y="1207008"/>
            <a:ext cx="384048" cy="384048"/>
          </a:xfrm>
          <a:prstGeom prst="ellipse">
            <a:avLst/>
          </a:prstGeom>
          <a:solidFill>
            <a:srgbClr val="3A9B98"/>
          </a:solidFill>
          <a:ln w="12700">
            <a:solidFill>
              <a:srgbClr val="3A9B98"/>
            </a:solidFill>
            <a:prstDash val="solid"/>
          </a:ln>
        </p:spPr>
      </p:sp>
      <p:sp>
        <p:nvSpPr>
          <p:cNvPr id="14" name="Text 12"/>
          <p:cNvSpPr/>
          <p:nvPr/>
        </p:nvSpPr>
        <p:spPr>
          <a:xfrm>
            <a:off x="4956048" y="12070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5" name="Text 13"/>
          <p:cNvSpPr/>
          <p:nvPr/>
        </p:nvSpPr>
        <p:spPr>
          <a:xfrm>
            <a:off x="5440680" y="1188720"/>
            <a:ext cx="3383280" cy="274320"/>
          </a:xfrm>
          <a:prstGeom prst="rect">
            <a:avLst/>
          </a:prstGeom>
          <a:noFill/>
          <a:ln/>
        </p:spPr>
        <p:txBody>
          <a:bodyPr wrap="square" lIns="0" tIns="0" rIns="0" bIns="0" rtlCol="0" anchor="ctr"/>
          <a:lstStyle/>
          <a:p>
            <a:pPr indent="0" marL="0">
              <a:buNone/>
            </a:pPr>
            <a:r>
              <a:rPr lang="en-US" sz="1000" b="1" dirty="0">
                <a:solidFill>
                  <a:srgbClr val="0F172A"/>
                </a:solidFill>
              </a:rPr>
              <a:t>Rate the Risk</a:t>
            </a:r>
            <a:endParaRPr lang="en-US" sz="1000" dirty="0"/>
          </a:p>
        </p:txBody>
      </p:sp>
      <p:sp>
        <p:nvSpPr>
          <p:cNvPr id="16" name="Text 14"/>
          <p:cNvSpPr/>
          <p:nvPr/>
        </p:nvSpPr>
        <p:spPr>
          <a:xfrm>
            <a:off x="5440680" y="1481328"/>
            <a:ext cx="3383280" cy="594360"/>
          </a:xfrm>
          <a:prstGeom prst="rect">
            <a:avLst/>
          </a:prstGeom>
          <a:noFill/>
          <a:ln/>
        </p:spPr>
        <p:txBody>
          <a:bodyPr wrap="square" lIns="0" tIns="0" rIns="0" bIns="0" rtlCol="0" anchor="ctr"/>
          <a:lstStyle/>
          <a:p>
            <a:pPr indent="0" marL="0">
              <a:buNone/>
            </a:pPr>
            <a:r>
              <a:rPr lang="en-US" sz="900" dirty="0">
                <a:solidFill>
                  <a:srgbClr val="475569"/>
                </a:solidFill>
              </a:rPr>
              <a:t>Set the Likelihood and Consequence scores (1–5). The system calculates the Inherent Risk Rating automatically.</a:t>
            </a:r>
            <a:endParaRPr lang="en-US" sz="900" dirty="0"/>
          </a:p>
        </p:txBody>
      </p:sp>
      <p:sp>
        <p:nvSpPr>
          <p:cNvPr id="17" name="Shape 15"/>
          <p:cNvSpPr/>
          <p:nvPr/>
        </p:nvSpPr>
        <p:spPr>
          <a:xfrm>
            <a:off x="457200" y="2331720"/>
            <a:ext cx="4114800" cy="1097280"/>
          </a:xfrm>
          <a:prstGeom prst="rect">
            <a:avLst/>
          </a:prstGeom>
          <a:solidFill>
            <a:srgbClr val="FFFFFF"/>
          </a:solidFill>
          <a:ln w="12700">
            <a:solidFill>
              <a:srgbClr val="DBE3EF"/>
            </a:solidFill>
            <a:prstDash val="solid"/>
          </a:ln>
        </p:spPr>
      </p:sp>
      <p:sp>
        <p:nvSpPr>
          <p:cNvPr id="18" name="Shape 16"/>
          <p:cNvSpPr/>
          <p:nvPr/>
        </p:nvSpPr>
        <p:spPr>
          <a:xfrm>
            <a:off x="566928" y="2441448"/>
            <a:ext cx="384048" cy="384048"/>
          </a:xfrm>
          <a:prstGeom prst="ellipse">
            <a:avLst/>
          </a:prstGeom>
          <a:solidFill>
            <a:srgbClr val="3A9B98"/>
          </a:solidFill>
          <a:ln w="12700">
            <a:solidFill>
              <a:srgbClr val="3A9B98"/>
            </a:solidFill>
            <a:prstDash val="solid"/>
          </a:ln>
        </p:spPr>
      </p:sp>
      <p:sp>
        <p:nvSpPr>
          <p:cNvPr id="19" name="Text 17"/>
          <p:cNvSpPr/>
          <p:nvPr/>
        </p:nvSpPr>
        <p:spPr>
          <a:xfrm>
            <a:off x="566928" y="24414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0" name="Text 18"/>
          <p:cNvSpPr/>
          <p:nvPr/>
        </p:nvSpPr>
        <p:spPr>
          <a:xfrm>
            <a:off x="1051560" y="2423160"/>
            <a:ext cx="3383280" cy="274320"/>
          </a:xfrm>
          <a:prstGeom prst="rect">
            <a:avLst/>
          </a:prstGeom>
          <a:noFill/>
          <a:ln/>
        </p:spPr>
        <p:txBody>
          <a:bodyPr wrap="square" lIns="0" tIns="0" rIns="0" bIns="0" rtlCol="0" anchor="ctr"/>
          <a:lstStyle/>
          <a:p>
            <a:pPr indent="0" marL="0">
              <a:buNone/>
            </a:pPr>
            <a:r>
              <a:rPr lang="en-US" sz="1000" b="1" dirty="0">
                <a:solidFill>
                  <a:srgbClr val="0F172A"/>
                </a:solidFill>
              </a:rPr>
              <a:t>Add Controls</a:t>
            </a:r>
            <a:endParaRPr lang="en-US" sz="1000" dirty="0"/>
          </a:p>
        </p:txBody>
      </p:sp>
      <p:sp>
        <p:nvSpPr>
          <p:cNvPr id="21" name="Text 19"/>
          <p:cNvSpPr/>
          <p:nvPr/>
        </p:nvSpPr>
        <p:spPr>
          <a:xfrm>
            <a:off x="1051560" y="2715768"/>
            <a:ext cx="3383280" cy="594360"/>
          </a:xfrm>
          <a:prstGeom prst="rect">
            <a:avLst/>
          </a:prstGeom>
          <a:noFill/>
          <a:ln/>
        </p:spPr>
        <p:txBody>
          <a:bodyPr wrap="square" lIns="0" tIns="0" rIns="0" bIns="0" rtlCol="0" anchor="ctr"/>
          <a:lstStyle/>
          <a:p>
            <a:pPr indent="0" marL="0">
              <a:buNone/>
            </a:pPr>
            <a:r>
              <a:rPr lang="en-US" sz="900" dirty="0">
                <a:solidFill>
                  <a:srgbClr val="475569"/>
                </a:solidFill>
              </a:rPr>
              <a:t>Navigate to Risk → Controls to document the controls in place. Link each control back to the relevant risk(s).</a:t>
            </a:r>
            <a:endParaRPr lang="en-US" sz="900" dirty="0"/>
          </a:p>
        </p:txBody>
      </p:sp>
      <p:sp>
        <p:nvSpPr>
          <p:cNvPr id="22" name="Shape 20"/>
          <p:cNvSpPr/>
          <p:nvPr/>
        </p:nvSpPr>
        <p:spPr>
          <a:xfrm>
            <a:off x="4846320" y="2331720"/>
            <a:ext cx="4114800" cy="1097280"/>
          </a:xfrm>
          <a:prstGeom prst="rect">
            <a:avLst/>
          </a:prstGeom>
          <a:solidFill>
            <a:srgbClr val="EEF8F7"/>
          </a:solidFill>
          <a:ln w="12700">
            <a:solidFill>
              <a:srgbClr val="DBE3EF"/>
            </a:solidFill>
            <a:prstDash val="solid"/>
          </a:ln>
        </p:spPr>
      </p:sp>
      <p:sp>
        <p:nvSpPr>
          <p:cNvPr id="23" name="Shape 21"/>
          <p:cNvSpPr/>
          <p:nvPr/>
        </p:nvSpPr>
        <p:spPr>
          <a:xfrm>
            <a:off x="4956048" y="2441448"/>
            <a:ext cx="384048" cy="384048"/>
          </a:xfrm>
          <a:prstGeom prst="ellipse">
            <a:avLst/>
          </a:prstGeom>
          <a:solidFill>
            <a:srgbClr val="3A9B98"/>
          </a:solidFill>
          <a:ln w="12700">
            <a:solidFill>
              <a:srgbClr val="3A9B98"/>
            </a:solidFill>
            <a:prstDash val="solid"/>
          </a:ln>
        </p:spPr>
      </p:sp>
      <p:sp>
        <p:nvSpPr>
          <p:cNvPr id="24" name="Text 22"/>
          <p:cNvSpPr/>
          <p:nvPr/>
        </p:nvSpPr>
        <p:spPr>
          <a:xfrm>
            <a:off x="4956048" y="24414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5" name="Text 23"/>
          <p:cNvSpPr/>
          <p:nvPr/>
        </p:nvSpPr>
        <p:spPr>
          <a:xfrm>
            <a:off x="5440680" y="2423160"/>
            <a:ext cx="3383280" cy="274320"/>
          </a:xfrm>
          <a:prstGeom prst="rect">
            <a:avLst/>
          </a:prstGeom>
          <a:noFill/>
          <a:ln/>
        </p:spPr>
        <p:txBody>
          <a:bodyPr wrap="square" lIns="0" tIns="0" rIns="0" bIns="0" rtlCol="0" anchor="ctr"/>
          <a:lstStyle/>
          <a:p>
            <a:pPr indent="0" marL="0">
              <a:buNone/>
            </a:pPr>
            <a:r>
              <a:rPr lang="en-US" sz="1000" b="1" dirty="0">
                <a:solidFill>
                  <a:srgbClr val="0F172A"/>
                </a:solidFill>
              </a:rPr>
              <a:t>Residual Rating</a:t>
            </a:r>
            <a:endParaRPr lang="en-US" sz="1000" dirty="0"/>
          </a:p>
        </p:txBody>
      </p:sp>
      <p:sp>
        <p:nvSpPr>
          <p:cNvPr id="26" name="Text 24"/>
          <p:cNvSpPr/>
          <p:nvPr/>
        </p:nvSpPr>
        <p:spPr>
          <a:xfrm>
            <a:off x="5440680" y="2715768"/>
            <a:ext cx="3383280" cy="594360"/>
          </a:xfrm>
          <a:prstGeom prst="rect">
            <a:avLst/>
          </a:prstGeom>
          <a:noFill/>
          <a:ln/>
        </p:spPr>
        <p:txBody>
          <a:bodyPr wrap="square" lIns="0" tIns="0" rIns="0" bIns="0" rtlCol="0" anchor="ctr"/>
          <a:lstStyle/>
          <a:p>
            <a:pPr indent="0" marL="0">
              <a:buNone/>
            </a:pPr>
            <a:r>
              <a:rPr lang="en-US" sz="900" dirty="0">
                <a:solidFill>
                  <a:srgbClr val="475569"/>
                </a:solidFill>
              </a:rPr>
              <a:t>After controls, re-rate the Residual Likelihood and Consequence. This gives you the Residual Risk Rating.</a:t>
            </a:r>
            <a:endParaRPr lang="en-US" sz="900" dirty="0"/>
          </a:p>
        </p:txBody>
      </p:sp>
      <p:sp>
        <p:nvSpPr>
          <p:cNvPr id="27" name="Shape 25"/>
          <p:cNvSpPr/>
          <p:nvPr/>
        </p:nvSpPr>
        <p:spPr>
          <a:xfrm>
            <a:off x="457200" y="3566160"/>
            <a:ext cx="4114800" cy="1097280"/>
          </a:xfrm>
          <a:prstGeom prst="rect">
            <a:avLst/>
          </a:prstGeom>
          <a:solidFill>
            <a:srgbClr val="FFFFFF"/>
          </a:solidFill>
          <a:ln w="12700">
            <a:solidFill>
              <a:srgbClr val="DBE3EF"/>
            </a:solidFill>
            <a:prstDash val="solid"/>
          </a:ln>
        </p:spPr>
      </p:sp>
      <p:sp>
        <p:nvSpPr>
          <p:cNvPr id="28" name="Shape 26"/>
          <p:cNvSpPr/>
          <p:nvPr/>
        </p:nvSpPr>
        <p:spPr>
          <a:xfrm>
            <a:off x="566928" y="3675888"/>
            <a:ext cx="384048" cy="384048"/>
          </a:xfrm>
          <a:prstGeom prst="ellipse">
            <a:avLst/>
          </a:prstGeom>
          <a:solidFill>
            <a:srgbClr val="3A9B98"/>
          </a:solidFill>
          <a:ln w="12700">
            <a:solidFill>
              <a:srgbClr val="3A9B98"/>
            </a:solidFill>
            <a:prstDash val="solid"/>
          </a:ln>
        </p:spPr>
      </p:sp>
      <p:sp>
        <p:nvSpPr>
          <p:cNvPr id="29" name="Text 27"/>
          <p:cNvSpPr/>
          <p:nvPr/>
        </p:nvSpPr>
        <p:spPr>
          <a:xfrm>
            <a:off x="566928" y="36758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0" name="Text 28"/>
          <p:cNvSpPr/>
          <p:nvPr/>
        </p:nvSpPr>
        <p:spPr>
          <a:xfrm>
            <a:off x="1051560" y="3657600"/>
            <a:ext cx="3383280" cy="274320"/>
          </a:xfrm>
          <a:prstGeom prst="rect">
            <a:avLst/>
          </a:prstGeom>
          <a:noFill/>
          <a:ln/>
        </p:spPr>
        <p:txBody>
          <a:bodyPr wrap="square" lIns="0" tIns="0" rIns="0" bIns="0" rtlCol="0" anchor="ctr"/>
          <a:lstStyle/>
          <a:p>
            <a:pPr indent="0" marL="0">
              <a:buNone/>
            </a:pPr>
            <a:r>
              <a:rPr lang="en-US" sz="1000" b="1" dirty="0">
                <a:solidFill>
                  <a:srgbClr val="0F172A"/>
                </a:solidFill>
              </a:rPr>
              <a:t>Assign Owner</a:t>
            </a:r>
            <a:endParaRPr lang="en-US" sz="1000" dirty="0"/>
          </a:p>
        </p:txBody>
      </p:sp>
      <p:sp>
        <p:nvSpPr>
          <p:cNvPr id="31" name="Text 29"/>
          <p:cNvSpPr/>
          <p:nvPr/>
        </p:nvSpPr>
        <p:spPr>
          <a:xfrm>
            <a:off x="1051560" y="3950208"/>
            <a:ext cx="3383280" cy="594360"/>
          </a:xfrm>
          <a:prstGeom prst="rect">
            <a:avLst/>
          </a:prstGeom>
          <a:noFill/>
          <a:ln/>
        </p:spPr>
        <p:txBody>
          <a:bodyPr wrap="square" lIns="0" tIns="0" rIns="0" bIns="0" rtlCol="0" anchor="ctr"/>
          <a:lstStyle/>
          <a:p>
            <a:pPr indent="0" marL="0">
              <a:buNone/>
            </a:pPr>
            <a:r>
              <a:rPr lang="en-US" sz="900" dirty="0">
                <a:solidFill>
                  <a:srgbClr val="475569"/>
                </a:solidFill>
              </a:rPr>
              <a:t>Set a risk owner who is responsible for monitoring and reviewing the risk on its scheduled review cycle.</a:t>
            </a:r>
            <a:endParaRPr lang="en-US" sz="900" dirty="0"/>
          </a:p>
        </p:txBody>
      </p:sp>
      <p:sp>
        <p:nvSpPr>
          <p:cNvPr id="32" name="Shape 30"/>
          <p:cNvSpPr/>
          <p:nvPr/>
        </p:nvSpPr>
        <p:spPr>
          <a:xfrm>
            <a:off x="4846320" y="3566160"/>
            <a:ext cx="4114800" cy="1097280"/>
          </a:xfrm>
          <a:prstGeom prst="rect">
            <a:avLst/>
          </a:prstGeom>
          <a:solidFill>
            <a:srgbClr val="EEF8F7"/>
          </a:solidFill>
          <a:ln w="12700">
            <a:solidFill>
              <a:srgbClr val="DBE3EF"/>
            </a:solidFill>
            <a:prstDash val="solid"/>
          </a:ln>
        </p:spPr>
      </p:sp>
      <p:sp>
        <p:nvSpPr>
          <p:cNvPr id="33" name="Shape 31"/>
          <p:cNvSpPr/>
          <p:nvPr/>
        </p:nvSpPr>
        <p:spPr>
          <a:xfrm>
            <a:off x="4956048" y="3675888"/>
            <a:ext cx="384048" cy="384048"/>
          </a:xfrm>
          <a:prstGeom prst="ellipse">
            <a:avLst/>
          </a:prstGeom>
          <a:solidFill>
            <a:srgbClr val="3A9B98"/>
          </a:solidFill>
          <a:ln w="12700">
            <a:solidFill>
              <a:srgbClr val="3A9B98"/>
            </a:solidFill>
            <a:prstDash val="solid"/>
          </a:ln>
        </p:spPr>
      </p:sp>
      <p:sp>
        <p:nvSpPr>
          <p:cNvPr id="34" name="Text 32"/>
          <p:cNvSpPr/>
          <p:nvPr/>
        </p:nvSpPr>
        <p:spPr>
          <a:xfrm>
            <a:off x="4956048" y="36758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5" name="Text 33"/>
          <p:cNvSpPr/>
          <p:nvPr/>
        </p:nvSpPr>
        <p:spPr>
          <a:xfrm>
            <a:off x="5440680" y="3657600"/>
            <a:ext cx="3383280" cy="274320"/>
          </a:xfrm>
          <a:prstGeom prst="rect">
            <a:avLst/>
          </a:prstGeom>
          <a:noFill/>
          <a:ln/>
        </p:spPr>
        <p:txBody>
          <a:bodyPr wrap="square" lIns="0" tIns="0" rIns="0" bIns="0" rtlCol="0" anchor="ctr"/>
          <a:lstStyle/>
          <a:p>
            <a:pPr indent="0" marL="0">
              <a:buNone/>
            </a:pPr>
            <a:r>
              <a:rPr lang="en-US" sz="1000" b="1" dirty="0">
                <a:solidFill>
                  <a:srgbClr val="0F172A"/>
                </a:solidFill>
              </a:rPr>
              <a:t>Review Cycle</a:t>
            </a:r>
            <a:endParaRPr lang="en-US" sz="1000" dirty="0"/>
          </a:p>
        </p:txBody>
      </p:sp>
      <p:sp>
        <p:nvSpPr>
          <p:cNvPr id="36" name="Text 34"/>
          <p:cNvSpPr/>
          <p:nvPr/>
        </p:nvSpPr>
        <p:spPr>
          <a:xfrm>
            <a:off x="5440680" y="3950208"/>
            <a:ext cx="3383280" cy="594360"/>
          </a:xfrm>
          <a:prstGeom prst="rect">
            <a:avLst/>
          </a:prstGeom>
          <a:noFill/>
          <a:ln/>
        </p:spPr>
        <p:txBody>
          <a:bodyPr wrap="square" lIns="0" tIns="0" rIns="0" bIns="0" rtlCol="0" anchor="ctr"/>
          <a:lstStyle/>
          <a:p>
            <a:pPr indent="0" marL="0">
              <a:buNone/>
            </a:pPr>
            <a:r>
              <a:rPr lang="en-US" sz="900" dirty="0">
                <a:solidFill>
                  <a:srgbClr val="475569"/>
                </a:solidFill>
              </a:rPr>
              <a:t>Risk reviews are scheduled and tracked. The register flags overdue reviews. Record review outcomes in Risk → Reviews.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Asset Management</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14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Asset Management</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Asset register, calibration, inspection, maintenance, and performance reporting</a:t>
            </a:r>
            <a:endParaRPr lang="en-US" sz="1200" dirty="0"/>
          </a:p>
        </p:txBody>
      </p:sp>
      <p:sp>
        <p:nvSpPr>
          <p:cNvPr id="8" name="Shape 6"/>
          <p:cNvSpPr/>
          <p:nvPr/>
        </p:nvSpPr>
        <p:spPr>
          <a:xfrm>
            <a:off x="457200" y="141732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417320"/>
            <a:ext cx="2029968" cy="45720"/>
          </a:xfrm>
          <a:prstGeom prst="rect">
            <a:avLst/>
          </a:prstGeom>
          <a:solidFill>
            <a:srgbClr val="3A9B98"/>
          </a:solidFill>
          <a:ln w="12700">
            <a:solidFill>
              <a:srgbClr val="3A9B98"/>
            </a:solidFill>
            <a:prstDash val="solid"/>
          </a:ln>
        </p:spPr>
      </p:sp>
      <p:sp>
        <p:nvSpPr>
          <p:cNvPr id="10" name="Text 8"/>
          <p:cNvSpPr/>
          <p:nvPr/>
        </p:nvSpPr>
        <p:spPr>
          <a:xfrm>
            <a:off x="621792" y="150876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Asset Dashboard</a:t>
            </a:r>
            <a:endParaRPr lang="en-US" sz="1100" dirty="0"/>
          </a:p>
        </p:txBody>
      </p:sp>
      <p:sp>
        <p:nvSpPr>
          <p:cNvPr id="11" name="Text 9"/>
          <p:cNvSpPr/>
          <p:nvPr/>
        </p:nvSpPr>
        <p:spPr>
          <a:xfrm>
            <a:off x="621792" y="1874520"/>
            <a:ext cx="1700784" cy="1051560"/>
          </a:xfrm>
          <a:prstGeom prst="rect">
            <a:avLst/>
          </a:prstGeom>
          <a:noFill/>
          <a:ln/>
        </p:spPr>
        <p:txBody>
          <a:bodyPr wrap="square" lIns="0" tIns="0" rIns="0" bIns="0" rtlCol="0" anchor="t"/>
          <a:lstStyle/>
          <a:p>
            <a:pPr indent="0" marL="0">
              <a:buNone/>
            </a:pPr>
            <a:r>
              <a:rPr lang="en-US" sz="950" dirty="0">
                <a:solidFill>
                  <a:srgbClr val="475569"/>
                </a:solidFill>
              </a:rPr>
              <a:t>Asset health overview — status distribution, upcoming calibrations and inspections, overdue maintenance.</a:t>
            </a:r>
            <a:endParaRPr lang="en-US" sz="950" dirty="0"/>
          </a:p>
        </p:txBody>
      </p:sp>
      <p:sp>
        <p:nvSpPr>
          <p:cNvPr id="12" name="Shape 10"/>
          <p:cNvSpPr/>
          <p:nvPr/>
        </p:nvSpPr>
        <p:spPr>
          <a:xfrm>
            <a:off x="2606040" y="141732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2606040" y="1417320"/>
            <a:ext cx="2029968" cy="45720"/>
          </a:xfrm>
          <a:prstGeom prst="rect">
            <a:avLst/>
          </a:prstGeom>
          <a:solidFill>
            <a:srgbClr val="3A9B98"/>
          </a:solidFill>
          <a:ln w="12700">
            <a:solidFill>
              <a:srgbClr val="3A9B98"/>
            </a:solidFill>
            <a:prstDash val="solid"/>
          </a:ln>
        </p:spPr>
      </p:sp>
      <p:sp>
        <p:nvSpPr>
          <p:cNvPr id="14" name="Text 12"/>
          <p:cNvSpPr/>
          <p:nvPr/>
        </p:nvSpPr>
        <p:spPr>
          <a:xfrm>
            <a:off x="2770632" y="150876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Asset Register</a:t>
            </a:r>
            <a:endParaRPr lang="en-US" sz="1100" dirty="0"/>
          </a:p>
        </p:txBody>
      </p:sp>
      <p:sp>
        <p:nvSpPr>
          <p:cNvPr id="15" name="Text 13"/>
          <p:cNvSpPr/>
          <p:nvPr/>
        </p:nvSpPr>
        <p:spPr>
          <a:xfrm>
            <a:off x="2770632" y="1874520"/>
            <a:ext cx="1700784" cy="1051560"/>
          </a:xfrm>
          <a:prstGeom prst="rect">
            <a:avLst/>
          </a:prstGeom>
          <a:noFill/>
          <a:ln/>
        </p:spPr>
        <p:txBody>
          <a:bodyPr wrap="square" lIns="0" tIns="0" rIns="0" bIns="0" rtlCol="0" anchor="t"/>
          <a:lstStyle/>
          <a:p>
            <a:pPr indent="0" marL="0">
              <a:buNone/>
            </a:pPr>
            <a:r>
              <a:rPr lang="en-US" sz="950" dirty="0">
                <a:solidFill>
                  <a:srgbClr val="475569"/>
                </a:solidFill>
              </a:rPr>
              <a:t>Full searchable register of all assets. View asset details, linked documents, inspection history, and current status.</a:t>
            </a:r>
            <a:endParaRPr lang="en-US" sz="950" dirty="0"/>
          </a:p>
        </p:txBody>
      </p:sp>
      <p:sp>
        <p:nvSpPr>
          <p:cNvPr id="16" name="Shape 14"/>
          <p:cNvSpPr/>
          <p:nvPr/>
        </p:nvSpPr>
        <p:spPr>
          <a:xfrm>
            <a:off x="4754880" y="141732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754880" y="1417320"/>
            <a:ext cx="2029968" cy="45720"/>
          </a:xfrm>
          <a:prstGeom prst="rect">
            <a:avLst/>
          </a:prstGeom>
          <a:solidFill>
            <a:srgbClr val="3A9B98"/>
          </a:solidFill>
          <a:ln w="12700">
            <a:solidFill>
              <a:srgbClr val="3A9B98"/>
            </a:solidFill>
            <a:prstDash val="solid"/>
          </a:ln>
        </p:spPr>
      </p:sp>
      <p:sp>
        <p:nvSpPr>
          <p:cNvPr id="18" name="Text 16"/>
          <p:cNvSpPr/>
          <p:nvPr/>
        </p:nvSpPr>
        <p:spPr>
          <a:xfrm>
            <a:off x="4919472" y="150876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Calibration</a:t>
            </a:r>
            <a:endParaRPr lang="en-US" sz="1100" dirty="0"/>
          </a:p>
        </p:txBody>
      </p:sp>
      <p:sp>
        <p:nvSpPr>
          <p:cNvPr id="19" name="Text 17"/>
          <p:cNvSpPr/>
          <p:nvPr/>
        </p:nvSpPr>
        <p:spPr>
          <a:xfrm>
            <a:off x="4919472" y="1874520"/>
            <a:ext cx="1700784" cy="1051560"/>
          </a:xfrm>
          <a:prstGeom prst="rect">
            <a:avLst/>
          </a:prstGeom>
          <a:noFill/>
          <a:ln/>
        </p:spPr>
        <p:txBody>
          <a:bodyPr wrap="square" lIns="0" tIns="0" rIns="0" bIns="0" rtlCol="0" anchor="t"/>
          <a:lstStyle/>
          <a:p>
            <a:pPr indent="0" marL="0">
              <a:buNone/>
            </a:pPr>
            <a:r>
              <a:rPr lang="en-US" sz="950" dirty="0">
                <a:solidFill>
                  <a:srgbClr val="475569"/>
                </a:solidFill>
              </a:rPr>
              <a:t>Track calibration due dates, record calibration results, and manage calibration certificates. Overdue items are flagged.</a:t>
            </a:r>
            <a:endParaRPr lang="en-US" sz="950" dirty="0"/>
          </a:p>
        </p:txBody>
      </p:sp>
      <p:sp>
        <p:nvSpPr>
          <p:cNvPr id="20" name="Shape 18"/>
          <p:cNvSpPr/>
          <p:nvPr/>
        </p:nvSpPr>
        <p:spPr>
          <a:xfrm>
            <a:off x="6903720" y="141732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903720" y="1417320"/>
            <a:ext cx="2029968" cy="45720"/>
          </a:xfrm>
          <a:prstGeom prst="rect">
            <a:avLst/>
          </a:prstGeom>
          <a:solidFill>
            <a:srgbClr val="3A9B98"/>
          </a:solidFill>
          <a:ln w="12700">
            <a:solidFill>
              <a:srgbClr val="3A9B98"/>
            </a:solidFill>
            <a:prstDash val="solid"/>
          </a:ln>
        </p:spPr>
      </p:sp>
      <p:sp>
        <p:nvSpPr>
          <p:cNvPr id="22" name="Text 20"/>
          <p:cNvSpPr/>
          <p:nvPr/>
        </p:nvSpPr>
        <p:spPr>
          <a:xfrm>
            <a:off x="7068312" y="150876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Inspections</a:t>
            </a:r>
            <a:endParaRPr lang="en-US" sz="1100" dirty="0"/>
          </a:p>
        </p:txBody>
      </p:sp>
      <p:sp>
        <p:nvSpPr>
          <p:cNvPr id="23" name="Text 21"/>
          <p:cNvSpPr/>
          <p:nvPr/>
        </p:nvSpPr>
        <p:spPr>
          <a:xfrm>
            <a:off x="7068312" y="1874520"/>
            <a:ext cx="1700784" cy="1051560"/>
          </a:xfrm>
          <a:prstGeom prst="rect">
            <a:avLst/>
          </a:prstGeom>
          <a:noFill/>
          <a:ln/>
        </p:spPr>
        <p:txBody>
          <a:bodyPr wrap="square" lIns="0" tIns="0" rIns="0" bIns="0" rtlCol="0" anchor="t"/>
          <a:lstStyle/>
          <a:p>
            <a:pPr indent="0" marL="0">
              <a:buNone/>
            </a:pPr>
            <a:r>
              <a:rPr lang="en-US" sz="950" dirty="0">
                <a:solidFill>
                  <a:srgbClr val="475569"/>
                </a:solidFill>
              </a:rPr>
              <a:t>Log asset inspections, checklist completion, and findings. Link inspection outcomes to maintenance actions.</a:t>
            </a:r>
            <a:endParaRPr lang="en-US" sz="950" dirty="0"/>
          </a:p>
        </p:txBody>
      </p:sp>
      <p:sp>
        <p:nvSpPr>
          <p:cNvPr id="24" name="Shape 22"/>
          <p:cNvSpPr/>
          <p:nvPr/>
        </p:nvSpPr>
        <p:spPr>
          <a:xfrm>
            <a:off x="457200" y="32004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457200" y="3200400"/>
            <a:ext cx="2029968" cy="45720"/>
          </a:xfrm>
          <a:prstGeom prst="rect">
            <a:avLst/>
          </a:prstGeom>
          <a:solidFill>
            <a:srgbClr val="3A9B98"/>
          </a:solidFill>
          <a:ln w="12700">
            <a:solidFill>
              <a:srgbClr val="3A9B98"/>
            </a:solidFill>
            <a:prstDash val="solid"/>
          </a:ln>
        </p:spPr>
      </p:sp>
      <p:sp>
        <p:nvSpPr>
          <p:cNvPr id="26" name="Text 24"/>
          <p:cNvSpPr/>
          <p:nvPr/>
        </p:nvSpPr>
        <p:spPr>
          <a:xfrm>
            <a:off x="621792" y="32918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Maintenance</a:t>
            </a:r>
            <a:endParaRPr lang="en-US" sz="1100" dirty="0"/>
          </a:p>
        </p:txBody>
      </p:sp>
      <p:sp>
        <p:nvSpPr>
          <p:cNvPr id="27" name="Text 25"/>
          <p:cNvSpPr/>
          <p:nvPr/>
        </p:nvSpPr>
        <p:spPr>
          <a:xfrm>
            <a:off x="621792" y="3657600"/>
            <a:ext cx="1700784" cy="1051560"/>
          </a:xfrm>
          <a:prstGeom prst="rect">
            <a:avLst/>
          </a:prstGeom>
          <a:noFill/>
          <a:ln/>
        </p:spPr>
        <p:txBody>
          <a:bodyPr wrap="square" lIns="0" tIns="0" rIns="0" bIns="0" rtlCol="0" anchor="t"/>
          <a:lstStyle/>
          <a:p>
            <a:pPr indent="0" marL="0">
              <a:buNone/>
            </a:pPr>
            <a:r>
              <a:rPr lang="en-US" sz="950" dirty="0">
                <a:solidFill>
                  <a:srgbClr val="475569"/>
                </a:solidFill>
              </a:rPr>
              <a:t>Schedule and record planned and reactive maintenance. Track work orders, technician assignment, and completion.</a:t>
            </a:r>
            <a:endParaRPr lang="en-US" sz="950" dirty="0"/>
          </a:p>
        </p:txBody>
      </p:sp>
      <p:sp>
        <p:nvSpPr>
          <p:cNvPr id="28" name="Shape 26"/>
          <p:cNvSpPr/>
          <p:nvPr/>
        </p:nvSpPr>
        <p:spPr>
          <a:xfrm>
            <a:off x="2606040" y="32004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606040" y="3200400"/>
            <a:ext cx="2029968" cy="45720"/>
          </a:xfrm>
          <a:prstGeom prst="rect">
            <a:avLst/>
          </a:prstGeom>
          <a:solidFill>
            <a:srgbClr val="3A9B98"/>
          </a:solidFill>
          <a:ln w="12700">
            <a:solidFill>
              <a:srgbClr val="3A9B98"/>
            </a:solidFill>
            <a:prstDash val="solid"/>
          </a:ln>
        </p:spPr>
      </p:sp>
      <p:sp>
        <p:nvSpPr>
          <p:cNvPr id="30" name="Text 28"/>
          <p:cNvSpPr/>
          <p:nvPr/>
        </p:nvSpPr>
        <p:spPr>
          <a:xfrm>
            <a:off x="2770632" y="32918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Asset Actions</a:t>
            </a:r>
            <a:endParaRPr lang="en-US" sz="1100" dirty="0"/>
          </a:p>
        </p:txBody>
      </p:sp>
      <p:sp>
        <p:nvSpPr>
          <p:cNvPr id="31" name="Text 29"/>
          <p:cNvSpPr/>
          <p:nvPr/>
        </p:nvSpPr>
        <p:spPr>
          <a:xfrm>
            <a:off x="2770632" y="3657600"/>
            <a:ext cx="1700784" cy="1051560"/>
          </a:xfrm>
          <a:prstGeom prst="rect">
            <a:avLst/>
          </a:prstGeom>
          <a:noFill/>
          <a:ln/>
        </p:spPr>
        <p:txBody>
          <a:bodyPr wrap="square" lIns="0" tIns="0" rIns="0" bIns="0" rtlCol="0" anchor="t"/>
          <a:lstStyle/>
          <a:p>
            <a:pPr indent="0" marL="0">
              <a:buNone/>
            </a:pPr>
            <a:r>
              <a:rPr lang="en-US" sz="950" dirty="0">
                <a:solidFill>
                  <a:srgbClr val="475569"/>
                </a:solidFill>
              </a:rPr>
              <a:t>Actions arising from inspections, maintenance, or audits. Full tracking with owner, due date, and evidence.</a:t>
            </a:r>
            <a:endParaRPr lang="en-US" sz="950" dirty="0"/>
          </a:p>
        </p:txBody>
      </p:sp>
      <p:sp>
        <p:nvSpPr>
          <p:cNvPr id="32" name="Shape 30"/>
          <p:cNvSpPr/>
          <p:nvPr/>
        </p:nvSpPr>
        <p:spPr>
          <a:xfrm>
            <a:off x="4754880" y="32004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33" name="Shape 31"/>
          <p:cNvSpPr/>
          <p:nvPr/>
        </p:nvSpPr>
        <p:spPr>
          <a:xfrm>
            <a:off x="4754880" y="3200400"/>
            <a:ext cx="2029968" cy="45720"/>
          </a:xfrm>
          <a:prstGeom prst="rect">
            <a:avLst/>
          </a:prstGeom>
          <a:solidFill>
            <a:srgbClr val="3A9B98"/>
          </a:solidFill>
          <a:ln w="12700">
            <a:solidFill>
              <a:srgbClr val="3A9B98"/>
            </a:solidFill>
            <a:prstDash val="solid"/>
          </a:ln>
        </p:spPr>
      </p:sp>
      <p:sp>
        <p:nvSpPr>
          <p:cNvPr id="34" name="Text 32"/>
          <p:cNvSpPr/>
          <p:nvPr/>
        </p:nvSpPr>
        <p:spPr>
          <a:xfrm>
            <a:off x="4919472" y="32918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Reports</a:t>
            </a:r>
            <a:endParaRPr lang="en-US" sz="1100" dirty="0"/>
          </a:p>
        </p:txBody>
      </p:sp>
      <p:sp>
        <p:nvSpPr>
          <p:cNvPr id="35" name="Text 33"/>
          <p:cNvSpPr/>
          <p:nvPr/>
        </p:nvSpPr>
        <p:spPr>
          <a:xfrm>
            <a:off x="4919472" y="3657600"/>
            <a:ext cx="1700784" cy="1051560"/>
          </a:xfrm>
          <a:prstGeom prst="rect">
            <a:avLst/>
          </a:prstGeom>
          <a:noFill/>
          <a:ln/>
        </p:spPr>
        <p:txBody>
          <a:bodyPr wrap="square" lIns="0" tIns="0" rIns="0" bIns="0" rtlCol="0" anchor="t"/>
          <a:lstStyle/>
          <a:p>
            <a:pPr indent="0" marL="0">
              <a:buNone/>
            </a:pPr>
            <a:r>
              <a:rPr lang="en-US" sz="950" dirty="0">
                <a:solidFill>
                  <a:srgbClr val="475569"/>
                </a:solidFill>
              </a:rPr>
              <a:t>Asset performance reporting — inspection compliance, maintenance costs, calibration status, and asset availability.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People Management</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15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People Management</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Shared people directory used across all modules for ownership, notification and assignment</a:t>
            </a:r>
            <a:endParaRPr lang="en-US" sz="1200" dirty="0"/>
          </a:p>
        </p:txBody>
      </p:sp>
      <p:sp>
        <p:nvSpPr>
          <p:cNvPr id="8" name="Shape 6"/>
          <p:cNvSpPr/>
          <p:nvPr/>
        </p:nvSpPr>
        <p:spPr>
          <a:xfrm>
            <a:off x="457200" y="137160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4023360" cy="45720"/>
          </a:xfrm>
          <a:prstGeom prst="rect">
            <a:avLst/>
          </a:prstGeom>
          <a:solidFill>
            <a:srgbClr val="3A9B98"/>
          </a:solidFill>
          <a:ln w="12700">
            <a:solidFill>
              <a:srgbClr val="3A9B98"/>
            </a:solidFill>
            <a:prstDash val="solid"/>
          </a:ln>
        </p:spPr>
      </p:sp>
      <p:sp>
        <p:nvSpPr>
          <p:cNvPr id="10" name="Text 8"/>
          <p:cNvSpPr/>
          <p:nvPr/>
        </p:nvSpPr>
        <p:spPr>
          <a:xfrm>
            <a:off x="621792" y="146304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People Directory</a:t>
            </a:r>
            <a:endParaRPr lang="en-US" sz="1100" dirty="0"/>
          </a:p>
        </p:txBody>
      </p:sp>
      <p:sp>
        <p:nvSpPr>
          <p:cNvPr id="11" name="Text 9"/>
          <p:cNvSpPr/>
          <p:nvPr/>
        </p:nvSpPr>
        <p:spPr>
          <a:xfrm>
            <a:off x="621792" y="1828800"/>
            <a:ext cx="3694176" cy="960120"/>
          </a:xfrm>
          <a:prstGeom prst="rect">
            <a:avLst/>
          </a:prstGeom>
          <a:noFill/>
          <a:ln/>
        </p:spPr>
        <p:txBody>
          <a:bodyPr wrap="square" lIns="0" tIns="0" rIns="0" bIns="0" rtlCol="0" anchor="t"/>
          <a:lstStyle/>
          <a:p>
            <a:pPr indent="0" marL="0">
              <a:buNone/>
            </a:pPr>
            <a:r>
              <a:rPr lang="en-US" sz="950" dirty="0">
                <a:solidFill>
                  <a:srgbClr val="475569"/>
                </a:solidFill>
              </a:rPr>
              <a:t>The People register is the master list of all personnel in the system. Every person record holds their name, email, department, and role. This directory is referenced across Quality, HSE, Documents, Assets, and Risk for owner and reviewer assignment.</a:t>
            </a:r>
            <a:endParaRPr lang="en-US" sz="950" dirty="0"/>
          </a:p>
        </p:txBody>
      </p:sp>
      <p:sp>
        <p:nvSpPr>
          <p:cNvPr id="12" name="Shape 10"/>
          <p:cNvSpPr/>
          <p:nvPr/>
        </p:nvSpPr>
        <p:spPr>
          <a:xfrm>
            <a:off x="4663440" y="137160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4663440" y="1371600"/>
            <a:ext cx="4023360" cy="45720"/>
          </a:xfrm>
          <a:prstGeom prst="rect">
            <a:avLst/>
          </a:prstGeom>
          <a:solidFill>
            <a:srgbClr val="3A9B98"/>
          </a:solidFill>
          <a:ln w="12700">
            <a:solidFill>
              <a:srgbClr val="3A9B98"/>
            </a:solidFill>
            <a:prstDash val="solid"/>
          </a:ln>
        </p:spPr>
      </p:sp>
      <p:sp>
        <p:nvSpPr>
          <p:cNvPr id="14" name="Text 12"/>
          <p:cNvSpPr/>
          <p:nvPr/>
        </p:nvSpPr>
        <p:spPr>
          <a:xfrm>
            <a:off x="4828032" y="146304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System-Wide Linking</a:t>
            </a:r>
            <a:endParaRPr lang="en-US" sz="1100" dirty="0"/>
          </a:p>
        </p:txBody>
      </p:sp>
      <p:sp>
        <p:nvSpPr>
          <p:cNvPr id="15" name="Text 13"/>
          <p:cNvSpPr/>
          <p:nvPr/>
        </p:nvSpPr>
        <p:spPr>
          <a:xfrm>
            <a:off x="4828032" y="1828800"/>
            <a:ext cx="3694176" cy="960120"/>
          </a:xfrm>
          <a:prstGeom prst="rect">
            <a:avLst/>
          </a:prstGeom>
          <a:noFill/>
          <a:ln/>
        </p:spPr>
        <p:txBody>
          <a:bodyPr wrap="square" lIns="0" tIns="0" rIns="0" bIns="0" rtlCol="0" anchor="t"/>
          <a:lstStyle/>
          <a:p>
            <a:pPr indent="0" marL="0">
              <a:buNone/>
            </a:pPr>
            <a:r>
              <a:rPr lang="en-US" sz="950" dirty="0">
                <a:solidFill>
                  <a:srgbClr val="475569"/>
                </a:solidFill>
              </a:rPr>
              <a:t>When assigning an Originator, Reviewer, Approver, Action Owner, or Investigation Lead across any module, the People directory is the source. Changing a person's email here updates all future notifications automatically.</a:t>
            </a:r>
            <a:endParaRPr lang="en-US" sz="950" dirty="0"/>
          </a:p>
        </p:txBody>
      </p:sp>
      <p:sp>
        <p:nvSpPr>
          <p:cNvPr id="16" name="Shape 14"/>
          <p:cNvSpPr/>
          <p:nvPr/>
        </p:nvSpPr>
        <p:spPr>
          <a:xfrm>
            <a:off x="457200" y="306324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57200" y="3063240"/>
            <a:ext cx="4023360" cy="45720"/>
          </a:xfrm>
          <a:prstGeom prst="rect">
            <a:avLst/>
          </a:prstGeom>
          <a:solidFill>
            <a:srgbClr val="3A9B98"/>
          </a:solidFill>
          <a:ln w="12700">
            <a:solidFill>
              <a:srgbClr val="3A9B98"/>
            </a:solidFill>
            <a:prstDash val="solid"/>
          </a:ln>
        </p:spPr>
      </p:sp>
      <p:sp>
        <p:nvSpPr>
          <p:cNvPr id="18" name="Text 16"/>
          <p:cNvSpPr/>
          <p:nvPr/>
        </p:nvSpPr>
        <p:spPr>
          <a:xfrm>
            <a:off x="621792" y="315468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Email Notifications</a:t>
            </a:r>
            <a:endParaRPr lang="en-US" sz="1100" dirty="0"/>
          </a:p>
        </p:txBody>
      </p:sp>
      <p:sp>
        <p:nvSpPr>
          <p:cNvPr id="19" name="Text 17"/>
          <p:cNvSpPr/>
          <p:nvPr/>
        </p:nvSpPr>
        <p:spPr>
          <a:xfrm>
            <a:off x="621792" y="3520440"/>
            <a:ext cx="3694176" cy="960120"/>
          </a:xfrm>
          <a:prstGeom prst="rect">
            <a:avLst/>
          </a:prstGeom>
          <a:noFill/>
          <a:ln/>
        </p:spPr>
        <p:txBody>
          <a:bodyPr wrap="square" lIns="0" tIns="0" rIns="0" bIns="0" rtlCol="0" anchor="t"/>
          <a:lstStyle/>
          <a:p>
            <a:pPr indent="0" marL="0">
              <a:buNone/>
            </a:pPr>
            <a:r>
              <a:rPr lang="en-US" sz="950" dirty="0">
                <a:solidFill>
                  <a:srgbClr val="475569"/>
                </a:solidFill>
              </a:rPr>
              <a:t>People records include the email address that receives workflow notifications. Ensure all personnel have a valid email in the People register to receive review requests, action assignments, and due date reminders.</a:t>
            </a:r>
            <a:endParaRPr lang="en-US" sz="950" dirty="0"/>
          </a:p>
        </p:txBody>
      </p:sp>
      <p:sp>
        <p:nvSpPr>
          <p:cNvPr id="20" name="Shape 18"/>
          <p:cNvSpPr/>
          <p:nvPr/>
        </p:nvSpPr>
        <p:spPr>
          <a:xfrm>
            <a:off x="4663440" y="306324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663440" y="3063240"/>
            <a:ext cx="4023360" cy="45720"/>
          </a:xfrm>
          <a:prstGeom prst="rect">
            <a:avLst/>
          </a:prstGeom>
          <a:solidFill>
            <a:srgbClr val="3A9B98"/>
          </a:solidFill>
          <a:ln w="12700">
            <a:solidFill>
              <a:srgbClr val="3A9B98"/>
            </a:solidFill>
            <a:prstDash val="solid"/>
          </a:ln>
        </p:spPr>
      </p:sp>
      <p:sp>
        <p:nvSpPr>
          <p:cNvPr id="22" name="Text 20"/>
          <p:cNvSpPr/>
          <p:nvPr/>
        </p:nvSpPr>
        <p:spPr>
          <a:xfrm>
            <a:off x="4828032" y="315468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Roles &amp; Permissions</a:t>
            </a:r>
            <a:endParaRPr lang="en-US" sz="1100" dirty="0"/>
          </a:p>
        </p:txBody>
      </p:sp>
      <p:sp>
        <p:nvSpPr>
          <p:cNvPr id="23" name="Text 21"/>
          <p:cNvSpPr/>
          <p:nvPr/>
        </p:nvSpPr>
        <p:spPr>
          <a:xfrm>
            <a:off x="4828032" y="3520440"/>
            <a:ext cx="3694176" cy="960120"/>
          </a:xfrm>
          <a:prstGeom prst="rect">
            <a:avLst/>
          </a:prstGeom>
          <a:noFill/>
          <a:ln/>
        </p:spPr>
        <p:txBody>
          <a:bodyPr wrap="square" lIns="0" tIns="0" rIns="0" bIns="0" rtlCol="0" anchor="t"/>
          <a:lstStyle/>
          <a:p>
            <a:pPr indent="0" marL="0">
              <a:buNone/>
            </a:pPr>
            <a:r>
              <a:rPr lang="en-US" sz="950" dirty="0">
                <a:solidFill>
                  <a:srgbClr val="475569"/>
                </a:solidFill>
              </a:rPr>
              <a:t>System roles (Manager, HSE Officer, Quality Engineer, etc.) are managed in Admin / Settings. People are linked to their login account and assigned a role that controls which modules and actions they can access.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Action Management</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16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Action Management</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Central action register pulling together actions from every module</a:t>
            </a:r>
            <a:endParaRPr lang="en-US" sz="1200" dirty="0"/>
          </a:p>
        </p:txBody>
      </p:sp>
      <p:sp>
        <p:nvSpPr>
          <p:cNvPr id="8" name="Shape 6"/>
          <p:cNvSpPr/>
          <p:nvPr/>
        </p:nvSpPr>
        <p:spPr>
          <a:xfrm>
            <a:off x="457200" y="137160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2724912" cy="45720"/>
          </a:xfrm>
          <a:prstGeom prst="rect">
            <a:avLst/>
          </a:prstGeom>
          <a:solidFill>
            <a:srgbClr val="3A9B98"/>
          </a:solidFill>
          <a:ln w="12700">
            <a:solidFill>
              <a:srgbClr val="3A9B98"/>
            </a:solidFill>
            <a:prstDash val="solid"/>
          </a:ln>
        </p:spPr>
      </p:sp>
      <p:sp>
        <p:nvSpPr>
          <p:cNvPr id="10" name="Text 8"/>
          <p:cNvSpPr/>
          <p:nvPr/>
        </p:nvSpPr>
        <p:spPr>
          <a:xfrm>
            <a:off x="621792" y="146304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Action Dashboard</a:t>
            </a:r>
            <a:endParaRPr lang="en-US" sz="1100" dirty="0"/>
          </a:p>
        </p:txBody>
      </p:sp>
      <p:sp>
        <p:nvSpPr>
          <p:cNvPr id="11" name="Text 9"/>
          <p:cNvSpPr/>
          <p:nvPr/>
        </p:nvSpPr>
        <p:spPr>
          <a:xfrm>
            <a:off x="621792" y="1828800"/>
            <a:ext cx="2395728" cy="1051560"/>
          </a:xfrm>
          <a:prstGeom prst="rect">
            <a:avLst/>
          </a:prstGeom>
          <a:noFill/>
          <a:ln/>
        </p:spPr>
        <p:txBody>
          <a:bodyPr wrap="square" lIns="0" tIns="0" rIns="0" bIns="0" rtlCol="0" anchor="t"/>
          <a:lstStyle/>
          <a:p>
            <a:pPr indent="0" marL="0">
              <a:buNone/>
            </a:pPr>
            <a:r>
              <a:rPr lang="en-US" sz="950" dirty="0">
                <a:solidFill>
                  <a:srgbClr val="475569"/>
                </a:solidFill>
              </a:rPr>
              <a:t>Intelligence view — actions by status, source module, owner, priority, due date pressure, and closure trend charts.</a:t>
            </a:r>
            <a:endParaRPr lang="en-US" sz="950" dirty="0"/>
          </a:p>
        </p:txBody>
      </p:sp>
      <p:sp>
        <p:nvSpPr>
          <p:cNvPr id="12" name="Shape 10"/>
          <p:cNvSpPr/>
          <p:nvPr/>
        </p:nvSpPr>
        <p:spPr>
          <a:xfrm>
            <a:off x="3310128" y="137160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3310128" y="1371600"/>
            <a:ext cx="2724912" cy="45720"/>
          </a:xfrm>
          <a:prstGeom prst="rect">
            <a:avLst/>
          </a:prstGeom>
          <a:solidFill>
            <a:srgbClr val="3A9B98"/>
          </a:solidFill>
          <a:ln w="12700">
            <a:solidFill>
              <a:srgbClr val="3A9B98"/>
            </a:solidFill>
            <a:prstDash val="solid"/>
          </a:ln>
        </p:spPr>
      </p:sp>
      <p:sp>
        <p:nvSpPr>
          <p:cNvPr id="14" name="Text 12"/>
          <p:cNvSpPr/>
          <p:nvPr/>
        </p:nvSpPr>
        <p:spPr>
          <a:xfrm>
            <a:off x="3474720" y="146304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Action Register</a:t>
            </a:r>
            <a:endParaRPr lang="en-US" sz="1100" dirty="0"/>
          </a:p>
        </p:txBody>
      </p:sp>
      <p:sp>
        <p:nvSpPr>
          <p:cNvPr id="15" name="Text 13"/>
          <p:cNvSpPr/>
          <p:nvPr/>
        </p:nvSpPr>
        <p:spPr>
          <a:xfrm>
            <a:off x="3474720" y="1828800"/>
            <a:ext cx="2395728" cy="1051560"/>
          </a:xfrm>
          <a:prstGeom prst="rect">
            <a:avLst/>
          </a:prstGeom>
          <a:noFill/>
          <a:ln/>
        </p:spPr>
        <p:txBody>
          <a:bodyPr wrap="square" lIns="0" tIns="0" rIns="0" bIns="0" rtlCol="0" anchor="t"/>
          <a:lstStyle/>
          <a:p>
            <a:pPr indent="0" marL="0">
              <a:buNone/>
            </a:pPr>
            <a:r>
              <a:rPr lang="en-US" sz="950" dirty="0">
                <a:solidFill>
                  <a:srgbClr val="475569"/>
                </a:solidFill>
              </a:rPr>
              <a:t>Every action across all modules in one register. Filter by owner, source, priority, status, or due date.</a:t>
            </a:r>
            <a:endParaRPr lang="en-US" sz="950" dirty="0"/>
          </a:p>
        </p:txBody>
      </p:sp>
      <p:sp>
        <p:nvSpPr>
          <p:cNvPr id="16" name="Shape 14"/>
          <p:cNvSpPr/>
          <p:nvPr/>
        </p:nvSpPr>
        <p:spPr>
          <a:xfrm>
            <a:off x="6163056" y="137160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6163056" y="1371600"/>
            <a:ext cx="2724912" cy="45720"/>
          </a:xfrm>
          <a:prstGeom prst="rect">
            <a:avLst/>
          </a:prstGeom>
          <a:solidFill>
            <a:srgbClr val="3A9B98"/>
          </a:solidFill>
          <a:ln w="12700">
            <a:solidFill>
              <a:srgbClr val="3A9B98"/>
            </a:solidFill>
            <a:prstDash val="solid"/>
          </a:ln>
        </p:spPr>
      </p:sp>
      <p:sp>
        <p:nvSpPr>
          <p:cNvPr id="18" name="Text 16"/>
          <p:cNvSpPr/>
          <p:nvPr/>
        </p:nvSpPr>
        <p:spPr>
          <a:xfrm>
            <a:off x="6327648" y="146304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Create Action</a:t>
            </a:r>
            <a:endParaRPr lang="en-US" sz="1100" dirty="0"/>
          </a:p>
        </p:txBody>
      </p:sp>
      <p:sp>
        <p:nvSpPr>
          <p:cNvPr id="19" name="Text 17"/>
          <p:cNvSpPr/>
          <p:nvPr/>
        </p:nvSpPr>
        <p:spPr>
          <a:xfrm>
            <a:off x="6327648" y="1828800"/>
            <a:ext cx="2395728" cy="1051560"/>
          </a:xfrm>
          <a:prstGeom prst="rect">
            <a:avLst/>
          </a:prstGeom>
          <a:noFill/>
          <a:ln/>
        </p:spPr>
        <p:txBody>
          <a:bodyPr wrap="square" lIns="0" tIns="0" rIns="0" bIns="0" rtlCol="0" anchor="t"/>
          <a:lstStyle/>
          <a:p>
            <a:pPr indent="0" marL="0">
              <a:buNone/>
            </a:pPr>
            <a:r>
              <a:rPr lang="en-US" sz="950" dirty="0">
                <a:solidFill>
                  <a:srgbClr val="475569"/>
                </a:solidFill>
              </a:rPr>
              <a:t>Standalone actions can be created here and linked to a module, project, or asset. Assigns owner and priority automatically.</a:t>
            </a:r>
            <a:endParaRPr lang="en-US" sz="950" dirty="0"/>
          </a:p>
        </p:txBody>
      </p:sp>
      <p:sp>
        <p:nvSpPr>
          <p:cNvPr id="20" name="Shape 18"/>
          <p:cNvSpPr/>
          <p:nvPr/>
        </p:nvSpPr>
        <p:spPr>
          <a:xfrm>
            <a:off x="457200" y="315468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57200" y="3154680"/>
            <a:ext cx="2724912" cy="45720"/>
          </a:xfrm>
          <a:prstGeom prst="rect">
            <a:avLst/>
          </a:prstGeom>
          <a:solidFill>
            <a:srgbClr val="3A9B98"/>
          </a:solidFill>
          <a:ln w="12700">
            <a:solidFill>
              <a:srgbClr val="3A9B98"/>
            </a:solidFill>
            <a:prstDash val="solid"/>
          </a:ln>
        </p:spPr>
      </p:sp>
      <p:sp>
        <p:nvSpPr>
          <p:cNvPr id="22" name="Text 20"/>
          <p:cNvSpPr/>
          <p:nvPr/>
        </p:nvSpPr>
        <p:spPr>
          <a:xfrm>
            <a:off x="621792"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My Actions</a:t>
            </a:r>
            <a:endParaRPr lang="en-US" sz="1100" dirty="0"/>
          </a:p>
        </p:txBody>
      </p:sp>
      <p:sp>
        <p:nvSpPr>
          <p:cNvPr id="23" name="Text 21"/>
          <p:cNvSpPr/>
          <p:nvPr/>
        </p:nvSpPr>
        <p:spPr>
          <a:xfrm>
            <a:off x="621792" y="3611880"/>
            <a:ext cx="2395728" cy="1051560"/>
          </a:xfrm>
          <a:prstGeom prst="rect">
            <a:avLst/>
          </a:prstGeom>
          <a:noFill/>
          <a:ln/>
        </p:spPr>
        <p:txBody>
          <a:bodyPr wrap="square" lIns="0" tIns="0" rIns="0" bIns="0" rtlCol="0" anchor="t"/>
          <a:lstStyle/>
          <a:p>
            <a:pPr indent="0" marL="0">
              <a:buNone/>
            </a:pPr>
            <a:r>
              <a:rPr lang="en-US" sz="950" dirty="0">
                <a:solidFill>
                  <a:srgbClr val="475569"/>
                </a:solidFill>
              </a:rPr>
              <a:t>Filtered view showing only actions assigned to the currently logged-in user. Quick way to see what needs doing.</a:t>
            </a:r>
            <a:endParaRPr lang="en-US" sz="950" dirty="0"/>
          </a:p>
        </p:txBody>
      </p:sp>
      <p:sp>
        <p:nvSpPr>
          <p:cNvPr id="24" name="Shape 22"/>
          <p:cNvSpPr/>
          <p:nvPr/>
        </p:nvSpPr>
        <p:spPr>
          <a:xfrm>
            <a:off x="3310128" y="315468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3310128" y="3154680"/>
            <a:ext cx="2724912" cy="45720"/>
          </a:xfrm>
          <a:prstGeom prst="rect">
            <a:avLst/>
          </a:prstGeom>
          <a:solidFill>
            <a:srgbClr val="3A9B98"/>
          </a:solidFill>
          <a:ln w="12700">
            <a:solidFill>
              <a:srgbClr val="3A9B98"/>
            </a:solidFill>
            <a:prstDash val="solid"/>
          </a:ln>
        </p:spPr>
      </p:sp>
      <p:sp>
        <p:nvSpPr>
          <p:cNvPr id="26" name="Text 24"/>
          <p:cNvSpPr/>
          <p:nvPr/>
        </p:nvSpPr>
        <p:spPr>
          <a:xfrm>
            <a:off x="3474720"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Overdue &amp; Priority</a:t>
            </a:r>
            <a:endParaRPr lang="en-US" sz="1100" dirty="0"/>
          </a:p>
        </p:txBody>
      </p:sp>
      <p:sp>
        <p:nvSpPr>
          <p:cNvPr id="27" name="Text 25"/>
          <p:cNvSpPr/>
          <p:nvPr/>
        </p:nvSpPr>
        <p:spPr>
          <a:xfrm>
            <a:off x="3474720" y="3611880"/>
            <a:ext cx="2395728" cy="1051560"/>
          </a:xfrm>
          <a:prstGeom prst="rect">
            <a:avLst/>
          </a:prstGeom>
          <a:noFill/>
          <a:ln/>
        </p:spPr>
        <p:txBody>
          <a:bodyPr wrap="square" lIns="0" tIns="0" rIns="0" bIns="0" rtlCol="0" anchor="t"/>
          <a:lstStyle/>
          <a:p>
            <a:pPr indent="0" marL="0">
              <a:buNone/>
            </a:pPr>
            <a:r>
              <a:rPr lang="en-US" sz="950" dirty="0">
                <a:solidFill>
                  <a:srgbClr val="475569"/>
                </a:solidFill>
              </a:rPr>
              <a:t>'Overdue First' and 'Due This Week' views make it easy to chase critical actions without manual sorting.</a:t>
            </a:r>
            <a:endParaRPr lang="en-US" sz="950" dirty="0"/>
          </a:p>
        </p:txBody>
      </p:sp>
      <p:sp>
        <p:nvSpPr>
          <p:cNvPr id="28" name="Shape 26"/>
          <p:cNvSpPr/>
          <p:nvPr/>
        </p:nvSpPr>
        <p:spPr>
          <a:xfrm>
            <a:off x="6163056" y="3154680"/>
            <a:ext cx="2724912"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6163056" y="3154680"/>
            <a:ext cx="2724912" cy="45720"/>
          </a:xfrm>
          <a:prstGeom prst="rect">
            <a:avLst/>
          </a:prstGeom>
          <a:solidFill>
            <a:srgbClr val="3A9B98"/>
          </a:solidFill>
          <a:ln w="12700">
            <a:solidFill>
              <a:srgbClr val="3A9B98"/>
            </a:solidFill>
            <a:prstDash val="solid"/>
          </a:ln>
        </p:spPr>
      </p:sp>
      <p:sp>
        <p:nvSpPr>
          <p:cNvPr id="30" name="Text 28"/>
          <p:cNvSpPr/>
          <p:nvPr/>
        </p:nvSpPr>
        <p:spPr>
          <a:xfrm>
            <a:off x="6327648" y="3246120"/>
            <a:ext cx="2450592" cy="320040"/>
          </a:xfrm>
          <a:prstGeom prst="rect">
            <a:avLst/>
          </a:prstGeom>
          <a:noFill/>
          <a:ln/>
        </p:spPr>
        <p:txBody>
          <a:bodyPr wrap="square" lIns="0" tIns="0" rIns="0" bIns="0" rtlCol="0" anchor="ctr"/>
          <a:lstStyle/>
          <a:p>
            <a:pPr indent="0" marL="0">
              <a:buNone/>
            </a:pPr>
            <a:r>
              <a:rPr lang="en-US" sz="1100" b="1" dirty="0">
                <a:solidFill>
                  <a:srgbClr val="0F172A"/>
                </a:solidFill>
              </a:rPr>
              <a:t>📎  Evidence Upload</a:t>
            </a:r>
            <a:endParaRPr lang="en-US" sz="1100" dirty="0"/>
          </a:p>
        </p:txBody>
      </p:sp>
      <p:sp>
        <p:nvSpPr>
          <p:cNvPr id="31" name="Text 29"/>
          <p:cNvSpPr/>
          <p:nvPr/>
        </p:nvSpPr>
        <p:spPr>
          <a:xfrm>
            <a:off x="6327648" y="3611880"/>
            <a:ext cx="2395728" cy="1051560"/>
          </a:xfrm>
          <a:prstGeom prst="rect">
            <a:avLst/>
          </a:prstGeom>
          <a:noFill/>
          <a:ln/>
        </p:spPr>
        <p:txBody>
          <a:bodyPr wrap="square" lIns="0" tIns="0" rIns="0" bIns="0" rtlCol="0" anchor="t"/>
          <a:lstStyle/>
          <a:p>
            <a:pPr indent="0" marL="0">
              <a:buNone/>
            </a:pPr>
            <a:r>
              <a:rPr lang="en-US" sz="950" dirty="0">
                <a:solidFill>
                  <a:srgbClr val="475569"/>
                </a:solidFill>
              </a:rPr>
              <a:t>Each action supports file evidence upload. Attach photos, documents, or emails as proof of completion.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Admin / Settings</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17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Admin / Settings</a:t>
            </a:r>
            <a:endParaRPr lang="en-US" sz="2400" dirty="0"/>
          </a:p>
        </p:txBody>
      </p:sp>
      <p:sp>
        <p:nvSpPr>
          <p:cNvPr id="7" name="Text 5"/>
          <p:cNvSpPr/>
          <p:nvPr/>
        </p:nvSpPr>
        <p:spPr>
          <a:xfrm>
            <a:off x="457200" y="960120"/>
            <a:ext cx="8229600" cy="320040"/>
          </a:xfrm>
          <a:prstGeom prst="rect">
            <a:avLst/>
          </a:prstGeom>
          <a:noFill/>
          <a:ln/>
        </p:spPr>
        <p:txBody>
          <a:bodyPr wrap="square" lIns="0" tIns="0" rIns="0" bIns="0" rtlCol="0" anchor="ctr"/>
          <a:lstStyle/>
          <a:p>
            <a:pPr indent="0" marL="0">
              <a:buNone/>
            </a:pPr>
            <a:r>
              <a:rPr lang="en-US" sz="1200" dirty="0">
                <a:solidFill>
                  <a:srgbClr val="64748B"/>
                </a:solidFill>
              </a:rPr>
              <a:t>Master data, user management, reference data, and system configuration — Admin access required</a:t>
            </a:r>
            <a:endParaRPr lang="en-US" sz="1200" dirty="0"/>
          </a:p>
        </p:txBody>
      </p:sp>
      <p:sp>
        <p:nvSpPr>
          <p:cNvPr id="8" name="Shape 6"/>
          <p:cNvSpPr/>
          <p:nvPr/>
        </p:nvSpPr>
        <p:spPr>
          <a:xfrm>
            <a:off x="457200" y="13716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2029968" cy="45720"/>
          </a:xfrm>
          <a:prstGeom prst="rect">
            <a:avLst/>
          </a:prstGeom>
          <a:solidFill>
            <a:srgbClr val="3A9B98"/>
          </a:solidFill>
          <a:ln w="12700">
            <a:solidFill>
              <a:srgbClr val="3A9B98"/>
            </a:solidFill>
            <a:prstDash val="solid"/>
          </a:ln>
        </p:spPr>
      </p:sp>
      <p:sp>
        <p:nvSpPr>
          <p:cNvPr id="10" name="Text 8"/>
          <p:cNvSpPr/>
          <p:nvPr/>
        </p:nvSpPr>
        <p:spPr>
          <a:xfrm>
            <a:off x="621792" y="14630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Departments</a:t>
            </a:r>
            <a:endParaRPr lang="en-US" sz="1100" dirty="0"/>
          </a:p>
        </p:txBody>
      </p:sp>
      <p:sp>
        <p:nvSpPr>
          <p:cNvPr id="11" name="Text 9"/>
          <p:cNvSpPr/>
          <p:nvPr/>
        </p:nvSpPr>
        <p:spPr>
          <a:xfrm>
            <a:off x="621792" y="1828800"/>
            <a:ext cx="1700784" cy="1051560"/>
          </a:xfrm>
          <a:prstGeom prst="rect">
            <a:avLst/>
          </a:prstGeom>
          <a:noFill/>
          <a:ln/>
        </p:spPr>
        <p:txBody>
          <a:bodyPr wrap="square" lIns="0" tIns="0" rIns="0" bIns="0" rtlCol="0" anchor="t"/>
          <a:lstStyle/>
          <a:p>
            <a:pPr indent="0" marL="0">
              <a:buNone/>
            </a:pPr>
            <a:r>
              <a:rPr lang="en-US" sz="950" dirty="0">
                <a:solidFill>
                  <a:srgbClr val="475569"/>
                </a:solidFill>
              </a:rPr>
              <a:t>Create and manage departments. Departments are used across all modules for ownership, filtering, and reporting.</a:t>
            </a:r>
            <a:endParaRPr lang="en-US" sz="950" dirty="0"/>
          </a:p>
        </p:txBody>
      </p:sp>
      <p:sp>
        <p:nvSpPr>
          <p:cNvPr id="12" name="Shape 10"/>
          <p:cNvSpPr/>
          <p:nvPr/>
        </p:nvSpPr>
        <p:spPr>
          <a:xfrm>
            <a:off x="2606040" y="13716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2606040" y="1371600"/>
            <a:ext cx="2029968" cy="45720"/>
          </a:xfrm>
          <a:prstGeom prst="rect">
            <a:avLst/>
          </a:prstGeom>
          <a:solidFill>
            <a:srgbClr val="3A9B98"/>
          </a:solidFill>
          <a:ln w="12700">
            <a:solidFill>
              <a:srgbClr val="3A9B98"/>
            </a:solidFill>
            <a:prstDash val="solid"/>
          </a:ln>
        </p:spPr>
      </p:sp>
      <p:sp>
        <p:nvSpPr>
          <p:cNvPr id="14" name="Text 12"/>
          <p:cNvSpPr/>
          <p:nvPr/>
        </p:nvSpPr>
        <p:spPr>
          <a:xfrm>
            <a:off x="2770632" y="14630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People &amp; Roles</a:t>
            </a:r>
            <a:endParaRPr lang="en-US" sz="1100" dirty="0"/>
          </a:p>
        </p:txBody>
      </p:sp>
      <p:sp>
        <p:nvSpPr>
          <p:cNvPr id="15" name="Text 13"/>
          <p:cNvSpPr/>
          <p:nvPr/>
        </p:nvSpPr>
        <p:spPr>
          <a:xfrm>
            <a:off x="2770632" y="1828800"/>
            <a:ext cx="1700784" cy="1051560"/>
          </a:xfrm>
          <a:prstGeom prst="rect">
            <a:avLst/>
          </a:prstGeom>
          <a:noFill/>
          <a:ln/>
        </p:spPr>
        <p:txBody>
          <a:bodyPr wrap="square" lIns="0" tIns="0" rIns="0" bIns="0" rtlCol="0" anchor="t"/>
          <a:lstStyle/>
          <a:p>
            <a:pPr indent="0" marL="0">
              <a:buNone/>
            </a:pPr>
            <a:r>
              <a:rPr lang="en-US" sz="950" dirty="0">
                <a:solidFill>
                  <a:srgbClr val="475569"/>
                </a:solidFill>
              </a:rPr>
              <a:t>Manage user accounts, assign system roles, and set individual module permission overrides.</a:t>
            </a:r>
            <a:endParaRPr lang="en-US" sz="950" dirty="0"/>
          </a:p>
        </p:txBody>
      </p:sp>
      <p:sp>
        <p:nvSpPr>
          <p:cNvPr id="16" name="Shape 14"/>
          <p:cNvSpPr/>
          <p:nvPr/>
        </p:nvSpPr>
        <p:spPr>
          <a:xfrm>
            <a:off x="4754880" y="13716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754880" y="1371600"/>
            <a:ext cx="2029968" cy="45720"/>
          </a:xfrm>
          <a:prstGeom prst="rect">
            <a:avLst/>
          </a:prstGeom>
          <a:solidFill>
            <a:srgbClr val="3A9B98"/>
          </a:solidFill>
          <a:ln w="12700">
            <a:solidFill>
              <a:srgbClr val="3A9B98"/>
            </a:solidFill>
            <a:prstDash val="solid"/>
          </a:ln>
        </p:spPr>
      </p:sp>
      <p:sp>
        <p:nvSpPr>
          <p:cNvPr id="18" name="Text 16"/>
          <p:cNvSpPr/>
          <p:nvPr/>
        </p:nvSpPr>
        <p:spPr>
          <a:xfrm>
            <a:off x="4919472" y="14630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Document Control</a:t>
            </a:r>
            <a:endParaRPr lang="en-US" sz="1100" dirty="0"/>
          </a:p>
        </p:txBody>
      </p:sp>
      <p:sp>
        <p:nvSpPr>
          <p:cNvPr id="19" name="Text 17"/>
          <p:cNvSpPr/>
          <p:nvPr/>
        </p:nvSpPr>
        <p:spPr>
          <a:xfrm>
            <a:off x="4919472" y="1828800"/>
            <a:ext cx="1700784" cy="1051560"/>
          </a:xfrm>
          <a:prstGeom prst="rect">
            <a:avLst/>
          </a:prstGeom>
          <a:noFill/>
          <a:ln/>
        </p:spPr>
        <p:txBody>
          <a:bodyPr wrap="square" lIns="0" tIns="0" rIns="0" bIns="0" rtlCol="0" anchor="t"/>
          <a:lstStyle/>
          <a:p>
            <a:pPr indent="0" marL="0">
              <a:buNone/>
            </a:pPr>
            <a:r>
              <a:rPr lang="en-US" sz="950" dirty="0">
                <a:solidFill>
                  <a:srgbClr val="475569"/>
                </a:solidFill>
              </a:rPr>
              <a:t>Configure document types, numbering formats, and default review cycles for Document Control.</a:t>
            </a:r>
            <a:endParaRPr lang="en-US" sz="950" dirty="0"/>
          </a:p>
        </p:txBody>
      </p:sp>
      <p:sp>
        <p:nvSpPr>
          <p:cNvPr id="20" name="Shape 18"/>
          <p:cNvSpPr/>
          <p:nvPr/>
        </p:nvSpPr>
        <p:spPr>
          <a:xfrm>
            <a:off x="6903720" y="137160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903720" y="1371600"/>
            <a:ext cx="2029968" cy="45720"/>
          </a:xfrm>
          <a:prstGeom prst="rect">
            <a:avLst/>
          </a:prstGeom>
          <a:solidFill>
            <a:srgbClr val="3A9B98"/>
          </a:solidFill>
          <a:ln w="12700">
            <a:solidFill>
              <a:srgbClr val="3A9B98"/>
            </a:solidFill>
            <a:prstDash val="solid"/>
          </a:ln>
        </p:spPr>
      </p:sp>
      <p:sp>
        <p:nvSpPr>
          <p:cNvPr id="22" name="Text 20"/>
          <p:cNvSpPr/>
          <p:nvPr/>
        </p:nvSpPr>
        <p:spPr>
          <a:xfrm>
            <a:off x="7068312" y="146304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Assets</a:t>
            </a:r>
            <a:endParaRPr lang="en-US" sz="1100" dirty="0"/>
          </a:p>
        </p:txBody>
      </p:sp>
      <p:sp>
        <p:nvSpPr>
          <p:cNvPr id="23" name="Text 21"/>
          <p:cNvSpPr/>
          <p:nvPr/>
        </p:nvSpPr>
        <p:spPr>
          <a:xfrm>
            <a:off x="7068312" y="1828800"/>
            <a:ext cx="1700784" cy="1051560"/>
          </a:xfrm>
          <a:prstGeom prst="rect">
            <a:avLst/>
          </a:prstGeom>
          <a:noFill/>
          <a:ln/>
        </p:spPr>
        <p:txBody>
          <a:bodyPr wrap="square" lIns="0" tIns="0" rIns="0" bIns="0" rtlCol="0" anchor="t"/>
          <a:lstStyle/>
          <a:p>
            <a:pPr indent="0" marL="0">
              <a:buNone/>
            </a:pPr>
            <a:r>
              <a:rPr lang="en-US" sz="950" dirty="0">
                <a:solidFill>
                  <a:srgbClr val="475569"/>
                </a:solidFill>
              </a:rPr>
              <a:t>Configure asset categories, asset ID codes, and default inspection types for Asset Management.</a:t>
            </a:r>
            <a:endParaRPr lang="en-US" sz="950" dirty="0"/>
          </a:p>
        </p:txBody>
      </p:sp>
      <p:sp>
        <p:nvSpPr>
          <p:cNvPr id="24" name="Shape 22"/>
          <p:cNvSpPr/>
          <p:nvPr/>
        </p:nvSpPr>
        <p:spPr>
          <a:xfrm>
            <a:off x="457200" y="315468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457200" y="3154680"/>
            <a:ext cx="2029968" cy="45720"/>
          </a:xfrm>
          <a:prstGeom prst="rect">
            <a:avLst/>
          </a:prstGeom>
          <a:solidFill>
            <a:srgbClr val="3A9B98"/>
          </a:solidFill>
          <a:ln w="12700">
            <a:solidFill>
              <a:srgbClr val="3A9B98"/>
            </a:solidFill>
            <a:prstDash val="solid"/>
          </a:ln>
        </p:spPr>
      </p:sp>
      <p:sp>
        <p:nvSpPr>
          <p:cNvPr id="26" name="Text 24"/>
          <p:cNvSpPr/>
          <p:nvPr/>
        </p:nvSpPr>
        <p:spPr>
          <a:xfrm>
            <a:off x="621792" y="324612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Risk</a:t>
            </a:r>
            <a:endParaRPr lang="en-US" sz="1100" dirty="0"/>
          </a:p>
        </p:txBody>
      </p:sp>
      <p:sp>
        <p:nvSpPr>
          <p:cNvPr id="27" name="Text 25"/>
          <p:cNvSpPr/>
          <p:nvPr/>
        </p:nvSpPr>
        <p:spPr>
          <a:xfrm>
            <a:off x="621792" y="3611880"/>
            <a:ext cx="1700784" cy="1051560"/>
          </a:xfrm>
          <a:prstGeom prst="rect">
            <a:avLst/>
          </a:prstGeom>
          <a:noFill/>
          <a:ln/>
        </p:spPr>
        <p:txBody>
          <a:bodyPr wrap="square" lIns="0" tIns="0" rIns="0" bIns="0" rtlCol="0" anchor="t"/>
          <a:lstStyle/>
          <a:p>
            <a:pPr indent="0" marL="0">
              <a:buNone/>
            </a:pPr>
            <a:r>
              <a:rPr lang="en-US" sz="950" dirty="0">
                <a:solidFill>
                  <a:srgbClr val="475569"/>
                </a:solidFill>
              </a:rPr>
              <a:t>Set risk rating matrices, risk categories, and review cycle defaults for the Risk module.</a:t>
            </a:r>
            <a:endParaRPr lang="en-US" sz="950" dirty="0"/>
          </a:p>
        </p:txBody>
      </p:sp>
      <p:sp>
        <p:nvSpPr>
          <p:cNvPr id="28" name="Shape 26"/>
          <p:cNvSpPr/>
          <p:nvPr/>
        </p:nvSpPr>
        <p:spPr>
          <a:xfrm>
            <a:off x="2606040" y="315468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606040" y="3154680"/>
            <a:ext cx="2029968" cy="45720"/>
          </a:xfrm>
          <a:prstGeom prst="rect">
            <a:avLst/>
          </a:prstGeom>
          <a:solidFill>
            <a:srgbClr val="3A9B98"/>
          </a:solidFill>
          <a:ln w="12700">
            <a:solidFill>
              <a:srgbClr val="3A9B98"/>
            </a:solidFill>
            <a:prstDash val="solid"/>
          </a:ln>
        </p:spPr>
      </p:sp>
      <p:sp>
        <p:nvSpPr>
          <p:cNvPr id="30" name="Text 28"/>
          <p:cNvSpPr/>
          <p:nvPr/>
        </p:nvSpPr>
        <p:spPr>
          <a:xfrm>
            <a:off x="2770632" y="324612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Actions</a:t>
            </a:r>
            <a:endParaRPr lang="en-US" sz="1100" dirty="0"/>
          </a:p>
        </p:txBody>
      </p:sp>
      <p:sp>
        <p:nvSpPr>
          <p:cNvPr id="31" name="Text 29"/>
          <p:cNvSpPr/>
          <p:nvPr/>
        </p:nvSpPr>
        <p:spPr>
          <a:xfrm>
            <a:off x="2770632" y="3611880"/>
            <a:ext cx="1700784" cy="1051560"/>
          </a:xfrm>
          <a:prstGeom prst="rect">
            <a:avLst/>
          </a:prstGeom>
          <a:noFill/>
          <a:ln/>
        </p:spPr>
        <p:txBody>
          <a:bodyPr wrap="square" lIns="0" tIns="0" rIns="0" bIns="0" rtlCol="0" anchor="t"/>
          <a:lstStyle/>
          <a:p>
            <a:pPr indent="0" marL="0">
              <a:buNone/>
            </a:pPr>
            <a:r>
              <a:rPr lang="en-US" sz="950" dirty="0">
                <a:solidFill>
                  <a:srgbClr val="475569"/>
                </a:solidFill>
              </a:rPr>
              <a:t>Configure action categories, priority levels, and default escalation rules.</a:t>
            </a:r>
            <a:endParaRPr lang="en-US" sz="950" dirty="0"/>
          </a:p>
        </p:txBody>
      </p:sp>
      <p:sp>
        <p:nvSpPr>
          <p:cNvPr id="32" name="Shape 30"/>
          <p:cNvSpPr/>
          <p:nvPr/>
        </p:nvSpPr>
        <p:spPr>
          <a:xfrm>
            <a:off x="4754880" y="3154680"/>
            <a:ext cx="2029968" cy="164592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33" name="Shape 31"/>
          <p:cNvSpPr/>
          <p:nvPr/>
        </p:nvSpPr>
        <p:spPr>
          <a:xfrm>
            <a:off x="4754880" y="3154680"/>
            <a:ext cx="2029968" cy="45720"/>
          </a:xfrm>
          <a:prstGeom prst="rect">
            <a:avLst/>
          </a:prstGeom>
          <a:solidFill>
            <a:srgbClr val="3A9B98"/>
          </a:solidFill>
          <a:ln w="12700">
            <a:solidFill>
              <a:srgbClr val="3A9B98"/>
            </a:solidFill>
            <a:prstDash val="solid"/>
          </a:ln>
        </p:spPr>
      </p:sp>
      <p:sp>
        <p:nvSpPr>
          <p:cNvPr id="34" name="Text 32"/>
          <p:cNvSpPr/>
          <p:nvPr/>
        </p:nvSpPr>
        <p:spPr>
          <a:xfrm>
            <a:off x="4919472" y="3246120"/>
            <a:ext cx="1755648" cy="320040"/>
          </a:xfrm>
          <a:prstGeom prst="rect">
            <a:avLst/>
          </a:prstGeom>
          <a:noFill/>
          <a:ln/>
        </p:spPr>
        <p:txBody>
          <a:bodyPr wrap="square" lIns="0" tIns="0" rIns="0" bIns="0" rtlCol="0" anchor="ctr"/>
          <a:lstStyle/>
          <a:p>
            <a:pPr indent="0" marL="0">
              <a:buNone/>
            </a:pPr>
            <a:r>
              <a:rPr lang="en-US" sz="1100" b="1" dirty="0">
                <a:solidFill>
                  <a:srgbClr val="0F172A"/>
                </a:solidFill>
              </a:rPr>
              <a:t>⚙️  System</a:t>
            </a:r>
            <a:endParaRPr lang="en-US" sz="1100" dirty="0"/>
          </a:p>
        </p:txBody>
      </p:sp>
      <p:sp>
        <p:nvSpPr>
          <p:cNvPr id="35" name="Text 33"/>
          <p:cNvSpPr/>
          <p:nvPr/>
        </p:nvSpPr>
        <p:spPr>
          <a:xfrm>
            <a:off x="4919472" y="3611880"/>
            <a:ext cx="1700784" cy="1051560"/>
          </a:xfrm>
          <a:prstGeom prst="rect">
            <a:avLst/>
          </a:prstGeom>
          <a:noFill/>
          <a:ln/>
        </p:spPr>
        <p:txBody>
          <a:bodyPr wrap="square" lIns="0" tIns="0" rIns="0" bIns="0" rtlCol="0" anchor="t"/>
          <a:lstStyle/>
          <a:p>
            <a:pPr indent="0" marL="0">
              <a:buNone/>
            </a:pPr>
            <a:r>
              <a:rPr lang="en-US" sz="950" dirty="0">
                <a:solidFill>
                  <a:srgbClr val="475569"/>
                </a:solidFill>
              </a:rPr>
              <a:t>System-level settings — company name, branding, session configuration, and audit log.</a:t>
            </a:r>
            <a:endParaRPr lang="en-US" sz="950" dirty="0"/>
          </a:p>
        </p:txBody>
      </p:sp>
      <p:sp>
        <p:nvSpPr>
          <p:cNvPr id="36" name="Shape 34"/>
          <p:cNvSpPr/>
          <p:nvPr/>
        </p:nvSpPr>
        <p:spPr>
          <a:xfrm>
            <a:off x="457200" y="4663440"/>
            <a:ext cx="8229600" cy="347472"/>
          </a:xfrm>
          <a:prstGeom prst="rect">
            <a:avLst/>
          </a:prstGeom>
          <a:solidFill>
            <a:srgbClr val="FEF3C7"/>
          </a:solidFill>
          <a:ln w="12700">
            <a:solidFill>
              <a:srgbClr val="F59E0B"/>
            </a:solidFill>
            <a:prstDash val="solid"/>
          </a:ln>
        </p:spPr>
      </p:sp>
      <p:sp>
        <p:nvSpPr>
          <p:cNvPr id="37" name="Text 35"/>
          <p:cNvSpPr/>
          <p:nvPr/>
        </p:nvSpPr>
        <p:spPr>
          <a:xfrm>
            <a:off x="594360" y="4700016"/>
            <a:ext cx="7863840" cy="256032"/>
          </a:xfrm>
          <a:prstGeom prst="rect">
            <a:avLst/>
          </a:prstGeom>
          <a:noFill/>
          <a:ln/>
        </p:spPr>
        <p:txBody>
          <a:bodyPr wrap="square" lIns="0" tIns="0" rIns="0" bIns="0" rtlCol="0" anchor="ctr"/>
          <a:lstStyle/>
          <a:p>
            <a:pPr indent="0" marL="0">
              <a:buNone/>
            </a:pPr>
            <a:r>
              <a:rPr lang="en-US" sz="900" dirty="0">
                <a:solidFill>
                  <a:srgbClr val="92400E"/>
                </a:solidFill>
              </a:rPr>
              <a:t>⚠️  Admin / Settings is only accessible to users with the Admin role. Contact your System Administrator if you need changes made.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Tips &amp; Best Practices</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18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Tips &amp; Best Practices</a:t>
            </a:r>
            <a:endParaRPr lang="en-US" sz="2400" dirty="0"/>
          </a:p>
        </p:txBody>
      </p:sp>
      <p:sp>
        <p:nvSpPr>
          <p:cNvPr id="7" name="Shape 5"/>
          <p:cNvSpPr/>
          <p:nvPr/>
        </p:nvSpPr>
        <p:spPr>
          <a:xfrm>
            <a:off x="457200" y="1097280"/>
            <a:ext cx="4206240" cy="804672"/>
          </a:xfrm>
          <a:prstGeom prst="rect">
            <a:avLst/>
          </a:prstGeom>
          <a:solidFill>
            <a:srgbClr val="FFFFFF"/>
          </a:solidFill>
          <a:ln w="12700">
            <a:solidFill>
              <a:srgbClr val="DBE3EF"/>
            </a:solidFill>
            <a:prstDash val="solid"/>
          </a:ln>
        </p:spPr>
      </p:sp>
      <p:sp>
        <p:nvSpPr>
          <p:cNvPr id="8" name="Text 6"/>
          <p:cNvSpPr/>
          <p:nvPr/>
        </p:nvSpPr>
        <p:spPr>
          <a:xfrm>
            <a:off x="548640" y="117043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1005840" y="1152144"/>
            <a:ext cx="3520440" cy="256032"/>
          </a:xfrm>
          <a:prstGeom prst="rect">
            <a:avLst/>
          </a:prstGeom>
          <a:noFill/>
          <a:ln/>
        </p:spPr>
        <p:txBody>
          <a:bodyPr wrap="square" lIns="0" tIns="0" rIns="0" bIns="0" rtlCol="0" anchor="ctr"/>
          <a:lstStyle/>
          <a:p>
            <a:pPr indent="0" marL="0">
              <a:buNone/>
            </a:pPr>
            <a:r>
              <a:rPr lang="en-US" sz="1000" b="1" dirty="0">
                <a:solidFill>
                  <a:srgbClr val="0F172A"/>
                </a:solidFill>
              </a:rPr>
              <a:t>Document Numbering</a:t>
            </a:r>
            <a:endParaRPr lang="en-US" sz="1000" dirty="0"/>
          </a:p>
        </p:txBody>
      </p:sp>
      <p:sp>
        <p:nvSpPr>
          <p:cNvPr id="10" name="Text 8"/>
          <p:cNvSpPr/>
          <p:nvPr/>
        </p:nvSpPr>
        <p:spPr>
          <a:xfrm>
            <a:off x="1005840" y="1417320"/>
            <a:ext cx="3520440" cy="420624"/>
          </a:xfrm>
          <a:prstGeom prst="rect">
            <a:avLst/>
          </a:prstGeom>
          <a:noFill/>
          <a:ln/>
        </p:spPr>
        <p:txBody>
          <a:bodyPr wrap="square" lIns="0" tIns="0" rIns="0" bIns="0" rtlCol="0" anchor="ctr"/>
          <a:lstStyle/>
          <a:p>
            <a:pPr indent="0" marL="0">
              <a:buNone/>
            </a:pPr>
            <a:r>
              <a:rPr lang="en-US" sz="850" dirty="0">
                <a:solidFill>
                  <a:srgbClr val="475569"/>
                </a:solidFill>
              </a:rPr>
              <a:t>Document numbers are auto-generated from Department + Document Type + Sequence. Always select the correct Department and Type to get the right number format.</a:t>
            </a:r>
            <a:endParaRPr lang="en-US" sz="850" dirty="0"/>
          </a:p>
        </p:txBody>
      </p:sp>
      <p:sp>
        <p:nvSpPr>
          <p:cNvPr id="11" name="Shape 9"/>
          <p:cNvSpPr/>
          <p:nvPr/>
        </p:nvSpPr>
        <p:spPr>
          <a:xfrm>
            <a:off x="4846320" y="1097280"/>
            <a:ext cx="4206240" cy="804672"/>
          </a:xfrm>
          <a:prstGeom prst="rect">
            <a:avLst/>
          </a:prstGeom>
          <a:solidFill>
            <a:srgbClr val="FFFFFF"/>
          </a:solidFill>
          <a:ln w="12700">
            <a:solidFill>
              <a:srgbClr val="DBE3EF"/>
            </a:solidFill>
            <a:prstDash val="solid"/>
          </a:ln>
        </p:spPr>
      </p:sp>
      <p:sp>
        <p:nvSpPr>
          <p:cNvPr id="12" name="Text 10"/>
          <p:cNvSpPr/>
          <p:nvPr/>
        </p:nvSpPr>
        <p:spPr>
          <a:xfrm>
            <a:off x="4937760" y="117043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3" name="Text 11"/>
          <p:cNvSpPr/>
          <p:nvPr/>
        </p:nvSpPr>
        <p:spPr>
          <a:xfrm>
            <a:off x="5394960" y="1152144"/>
            <a:ext cx="3520440" cy="256032"/>
          </a:xfrm>
          <a:prstGeom prst="rect">
            <a:avLst/>
          </a:prstGeom>
          <a:noFill/>
          <a:ln/>
        </p:spPr>
        <p:txBody>
          <a:bodyPr wrap="square" lIns="0" tIns="0" rIns="0" bIns="0" rtlCol="0" anchor="ctr"/>
          <a:lstStyle/>
          <a:p>
            <a:pPr indent="0" marL="0">
              <a:buNone/>
            </a:pPr>
            <a:r>
              <a:rPr lang="en-US" sz="1000" b="1" dirty="0">
                <a:solidFill>
                  <a:srgbClr val="0F172A"/>
                </a:solidFill>
              </a:rPr>
              <a:t>Keep People Records Updated</a:t>
            </a:r>
            <a:endParaRPr lang="en-US" sz="1000" dirty="0"/>
          </a:p>
        </p:txBody>
      </p:sp>
      <p:sp>
        <p:nvSpPr>
          <p:cNvPr id="14" name="Text 12"/>
          <p:cNvSpPr/>
          <p:nvPr/>
        </p:nvSpPr>
        <p:spPr>
          <a:xfrm>
            <a:off x="5394960" y="1417320"/>
            <a:ext cx="3520440" cy="420624"/>
          </a:xfrm>
          <a:prstGeom prst="rect">
            <a:avLst/>
          </a:prstGeom>
          <a:noFill/>
          <a:ln/>
        </p:spPr>
        <p:txBody>
          <a:bodyPr wrap="square" lIns="0" tIns="0" rIns="0" bIns="0" rtlCol="0" anchor="ctr"/>
          <a:lstStyle/>
          <a:p>
            <a:pPr indent="0" marL="0">
              <a:buNone/>
            </a:pPr>
            <a:r>
              <a:rPr lang="en-US" sz="850" dirty="0">
                <a:solidFill>
                  <a:srgbClr val="475569"/>
                </a:solidFill>
              </a:rPr>
              <a:t>All workflow notifications rely on the email in the People register. Always update a person's email when it changes.</a:t>
            </a:r>
            <a:endParaRPr lang="en-US" sz="850" dirty="0"/>
          </a:p>
        </p:txBody>
      </p:sp>
      <p:sp>
        <p:nvSpPr>
          <p:cNvPr id="15" name="Shape 13"/>
          <p:cNvSpPr/>
          <p:nvPr/>
        </p:nvSpPr>
        <p:spPr>
          <a:xfrm>
            <a:off x="457200" y="2011680"/>
            <a:ext cx="4206240" cy="804672"/>
          </a:xfrm>
          <a:prstGeom prst="rect">
            <a:avLst/>
          </a:prstGeom>
          <a:solidFill>
            <a:srgbClr val="EEF8F7"/>
          </a:solidFill>
          <a:ln w="12700">
            <a:solidFill>
              <a:srgbClr val="DBE3EF"/>
            </a:solidFill>
            <a:prstDash val="solid"/>
          </a:ln>
        </p:spPr>
      </p:sp>
      <p:sp>
        <p:nvSpPr>
          <p:cNvPr id="16" name="Text 14"/>
          <p:cNvSpPr/>
          <p:nvPr/>
        </p:nvSpPr>
        <p:spPr>
          <a:xfrm>
            <a:off x="548640" y="208483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1005840" y="2066544"/>
            <a:ext cx="3520440" cy="256032"/>
          </a:xfrm>
          <a:prstGeom prst="rect">
            <a:avLst/>
          </a:prstGeom>
          <a:noFill/>
          <a:ln/>
        </p:spPr>
        <p:txBody>
          <a:bodyPr wrap="square" lIns="0" tIns="0" rIns="0" bIns="0" rtlCol="0" anchor="ctr"/>
          <a:lstStyle/>
          <a:p>
            <a:pPr indent="0" marL="0">
              <a:buNone/>
            </a:pPr>
            <a:r>
              <a:rPr lang="en-US" sz="1000" b="1" dirty="0">
                <a:solidFill>
                  <a:srgbClr val="0F172A"/>
                </a:solidFill>
              </a:rPr>
              <a:t>Upload Evidence</a:t>
            </a:r>
            <a:endParaRPr lang="en-US" sz="1000" dirty="0"/>
          </a:p>
        </p:txBody>
      </p:sp>
      <p:sp>
        <p:nvSpPr>
          <p:cNvPr id="18" name="Text 16"/>
          <p:cNvSpPr/>
          <p:nvPr/>
        </p:nvSpPr>
        <p:spPr>
          <a:xfrm>
            <a:off x="1005840" y="2331720"/>
            <a:ext cx="3520440" cy="420624"/>
          </a:xfrm>
          <a:prstGeom prst="rect">
            <a:avLst/>
          </a:prstGeom>
          <a:noFill/>
          <a:ln/>
        </p:spPr>
        <p:txBody>
          <a:bodyPr wrap="square" lIns="0" tIns="0" rIns="0" bIns="0" rtlCol="0" anchor="ctr"/>
          <a:lstStyle/>
          <a:p>
            <a:pPr indent="0" marL="0">
              <a:buNone/>
            </a:pPr>
            <a:r>
              <a:rPr lang="en-US" sz="850" dirty="0">
                <a:solidFill>
                  <a:srgbClr val="475569"/>
                </a:solidFill>
              </a:rPr>
              <a:t>Wherever an evidence file upload is available, use it. Attaching proof of closure (photos, emails, certificates) makes audits far simpler.</a:t>
            </a:r>
            <a:endParaRPr lang="en-US" sz="850" dirty="0"/>
          </a:p>
        </p:txBody>
      </p:sp>
      <p:sp>
        <p:nvSpPr>
          <p:cNvPr id="19" name="Shape 17"/>
          <p:cNvSpPr/>
          <p:nvPr/>
        </p:nvSpPr>
        <p:spPr>
          <a:xfrm>
            <a:off x="4846320" y="2011680"/>
            <a:ext cx="4206240" cy="804672"/>
          </a:xfrm>
          <a:prstGeom prst="rect">
            <a:avLst/>
          </a:prstGeom>
          <a:solidFill>
            <a:srgbClr val="EEF8F7"/>
          </a:solidFill>
          <a:ln w="12700">
            <a:solidFill>
              <a:srgbClr val="DBE3EF"/>
            </a:solidFill>
            <a:prstDash val="solid"/>
          </a:ln>
        </p:spPr>
      </p:sp>
      <p:sp>
        <p:nvSpPr>
          <p:cNvPr id="20" name="Text 18"/>
          <p:cNvSpPr/>
          <p:nvPr/>
        </p:nvSpPr>
        <p:spPr>
          <a:xfrm>
            <a:off x="4937760" y="208483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1" name="Text 19"/>
          <p:cNvSpPr/>
          <p:nvPr/>
        </p:nvSpPr>
        <p:spPr>
          <a:xfrm>
            <a:off x="5394960" y="2066544"/>
            <a:ext cx="3520440" cy="256032"/>
          </a:xfrm>
          <a:prstGeom prst="rect">
            <a:avLst/>
          </a:prstGeom>
          <a:noFill/>
          <a:ln/>
        </p:spPr>
        <p:txBody>
          <a:bodyPr wrap="square" lIns="0" tIns="0" rIns="0" bIns="0" rtlCol="0" anchor="ctr"/>
          <a:lstStyle/>
          <a:p>
            <a:pPr indent="0" marL="0">
              <a:buNone/>
            </a:pPr>
            <a:r>
              <a:rPr lang="en-US" sz="1000" b="1" dirty="0">
                <a:solidFill>
                  <a:srgbClr val="0F172A"/>
                </a:solidFill>
              </a:rPr>
              <a:t>Use the Workflow Tab</a:t>
            </a:r>
            <a:endParaRPr lang="en-US" sz="1000" dirty="0"/>
          </a:p>
        </p:txBody>
      </p:sp>
      <p:sp>
        <p:nvSpPr>
          <p:cNvPr id="22" name="Text 20"/>
          <p:cNvSpPr/>
          <p:nvPr/>
        </p:nvSpPr>
        <p:spPr>
          <a:xfrm>
            <a:off x="5394960" y="2331720"/>
            <a:ext cx="3520440" cy="420624"/>
          </a:xfrm>
          <a:prstGeom prst="rect">
            <a:avLst/>
          </a:prstGeom>
          <a:noFill/>
          <a:ln/>
        </p:spPr>
        <p:txBody>
          <a:bodyPr wrap="square" lIns="0" tIns="0" rIns="0" bIns="0" rtlCol="0" anchor="ctr"/>
          <a:lstStyle/>
          <a:p>
            <a:pPr indent="0" marL="0">
              <a:buNone/>
            </a:pPr>
            <a:r>
              <a:rPr lang="en-US" sz="850" dirty="0">
                <a:solidFill>
                  <a:srgbClr val="475569"/>
                </a:solidFill>
              </a:rPr>
              <a:t>Don't email people to review or approve documents. Submit via the system — they receive a notification email with a direct link.</a:t>
            </a:r>
            <a:endParaRPr lang="en-US" sz="850" dirty="0"/>
          </a:p>
        </p:txBody>
      </p:sp>
      <p:sp>
        <p:nvSpPr>
          <p:cNvPr id="23" name="Shape 21"/>
          <p:cNvSpPr/>
          <p:nvPr/>
        </p:nvSpPr>
        <p:spPr>
          <a:xfrm>
            <a:off x="457200" y="2926080"/>
            <a:ext cx="4206240" cy="804672"/>
          </a:xfrm>
          <a:prstGeom prst="rect">
            <a:avLst/>
          </a:prstGeom>
          <a:solidFill>
            <a:srgbClr val="FFFFFF"/>
          </a:solidFill>
          <a:ln w="12700">
            <a:solidFill>
              <a:srgbClr val="DBE3EF"/>
            </a:solidFill>
            <a:prstDash val="solid"/>
          </a:ln>
        </p:spPr>
      </p:sp>
      <p:sp>
        <p:nvSpPr>
          <p:cNvPr id="24" name="Text 22"/>
          <p:cNvSpPr/>
          <p:nvPr/>
        </p:nvSpPr>
        <p:spPr>
          <a:xfrm>
            <a:off x="548640" y="299923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5" name="Text 23"/>
          <p:cNvSpPr/>
          <p:nvPr/>
        </p:nvSpPr>
        <p:spPr>
          <a:xfrm>
            <a:off x="1005840" y="2980944"/>
            <a:ext cx="3520440" cy="256032"/>
          </a:xfrm>
          <a:prstGeom prst="rect">
            <a:avLst/>
          </a:prstGeom>
          <a:noFill/>
          <a:ln/>
        </p:spPr>
        <p:txBody>
          <a:bodyPr wrap="square" lIns="0" tIns="0" rIns="0" bIns="0" rtlCol="0" anchor="ctr"/>
          <a:lstStyle/>
          <a:p>
            <a:pPr indent="0" marL="0">
              <a:buNone/>
            </a:pPr>
            <a:r>
              <a:rPr lang="en-US" sz="1000" b="1" dirty="0">
                <a:solidFill>
                  <a:srgbClr val="0F172A"/>
                </a:solidFill>
              </a:rPr>
              <a:t>Close Actions Promptly</a:t>
            </a:r>
            <a:endParaRPr lang="en-US" sz="1000" dirty="0"/>
          </a:p>
        </p:txBody>
      </p:sp>
      <p:sp>
        <p:nvSpPr>
          <p:cNvPr id="26" name="Text 24"/>
          <p:cNvSpPr/>
          <p:nvPr/>
        </p:nvSpPr>
        <p:spPr>
          <a:xfrm>
            <a:off x="1005840" y="3246120"/>
            <a:ext cx="3520440" cy="420624"/>
          </a:xfrm>
          <a:prstGeom prst="rect">
            <a:avLst/>
          </a:prstGeom>
          <a:noFill/>
          <a:ln/>
        </p:spPr>
        <p:txBody>
          <a:bodyPr wrap="square" lIns="0" tIns="0" rIns="0" bIns="0" rtlCol="0" anchor="ctr"/>
          <a:lstStyle/>
          <a:p>
            <a:pPr indent="0" marL="0">
              <a:buNone/>
            </a:pPr>
            <a:r>
              <a:rPr lang="en-US" sz="850" dirty="0">
                <a:solidFill>
                  <a:srgbClr val="475569"/>
                </a:solidFill>
              </a:rPr>
              <a:t>Overdue actions affect your Quality and HSE KPI dashboards. Close actions as soon as work is complete — don't leave them open unnecessarily.</a:t>
            </a:r>
            <a:endParaRPr lang="en-US" sz="850" dirty="0"/>
          </a:p>
        </p:txBody>
      </p:sp>
      <p:sp>
        <p:nvSpPr>
          <p:cNvPr id="27" name="Shape 25"/>
          <p:cNvSpPr/>
          <p:nvPr/>
        </p:nvSpPr>
        <p:spPr>
          <a:xfrm>
            <a:off x="4846320" y="2926080"/>
            <a:ext cx="4206240" cy="804672"/>
          </a:xfrm>
          <a:prstGeom prst="rect">
            <a:avLst/>
          </a:prstGeom>
          <a:solidFill>
            <a:srgbClr val="FFFFFF"/>
          </a:solidFill>
          <a:ln w="12700">
            <a:solidFill>
              <a:srgbClr val="DBE3EF"/>
            </a:solidFill>
            <a:prstDash val="solid"/>
          </a:ln>
        </p:spPr>
      </p:sp>
      <p:sp>
        <p:nvSpPr>
          <p:cNvPr id="28" name="Text 26"/>
          <p:cNvSpPr/>
          <p:nvPr/>
        </p:nvSpPr>
        <p:spPr>
          <a:xfrm>
            <a:off x="4937760" y="299923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9" name="Text 27"/>
          <p:cNvSpPr/>
          <p:nvPr/>
        </p:nvSpPr>
        <p:spPr>
          <a:xfrm>
            <a:off x="5394960" y="2980944"/>
            <a:ext cx="3520440" cy="256032"/>
          </a:xfrm>
          <a:prstGeom prst="rect">
            <a:avLst/>
          </a:prstGeom>
          <a:noFill/>
          <a:ln/>
        </p:spPr>
        <p:txBody>
          <a:bodyPr wrap="square" lIns="0" tIns="0" rIns="0" bIns="0" rtlCol="0" anchor="ctr"/>
          <a:lstStyle/>
          <a:p>
            <a:pPr indent="0" marL="0">
              <a:buNone/>
            </a:pPr>
            <a:r>
              <a:rPr lang="en-US" sz="1000" b="1" dirty="0">
                <a:solidFill>
                  <a:srgbClr val="0F172A"/>
                </a:solidFill>
              </a:rPr>
              <a:t>Check Dashboards Weekly</a:t>
            </a:r>
            <a:endParaRPr lang="en-US" sz="1000" dirty="0"/>
          </a:p>
        </p:txBody>
      </p:sp>
      <p:sp>
        <p:nvSpPr>
          <p:cNvPr id="30" name="Text 28"/>
          <p:cNvSpPr/>
          <p:nvPr/>
        </p:nvSpPr>
        <p:spPr>
          <a:xfrm>
            <a:off x="5394960" y="3246120"/>
            <a:ext cx="3520440" cy="420624"/>
          </a:xfrm>
          <a:prstGeom prst="rect">
            <a:avLst/>
          </a:prstGeom>
          <a:noFill/>
          <a:ln/>
        </p:spPr>
        <p:txBody>
          <a:bodyPr wrap="square" lIns="0" tIns="0" rIns="0" bIns="0" rtlCol="0" anchor="ctr"/>
          <a:lstStyle/>
          <a:p>
            <a:pPr indent="0" marL="0">
              <a:buNone/>
            </a:pPr>
            <a:r>
              <a:rPr lang="en-US" sz="850" dirty="0">
                <a:solidFill>
                  <a:srgbClr val="475569"/>
                </a:solidFill>
              </a:rPr>
              <a:t>Each module's dashboard is the quickest way to see what needs attention. A 5-minute weekly check prevents things from going overdue.</a:t>
            </a:r>
            <a:endParaRPr lang="en-US" sz="850" dirty="0"/>
          </a:p>
        </p:txBody>
      </p:sp>
      <p:sp>
        <p:nvSpPr>
          <p:cNvPr id="31" name="Shape 29"/>
          <p:cNvSpPr/>
          <p:nvPr/>
        </p:nvSpPr>
        <p:spPr>
          <a:xfrm>
            <a:off x="457200" y="3840480"/>
            <a:ext cx="4206240" cy="804672"/>
          </a:xfrm>
          <a:prstGeom prst="rect">
            <a:avLst/>
          </a:prstGeom>
          <a:solidFill>
            <a:srgbClr val="EEF8F7"/>
          </a:solidFill>
          <a:ln w="12700">
            <a:solidFill>
              <a:srgbClr val="DBE3EF"/>
            </a:solidFill>
            <a:prstDash val="solid"/>
          </a:ln>
        </p:spPr>
      </p:sp>
      <p:sp>
        <p:nvSpPr>
          <p:cNvPr id="32" name="Text 30"/>
          <p:cNvSpPr/>
          <p:nvPr/>
        </p:nvSpPr>
        <p:spPr>
          <a:xfrm>
            <a:off x="548640" y="391363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3" name="Text 31"/>
          <p:cNvSpPr/>
          <p:nvPr/>
        </p:nvSpPr>
        <p:spPr>
          <a:xfrm>
            <a:off x="1005840" y="3895344"/>
            <a:ext cx="3520440" cy="256032"/>
          </a:xfrm>
          <a:prstGeom prst="rect">
            <a:avLst/>
          </a:prstGeom>
          <a:noFill/>
          <a:ln/>
        </p:spPr>
        <p:txBody>
          <a:bodyPr wrap="square" lIns="0" tIns="0" rIns="0" bIns="0" rtlCol="0" anchor="ctr"/>
          <a:lstStyle/>
          <a:p>
            <a:pPr indent="0" marL="0">
              <a:buNone/>
            </a:pPr>
            <a:r>
              <a:rPr lang="en-US" sz="1000" b="1" dirty="0">
                <a:solidFill>
                  <a:srgbClr val="0F172A"/>
                </a:solidFill>
              </a:rPr>
              <a:t>Use Filters</a:t>
            </a:r>
            <a:endParaRPr lang="en-US" sz="1000" dirty="0"/>
          </a:p>
        </p:txBody>
      </p:sp>
      <p:sp>
        <p:nvSpPr>
          <p:cNvPr id="34" name="Text 32"/>
          <p:cNvSpPr/>
          <p:nvPr/>
        </p:nvSpPr>
        <p:spPr>
          <a:xfrm>
            <a:off x="1005840" y="4160520"/>
            <a:ext cx="3520440" cy="420624"/>
          </a:xfrm>
          <a:prstGeom prst="rect">
            <a:avLst/>
          </a:prstGeom>
          <a:noFill/>
          <a:ln/>
        </p:spPr>
        <p:txBody>
          <a:bodyPr wrap="square" lIns="0" tIns="0" rIns="0" bIns="0" rtlCol="0" anchor="ctr"/>
          <a:lstStyle/>
          <a:p>
            <a:pPr indent="0" marL="0">
              <a:buNone/>
            </a:pPr>
            <a:r>
              <a:rPr lang="en-US" sz="850" dirty="0">
                <a:solidFill>
                  <a:srgbClr val="475569"/>
                </a:solidFill>
              </a:rPr>
              <a:t>Every register has search and filter options. Use Department, Status, Type, and Date filters to quickly find what you need.</a:t>
            </a:r>
            <a:endParaRPr lang="en-US" sz="850" dirty="0"/>
          </a:p>
        </p:txBody>
      </p:sp>
      <p:sp>
        <p:nvSpPr>
          <p:cNvPr id="35" name="Shape 33"/>
          <p:cNvSpPr/>
          <p:nvPr/>
        </p:nvSpPr>
        <p:spPr>
          <a:xfrm>
            <a:off x="4846320" y="3840480"/>
            <a:ext cx="4206240" cy="804672"/>
          </a:xfrm>
          <a:prstGeom prst="rect">
            <a:avLst/>
          </a:prstGeom>
          <a:solidFill>
            <a:srgbClr val="EEF8F7"/>
          </a:solidFill>
          <a:ln w="12700">
            <a:solidFill>
              <a:srgbClr val="DBE3EF"/>
            </a:solidFill>
            <a:prstDash val="solid"/>
          </a:ln>
        </p:spPr>
      </p:sp>
      <p:sp>
        <p:nvSpPr>
          <p:cNvPr id="36" name="Text 34"/>
          <p:cNvSpPr/>
          <p:nvPr/>
        </p:nvSpPr>
        <p:spPr>
          <a:xfrm>
            <a:off x="4937760" y="3913632"/>
            <a:ext cx="411480" cy="41148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7" name="Text 35"/>
          <p:cNvSpPr/>
          <p:nvPr/>
        </p:nvSpPr>
        <p:spPr>
          <a:xfrm>
            <a:off x="5394960" y="3895344"/>
            <a:ext cx="3520440" cy="256032"/>
          </a:xfrm>
          <a:prstGeom prst="rect">
            <a:avLst/>
          </a:prstGeom>
          <a:noFill/>
          <a:ln/>
        </p:spPr>
        <p:txBody>
          <a:bodyPr wrap="square" lIns="0" tIns="0" rIns="0" bIns="0" rtlCol="0" anchor="ctr"/>
          <a:lstStyle/>
          <a:p>
            <a:pPr indent="0" marL="0">
              <a:buNone/>
            </a:pPr>
            <a:r>
              <a:rPr lang="en-US" sz="1000" b="1" dirty="0">
                <a:solidFill>
                  <a:srgbClr val="0F172A"/>
                </a:solidFill>
              </a:rPr>
              <a:t>Review Due Dates</a:t>
            </a:r>
            <a:endParaRPr lang="en-US" sz="1000" dirty="0"/>
          </a:p>
        </p:txBody>
      </p:sp>
      <p:sp>
        <p:nvSpPr>
          <p:cNvPr id="38" name="Text 36"/>
          <p:cNvSpPr/>
          <p:nvPr/>
        </p:nvSpPr>
        <p:spPr>
          <a:xfrm>
            <a:off x="5394960" y="4160520"/>
            <a:ext cx="3520440" cy="420624"/>
          </a:xfrm>
          <a:prstGeom prst="rect">
            <a:avLst/>
          </a:prstGeom>
          <a:noFill/>
          <a:ln/>
        </p:spPr>
        <p:txBody>
          <a:bodyPr wrap="square" lIns="0" tIns="0" rIns="0" bIns="0" rtlCol="0" anchor="ctr"/>
          <a:lstStyle/>
          <a:p>
            <a:pPr indent="0" marL="0">
              <a:buNone/>
            </a:pPr>
            <a:r>
              <a:rPr lang="en-US" sz="850" dirty="0">
                <a:solidFill>
                  <a:srgbClr val="475569"/>
                </a:solidFill>
              </a:rPr>
              <a:t>The system flags documents and items with upcoming review dates. Check the Document Control and HSE Calendar dashboards regularly.</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Quick Reference</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19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Common Tasks — Quick Reference</a:t>
            </a:r>
            <a:endParaRPr lang="en-US" sz="2400" dirty="0"/>
          </a:p>
        </p:txBody>
      </p:sp>
      <p:sp>
        <p:nvSpPr>
          <p:cNvPr id="7" name="Shape 5"/>
          <p:cNvSpPr/>
          <p:nvPr/>
        </p:nvSpPr>
        <p:spPr>
          <a:xfrm>
            <a:off x="457200" y="1097280"/>
            <a:ext cx="8229600" cy="292608"/>
          </a:xfrm>
          <a:prstGeom prst="rect">
            <a:avLst/>
          </a:prstGeom>
          <a:solidFill>
            <a:srgbClr val="FFFFFF"/>
          </a:solidFill>
          <a:ln w="12700">
            <a:solidFill>
              <a:srgbClr val="DBE3EF"/>
            </a:solidFill>
            <a:prstDash val="solid"/>
          </a:ln>
        </p:spPr>
      </p:sp>
      <p:sp>
        <p:nvSpPr>
          <p:cNvPr id="8" name="Text 6"/>
          <p:cNvSpPr/>
          <p:nvPr/>
        </p:nvSpPr>
        <p:spPr>
          <a:xfrm>
            <a:off x="548640" y="1097280"/>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Create a new controlled document</a:t>
            </a:r>
            <a:endParaRPr lang="en-US" sz="900" dirty="0"/>
          </a:p>
        </p:txBody>
      </p:sp>
      <p:sp>
        <p:nvSpPr>
          <p:cNvPr id="9" name="Shape 7"/>
          <p:cNvSpPr/>
          <p:nvPr/>
        </p:nvSpPr>
        <p:spPr>
          <a:xfrm>
            <a:off x="4114800" y="1152144"/>
            <a:ext cx="36576" cy="182880"/>
          </a:xfrm>
          <a:prstGeom prst="rect">
            <a:avLst/>
          </a:prstGeom>
          <a:solidFill>
            <a:srgbClr val="3A9B98"/>
          </a:solidFill>
          <a:ln w="12700">
            <a:solidFill>
              <a:srgbClr val="3A9B98"/>
            </a:solidFill>
            <a:prstDash val="solid"/>
          </a:ln>
        </p:spPr>
      </p:sp>
      <p:sp>
        <p:nvSpPr>
          <p:cNvPr id="10" name="Text 8"/>
          <p:cNvSpPr/>
          <p:nvPr/>
        </p:nvSpPr>
        <p:spPr>
          <a:xfrm>
            <a:off x="4206240" y="1097280"/>
            <a:ext cx="4389120" cy="292608"/>
          </a:xfrm>
          <a:prstGeom prst="rect">
            <a:avLst/>
          </a:prstGeom>
          <a:noFill/>
          <a:ln/>
        </p:spPr>
        <p:txBody>
          <a:bodyPr wrap="square" lIns="0" tIns="0" rIns="0" bIns="0" rtlCol="0" anchor="ctr"/>
          <a:lstStyle/>
          <a:p>
            <a:pPr indent="0" marL="0">
              <a:buNone/>
            </a:pPr>
            <a:r>
              <a:rPr lang="en-US" sz="850" dirty="0">
                <a:solidFill>
                  <a:srgbClr val="2F7F7D"/>
                </a:solidFill>
              </a:rPr>
              <a:t>Documents → Create Document tab → fill form → Create Draft Document →</a:t>
            </a:r>
            <a:endParaRPr lang="en-US" sz="850" dirty="0"/>
          </a:p>
        </p:txBody>
      </p:sp>
      <p:sp>
        <p:nvSpPr>
          <p:cNvPr id="11" name="Shape 9"/>
          <p:cNvSpPr/>
          <p:nvPr/>
        </p:nvSpPr>
        <p:spPr>
          <a:xfrm>
            <a:off x="457200" y="1412748"/>
            <a:ext cx="8229600" cy="292608"/>
          </a:xfrm>
          <a:prstGeom prst="rect">
            <a:avLst/>
          </a:prstGeom>
          <a:solidFill>
            <a:srgbClr val="EEF8F7"/>
          </a:solidFill>
          <a:ln w="12700">
            <a:solidFill>
              <a:srgbClr val="DBE3EF"/>
            </a:solidFill>
            <a:prstDash val="solid"/>
          </a:ln>
        </p:spPr>
      </p:sp>
      <p:sp>
        <p:nvSpPr>
          <p:cNvPr id="12" name="Text 10"/>
          <p:cNvSpPr/>
          <p:nvPr/>
        </p:nvSpPr>
        <p:spPr>
          <a:xfrm>
            <a:off x="548640" y="1412748"/>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Submit a document for review</a:t>
            </a:r>
            <a:endParaRPr lang="en-US" sz="900" dirty="0"/>
          </a:p>
        </p:txBody>
      </p:sp>
      <p:sp>
        <p:nvSpPr>
          <p:cNvPr id="13" name="Shape 11"/>
          <p:cNvSpPr/>
          <p:nvPr/>
        </p:nvSpPr>
        <p:spPr>
          <a:xfrm>
            <a:off x="4114800" y="1467612"/>
            <a:ext cx="36576" cy="182880"/>
          </a:xfrm>
          <a:prstGeom prst="rect">
            <a:avLst/>
          </a:prstGeom>
          <a:solidFill>
            <a:srgbClr val="3A9B98"/>
          </a:solidFill>
          <a:ln w="12700">
            <a:solidFill>
              <a:srgbClr val="3A9B98"/>
            </a:solidFill>
            <a:prstDash val="solid"/>
          </a:ln>
        </p:spPr>
      </p:sp>
      <p:sp>
        <p:nvSpPr>
          <p:cNvPr id="14" name="Text 12"/>
          <p:cNvSpPr/>
          <p:nvPr/>
        </p:nvSpPr>
        <p:spPr>
          <a:xfrm>
            <a:off x="4206240" y="1412748"/>
            <a:ext cx="4389120" cy="292608"/>
          </a:xfrm>
          <a:prstGeom prst="rect">
            <a:avLst/>
          </a:prstGeom>
          <a:noFill/>
          <a:ln/>
        </p:spPr>
        <p:txBody>
          <a:bodyPr wrap="square" lIns="0" tIns="0" rIns="0" bIns="0" rtlCol="0" anchor="ctr"/>
          <a:lstStyle/>
          <a:p>
            <a:pPr indent="0" marL="0">
              <a:buNone/>
            </a:pPr>
            <a:r>
              <a:rPr lang="en-US" sz="850" dirty="0">
                <a:solidFill>
                  <a:srgbClr val="2F7F7D"/>
                </a:solidFill>
              </a:rPr>
              <a:t>Documents → Document Register → click document → Submit for Review</a:t>
            </a:r>
            <a:endParaRPr lang="en-US" sz="850" dirty="0"/>
          </a:p>
        </p:txBody>
      </p:sp>
      <p:sp>
        <p:nvSpPr>
          <p:cNvPr id="15" name="Shape 13"/>
          <p:cNvSpPr/>
          <p:nvPr/>
        </p:nvSpPr>
        <p:spPr>
          <a:xfrm>
            <a:off x="457200" y="1728216"/>
            <a:ext cx="8229600" cy="292608"/>
          </a:xfrm>
          <a:prstGeom prst="rect">
            <a:avLst/>
          </a:prstGeom>
          <a:solidFill>
            <a:srgbClr val="FFFFFF"/>
          </a:solidFill>
          <a:ln w="12700">
            <a:solidFill>
              <a:srgbClr val="DBE3EF"/>
            </a:solidFill>
            <a:prstDash val="solid"/>
          </a:ln>
        </p:spPr>
      </p:sp>
      <p:sp>
        <p:nvSpPr>
          <p:cNvPr id="16" name="Text 14"/>
          <p:cNvSpPr/>
          <p:nvPr/>
        </p:nvSpPr>
        <p:spPr>
          <a:xfrm>
            <a:off x="548640" y="1728216"/>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Approve a document</a:t>
            </a:r>
            <a:endParaRPr lang="en-US" sz="900" dirty="0"/>
          </a:p>
        </p:txBody>
      </p:sp>
      <p:sp>
        <p:nvSpPr>
          <p:cNvPr id="17" name="Shape 15"/>
          <p:cNvSpPr/>
          <p:nvPr/>
        </p:nvSpPr>
        <p:spPr>
          <a:xfrm>
            <a:off x="4114800" y="1783080"/>
            <a:ext cx="36576" cy="182880"/>
          </a:xfrm>
          <a:prstGeom prst="rect">
            <a:avLst/>
          </a:prstGeom>
          <a:solidFill>
            <a:srgbClr val="3A9B98"/>
          </a:solidFill>
          <a:ln w="12700">
            <a:solidFill>
              <a:srgbClr val="3A9B98"/>
            </a:solidFill>
            <a:prstDash val="solid"/>
          </a:ln>
        </p:spPr>
      </p:sp>
      <p:sp>
        <p:nvSpPr>
          <p:cNvPr id="18" name="Text 16"/>
          <p:cNvSpPr/>
          <p:nvPr/>
        </p:nvSpPr>
        <p:spPr>
          <a:xfrm>
            <a:off x="4206240" y="1728216"/>
            <a:ext cx="4389120" cy="292608"/>
          </a:xfrm>
          <a:prstGeom prst="rect">
            <a:avLst/>
          </a:prstGeom>
          <a:noFill/>
          <a:ln/>
        </p:spPr>
        <p:txBody>
          <a:bodyPr wrap="square" lIns="0" tIns="0" rIns="0" bIns="0" rtlCol="0" anchor="ctr"/>
          <a:lstStyle/>
          <a:p>
            <a:pPr indent="0" marL="0">
              <a:buNone/>
            </a:pPr>
            <a:r>
              <a:rPr lang="en-US" sz="850" dirty="0">
                <a:solidFill>
                  <a:srgbClr val="2F7F7D"/>
                </a:solidFill>
              </a:rPr>
              <a:t>Documents → Workflow tab → find document → Approve</a:t>
            </a:r>
            <a:endParaRPr lang="en-US" sz="850" dirty="0"/>
          </a:p>
        </p:txBody>
      </p:sp>
      <p:sp>
        <p:nvSpPr>
          <p:cNvPr id="19" name="Shape 17"/>
          <p:cNvSpPr/>
          <p:nvPr/>
        </p:nvSpPr>
        <p:spPr>
          <a:xfrm>
            <a:off x="457200" y="2043684"/>
            <a:ext cx="8229600" cy="292608"/>
          </a:xfrm>
          <a:prstGeom prst="rect">
            <a:avLst/>
          </a:prstGeom>
          <a:solidFill>
            <a:srgbClr val="EEF8F7"/>
          </a:solidFill>
          <a:ln w="12700">
            <a:solidFill>
              <a:srgbClr val="DBE3EF"/>
            </a:solidFill>
            <a:prstDash val="solid"/>
          </a:ln>
        </p:spPr>
      </p:sp>
      <p:sp>
        <p:nvSpPr>
          <p:cNvPr id="20" name="Text 18"/>
          <p:cNvSpPr/>
          <p:nvPr/>
        </p:nvSpPr>
        <p:spPr>
          <a:xfrm>
            <a:off x="548640" y="2043684"/>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Log a nonconformance</a:t>
            </a:r>
            <a:endParaRPr lang="en-US" sz="900" dirty="0"/>
          </a:p>
        </p:txBody>
      </p:sp>
      <p:sp>
        <p:nvSpPr>
          <p:cNvPr id="21" name="Shape 19"/>
          <p:cNvSpPr/>
          <p:nvPr/>
        </p:nvSpPr>
        <p:spPr>
          <a:xfrm>
            <a:off x="4114800" y="2098548"/>
            <a:ext cx="36576" cy="182880"/>
          </a:xfrm>
          <a:prstGeom prst="rect">
            <a:avLst/>
          </a:prstGeom>
          <a:solidFill>
            <a:srgbClr val="3A9B98"/>
          </a:solidFill>
          <a:ln w="12700">
            <a:solidFill>
              <a:srgbClr val="3A9B98"/>
            </a:solidFill>
            <a:prstDash val="solid"/>
          </a:ln>
        </p:spPr>
      </p:sp>
      <p:sp>
        <p:nvSpPr>
          <p:cNvPr id="22" name="Text 20"/>
          <p:cNvSpPr/>
          <p:nvPr/>
        </p:nvSpPr>
        <p:spPr>
          <a:xfrm>
            <a:off x="4206240" y="2043684"/>
            <a:ext cx="4389120" cy="292608"/>
          </a:xfrm>
          <a:prstGeom prst="rect">
            <a:avLst/>
          </a:prstGeom>
          <a:noFill/>
          <a:ln/>
        </p:spPr>
        <p:txBody>
          <a:bodyPr wrap="square" lIns="0" tIns="0" rIns="0" bIns="0" rtlCol="0" anchor="ctr"/>
          <a:lstStyle/>
          <a:p>
            <a:pPr indent="0" marL="0">
              <a:buNone/>
            </a:pPr>
            <a:r>
              <a:rPr lang="en-US" sz="850" dirty="0">
                <a:solidFill>
                  <a:srgbClr val="2F7F7D"/>
                </a:solidFill>
              </a:rPr>
              <a:t>Quality → NCR / CAPA → Create NCR tab → complete form → Submit</a:t>
            </a:r>
            <a:endParaRPr lang="en-US" sz="850" dirty="0"/>
          </a:p>
        </p:txBody>
      </p:sp>
      <p:sp>
        <p:nvSpPr>
          <p:cNvPr id="23" name="Shape 21"/>
          <p:cNvSpPr/>
          <p:nvPr/>
        </p:nvSpPr>
        <p:spPr>
          <a:xfrm>
            <a:off x="457200" y="2359152"/>
            <a:ext cx="8229600" cy="292608"/>
          </a:xfrm>
          <a:prstGeom prst="rect">
            <a:avLst/>
          </a:prstGeom>
          <a:solidFill>
            <a:srgbClr val="FFFFFF"/>
          </a:solidFill>
          <a:ln w="12700">
            <a:solidFill>
              <a:srgbClr val="DBE3EF"/>
            </a:solidFill>
            <a:prstDash val="solid"/>
          </a:ln>
        </p:spPr>
      </p:sp>
      <p:sp>
        <p:nvSpPr>
          <p:cNvPr id="24" name="Text 22"/>
          <p:cNvSpPr/>
          <p:nvPr/>
        </p:nvSpPr>
        <p:spPr>
          <a:xfrm>
            <a:off x="548640" y="2359152"/>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Raise a change request</a:t>
            </a:r>
            <a:endParaRPr lang="en-US" sz="900" dirty="0"/>
          </a:p>
        </p:txBody>
      </p:sp>
      <p:sp>
        <p:nvSpPr>
          <p:cNvPr id="25" name="Shape 23"/>
          <p:cNvSpPr/>
          <p:nvPr/>
        </p:nvSpPr>
        <p:spPr>
          <a:xfrm>
            <a:off x="4114800" y="2414016"/>
            <a:ext cx="36576" cy="182880"/>
          </a:xfrm>
          <a:prstGeom prst="rect">
            <a:avLst/>
          </a:prstGeom>
          <a:solidFill>
            <a:srgbClr val="3A9B98"/>
          </a:solidFill>
          <a:ln w="12700">
            <a:solidFill>
              <a:srgbClr val="3A9B98"/>
            </a:solidFill>
            <a:prstDash val="solid"/>
          </a:ln>
        </p:spPr>
      </p:sp>
      <p:sp>
        <p:nvSpPr>
          <p:cNvPr id="26" name="Text 24"/>
          <p:cNvSpPr/>
          <p:nvPr/>
        </p:nvSpPr>
        <p:spPr>
          <a:xfrm>
            <a:off x="4206240" y="2359152"/>
            <a:ext cx="4389120" cy="292608"/>
          </a:xfrm>
          <a:prstGeom prst="rect">
            <a:avLst/>
          </a:prstGeom>
          <a:noFill/>
          <a:ln/>
        </p:spPr>
        <p:txBody>
          <a:bodyPr wrap="square" lIns="0" tIns="0" rIns="0" bIns="0" rtlCol="0" anchor="ctr"/>
          <a:lstStyle/>
          <a:p>
            <a:pPr indent="0" marL="0">
              <a:buNone/>
            </a:pPr>
            <a:r>
              <a:rPr lang="en-US" sz="850" dirty="0">
                <a:solidFill>
                  <a:srgbClr val="2F7F7D"/>
                </a:solidFill>
              </a:rPr>
              <a:t>Quality → MOC → Create MOC → complete impact assessment</a:t>
            </a:r>
            <a:endParaRPr lang="en-US" sz="850" dirty="0"/>
          </a:p>
        </p:txBody>
      </p:sp>
      <p:sp>
        <p:nvSpPr>
          <p:cNvPr id="27" name="Shape 25"/>
          <p:cNvSpPr/>
          <p:nvPr/>
        </p:nvSpPr>
        <p:spPr>
          <a:xfrm>
            <a:off x="457200" y="2674620"/>
            <a:ext cx="8229600" cy="292608"/>
          </a:xfrm>
          <a:prstGeom prst="rect">
            <a:avLst/>
          </a:prstGeom>
          <a:solidFill>
            <a:srgbClr val="EEF8F7"/>
          </a:solidFill>
          <a:ln w="12700">
            <a:solidFill>
              <a:srgbClr val="DBE3EF"/>
            </a:solidFill>
            <a:prstDash val="solid"/>
          </a:ln>
        </p:spPr>
      </p:sp>
      <p:sp>
        <p:nvSpPr>
          <p:cNvPr id="28" name="Text 26"/>
          <p:cNvSpPr/>
          <p:nvPr/>
        </p:nvSpPr>
        <p:spPr>
          <a:xfrm>
            <a:off x="548640" y="2674620"/>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Log an HSE incident</a:t>
            </a:r>
            <a:endParaRPr lang="en-US" sz="900" dirty="0"/>
          </a:p>
        </p:txBody>
      </p:sp>
      <p:sp>
        <p:nvSpPr>
          <p:cNvPr id="29" name="Shape 27"/>
          <p:cNvSpPr/>
          <p:nvPr/>
        </p:nvSpPr>
        <p:spPr>
          <a:xfrm>
            <a:off x="4114800" y="2729484"/>
            <a:ext cx="36576" cy="182880"/>
          </a:xfrm>
          <a:prstGeom prst="rect">
            <a:avLst/>
          </a:prstGeom>
          <a:solidFill>
            <a:srgbClr val="3A9B98"/>
          </a:solidFill>
          <a:ln w="12700">
            <a:solidFill>
              <a:srgbClr val="3A9B98"/>
            </a:solidFill>
            <a:prstDash val="solid"/>
          </a:ln>
        </p:spPr>
      </p:sp>
      <p:sp>
        <p:nvSpPr>
          <p:cNvPr id="30" name="Text 28"/>
          <p:cNvSpPr/>
          <p:nvPr/>
        </p:nvSpPr>
        <p:spPr>
          <a:xfrm>
            <a:off x="4206240" y="2674620"/>
            <a:ext cx="4389120" cy="292608"/>
          </a:xfrm>
          <a:prstGeom prst="rect">
            <a:avLst/>
          </a:prstGeom>
          <a:noFill/>
          <a:ln/>
        </p:spPr>
        <p:txBody>
          <a:bodyPr wrap="square" lIns="0" tIns="0" rIns="0" bIns="0" rtlCol="0" anchor="ctr"/>
          <a:lstStyle/>
          <a:p>
            <a:pPr indent="0" marL="0">
              <a:buNone/>
            </a:pPr>
            <a:r>
              <a:rPr lang="en-US" sz="850" dirty="0">
                <a:solidFill>
                  <a:srgbClr val="2F7F7D"/>
                </a:solidFill>
              </a:rPr>
              <a:t>HSE → AINM → Create Record → select type → complete details</a:t>
            </a:r>
            <a:endParaRPr lang="en-US" sz="850" dirty="0"/>
          </a:p>
        </p:txBody>
      </p:sp>
      <p:sp>
        <p:nvSpPr>
          <p:cNvPr id="31" name="Shape 29"/>
          <p:cNvSpPr/>
          <p:nvPr/>
        </p:nvSpPr>
        <p:spPr>
          <a:xfrm>
            <a:off x="457200" y="2990088"/>
            <a:ext cx="8229600" cy="292608"/>
          </a:xfrm>
          <a:prstGeom prst="rect">
            <a:avLst/>
          </a:prstGeom>
          <a:solidFill>
            <a:srgbClr val="FFFFFF"/>
          </a:solidFill>
          <a:ln w="12700">
            <a:solidFill>
              <a:srgbClr val="DBE3EF"/>
            </a:solidFill>
            <a:prstDash val="solid"/>
          </a:ln>
        </p:spPr>
      </p:sp>
      <p:sp>
        <p:nvSpPr>
          <p:cNvPr id="32" name="Text 30"/>
          <p:cNvSpPr/>
          <p:nvPr/>
        </p:nvSpPr>
        <p:spPr>
          <a:xfrm>
            <a:off x="548640" y="2990088"/>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Conduct an inspection</a:t>
            </a:r>
            <a:endParaRPr lang="en-US" sz="900" dirty="0"/>
          </a:p>
        </p:txBody>
      </p:sp>
      <p:sp>
        <p:nvSpPr>
          <p:cNvPr id="33" name="Shape 31"/>
          <p:cNvSpPr/>
          <p:nvPr/>
        </p:nvSpPr>
        <p:spPr>
          <a:xfrm>
            <a:off x="4114800" y="3044952"/>
            <a:ext cx="36576" cy="182880"/>
          </a:xfrm>
          <a:prstGeom prst="rect">
            <a:avLst/>
          </a:prstGeom>
          <a:solidFill>
            <a:srgbClr val="3A9B98"/>
          </a:solidFill>
          <a:ln w="12700">
            <a:solidFill>
              <a:srgbClr val="3A9B98"/>
            </a:solidFill>
            <a:prstDash val="solid"/>
          </a:ln>
        </p:spPr>
      </p:sp>
      <p:sp>
        <p:nvSpPr>
          <p:cNvPr id="34" name="Text 32"/>
          <p:cNvSpPr/>
          <p:nvPr/>
        </p:nvSpPr>
        <p:spPr>
          <a:xfrm>
            <a:off x="4206240" y="2990088"/>
            <a:ext cx="4389120" cy="292608"/>
          </a:xfrm>
          <a:prstGeom prst="rect">
            <a:avLst/>
          </a:prstGeom>
          <a:noFill/>
          <a:ln/>
        </p:spPr>
        <p:txBody>
          <a:bodyPr wrap="square" lIns="0" tIns="0" rIns="0" bIns="0" rtlCol="0" anchor="ctr"/>
          <a:lstStyle/>
          <a:p>
            <a:pPr indent="0" marL="0">
              <a:buNone/>
            </a:pPr>
            <a:r>
              <a:rPr lang="en-US" sz="850" dirty="0">
                <a:solidFill>
                  <a:srgbClr val="2F7F7D"/>
                </a:solidFill>
              </a:rPr>
              <a:t>HSE → Inspections → New Inspection → complete checklist → Save</a:t>
            </a:r>
            <a:endParaRPr lang="en-US" sz="850" dirty="0"/>
          </a:p>
        </p:txBody>
      </p:sp>
      <p:sp>
        <p:nvSpPr>
          <p:cNvPr id="35" name="Shape 33"/>
          <p:cNvSpPr/>
          <p:nvPr/>
        </p:nvSpPr>
        <p:spPr>
          <a:xfrm>
            <a:off x="457200" y="3305556"/>
            <a:ext cx="8229600" cy="292608"/>
          </a:xfrm>
          <a:prstGeom prst="rect">
            <a:avLst/>
          </a:prstGeom>
          <a:solidFill>
            <a:srgbClr val="EEF8F7"/>
          </a:solidFill>
          <a:ln w="12700">
            <a:solidFill>
              <a:srgbClr val="DBE3EF"/>
            </a:solidFill>
            <a:prstDash val="solid"/>
          </a:ln>
        </p:spPr>
      </p:sp>
      <p:sp>
        <p:nvSpPr>
          <p:cNvPr id="36" name="Text 34"/>
          <p:cNvSpPr/>
          <p:nvPr/>
        </p:nvSpPr>
        <p:spPr>
          <a:xfrm>
            <a:off x="548640" y="3305556"/>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Add a risk to the register</a:t>
            </a:r>
            <a:endParaRPr lang="en-US" sz="900" dirty="0"/>
          </a:p>
        </p:txBody>
      </p:sp>
      <p:sp>
        <p:nvSpPr>
          <p:cNvPr id="37" name="Shape 35"/>
          <p:cNvSpPr/>
          <p:nvPr/>
        </p:nvSpPr>
        <p:spPr>
          <a:xfrm>
            <a:off x="4114800" y="3360420"/>
            <a:ext cx="36576" cy="182880"/>
          </a:xfrm>
          <a:prstGeom prst="rect">
            <a:avLst/>
          </a:prstGeom>
          <a:solidFill>
            <a:srgbClr val="3A9B98"/>
          </a:solidFill>
          <a:ln w="12700">
            <a:solidFill>
              <a:srgbClr val="3A9B98"/>
            </a:solidFill>
            <a:prstDash val="solid"/>
          </a:ln>
        </p:spPr>
      </p:sp>
      <p:sp>
        <p:nvSpPr>
          <p:cNvPr id="38" name="Text 36"/>
          <p:cNvSpPr/>
          <p:nvPr/>
        </p:nvSpPr>
        <p:spPr>
          <a:xfrm>
            <a:off x="4206240" y="3305556"/>
            <a:ext cx="4389120" cy="292608"/>
          </a:xfrm>
          <a:prstGeom prst="rect">
            <a:avLst/>
          </a:prstGeom>
          <a:noFill/>
          <a:ln/>
        </p:spPr>
        <p:txBody>
          <a:bodyPr wrap="square" lIns="0" tIns="0" rIns="0" bIns="0" rtlCol="0" anchor="ctr"/>
          <a:lstStyle/>
          <a:p>
            <a:pPr indent="0" marL="0">
              <a:buNone/>
            </a:pPr>
            <a:r>
              <a:rPr lang="en-US" sz="850" dirty="0">
                <a:solidFill>
                  <a:srgbClr val="2F7F7D"/>
                </a:solidFill>
              </a:rPr>
              <a:t>Risk → Register → Add Risk → rate likelihood &amp; consequence</a:t>
            </a:r>
            <a:endParaRPr lang="en-US" sz="850" dirty="0"/>
          </a:p>
        </p:txBody>
      </p:sp>
      <p:sp>
        <p:nvSpPr>
          <p:cNvPr id="39" name="Shape 37"/>
          <p:cNvSpPr/>
          <p:nvPr/>
        </p:nvSpPr>
        <p:spPr>
          <a:xfrm>
            <a:off x="457200" y="3621024"/>
            <a:ext cx="8229600" cy="292608"/>
          </a:xfrm>
          <a:prstGeom prst="rect">
            <a:avLst/>
          </a:prstGeom>
          <a:solidFill>
            <a:srgbClr val="FFFFFF"/>
          </a:solidFill>
          <a:ln w="12700">
            <a:solidFill>
              <a:srgbClr val="DBE3EF"/>
            </a:solidFill>
            <a:prstDash val="solid"/>
          </a:ln>
        </p:spPr>
      </p:sp>
      <p:sp>
        <p:nvSpPr>
          <p:cNvPr id="40" name="Text 38"/>
          <p:cNvSpPr/>
          <p:nvPr/>
        </p:nvSpPr>
        <p:spPr>
          <a:xfrm>
            <a:off x="548640" y="3621024"/>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Close an overdue action</a:t>
            </a:r>
            <a:endParaRPr lang="en-US" sz="900" dirty="0"/>
          </a:p>
        </p:txBody>
      </p:sp>
      <p:sp>
        <p:nvSpPr>
          <p:cNvPr id="41" name="Shape 39"/>
          <p:cNvSpPr/>
          <p:nvPr/>
        </p:nvSpPr>
        <p:spPr>
          <a:xfrm>
            <a:off x="4114800" y="3675888"/>
            <a:ext cx="36576" cy="182880"/>
          </a:xfrm>
          <a:prstGeom prst="rect">
            <a:avLst/>
          </a:prstGeom>
          <a:solidFill>
            <a:srgbClr val="3A9B98"/>
          </a:solidFill>
          <a:ln w="12700">
            <a:solidFill>
              <a:srgbClr val="3A9B98"/>
            </a:solidFill>
            <a:prstDash val="solid"/>
          </a:ln>
        </p:spPr>
      </p:sp>
      <p:sp>
        <p:nvSpPr>
          <p:cNvPr id="42" name="Text 40"/>
          <p:cNvSpPr/>
          <p:nvPr/>
        </p:nvSpPr>
        <p:spPr>
          <a:xfrm>
            <a:off x="4206240" y="3621024"/>
            <a:ext cx="4389120" cy="292608"/>
          </a:xfrm>
          <a:prstGeom prst="rect">
            <a:avLst/>
          </a:prstGeom>
          <a:noFill/>
          <a:ln/>
        </p:spPr>
        <p:txBody>
          <a:bodyPr wrap="square" lIns="0" tIns="0" rIns="0" bIns="0" rtlCol="0" anchor="ctr"/>
          <a:lstStyle/>
          <a:p>
            <a:pPr indent="0" marL="0">
              <a:buNone/>
            </a:pPr>
            <a:r>
              <a:rPr lang="en-US" sz="850" dirty="0">
                <a:solidFill>
                  <a:srgbClr val="2F7F7D"/>
                </a:solidFill>
              </a:rPr>
              <a:t>Actions → Register (or My Actions) → find action → add closure note → Close</a:t>
            </a:r>
            <a:endParaRPr lang="en-US" sz="850" dirty="0"/>
          </a:p>
        </p:txBody>
      </p:sp>
      <p:sp>
        <p:nvSpPr>
          <p:cNvPr id="43" name="Shape 41"/>
          <p:cNvSpPr/>
          <p:nvPr/>
        </p:nvSpPr>
        <p:spPr>
          <a:xfrm>
            <a:off x="457200" y="3936492"/>
            <a:ext cx="8229600" cy="292608"/>
          </a:xfrm>
          <a:prstGeom prst="rect">
            <a:avLst/>
          </a:prstGeom>
          <a:solidFill>
            <a:srgbClr val="EEF8F7"/>
          </a:solidFill>
          <a:ln w="12700">
            <a:solidFill>
              <a:srgbClr val="DBE3EF"/>
            </a:solidFill>
            <a:prstDash val="solid"/>
          </a:ln>
        </p:spPr>
      </p:sp>
      <p:sp>
        <p:nvSpPr>
          <p:cNvPr id="44" name="Text 42"/>
          <p:cNvSpPr/>
          <p:nvPr/>
        </p:nvSpPr>
        <p:spPr>
          <a:xfrm>
            <a:off x="548640" y="3936492"/>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Add a new person</a:t>
            </a:r>
            <a:endParaRPr lang="en-US" sz="900" dirty="0"/>
          </a:p>
        </p:txBody>
      </p:sp>
      <p:sp>
        <p:nvSpPr>
          <p:cNvPr id="45" name="Shape 43"/>
          <p:cNvSpPr/>
          <p:nvPr/>
        </p:nvSpPr>
        <p:spPr>
          <a:xfrm>
            <a:off x="4114800" y="3991356"/>
            <a:ext cx="36576" cy="182880"/>
          </a:xfrm>
          <a:prstGeom prst="rect">
            <a:avLst/>
          </a:prstGeom>
          <a:solidFill>
            <a:srgbClr val="3A9B98"/>
          </a:solidFill>
          <a:ln w="12700">
            <a:solidFill>
              <a:srgbClr val="3A9B98"/>
            </a:solidFill>
            <a:prstDash val="solid"/>
          </a:ln>
        </p:spPr>
      </p:sp>
      <p:sp>
        <p:nvSpPr>
          <p:cNvPr id="46" name="Text 44"/>
          <p:cNvSpPr/>
          <p:nvPr/>
        </p:nvSpPr>
        <p:spPr>
          <a:xfrm>
            <a:off x="4206240" y="3936492"/>
            <a:ext cx="4389120" cy="292608"/>
          </a:xfrm>
          <a:prstGeom prst="rect">
            <a:avLst/>
          </a:prstGeom>
          <a:noFill/>
          <a:ln/>
        </p:spPr>
        <p:txBody>
          <a:bodyPr wrap="square" lIns="0" tIns="0" rIns="0" bIns="0" rtlCol="0" anchor="ctr"/>
          <a:lstStyle/>
          <a:p>
            <a:pPr indent="0" marL="0">
              <a:buNone/>
            </a:pPr>
            <a:r>
              <a:rPr lang="en-US" sz="850" dirty="0">
                <a:solidFill>
                  <a:srgbClr val="2F7F7D"/>
                </a:solidFill>
              </a:rPr>
              <a:t>People → Add Person → enter name, email, department</a:t>
            </a:r>
            <a:endParaRPr lang="en-US" sz="850" dirty="0"/>
          </a:p>
        </p:txBody>
      </p:sp>
      <p:sp>
        <p:nvSpPr>
          <p:cNvPr id="47" name="Shape 45"/>
          <p:cNvSpPr/>
          <p:nvPr/>
        </p:nvSpPr>
        <p:spPr>
          <a:xfrm>
            <a:off x="457200" y="4251960"/>
            <a:ext cx="8229600" cy="292608"/>
          </a:xfrm>
          <a:prstGeom prst="rect">
            <a:avLst/>
          </a:prstGeom>
          <a:solidFill>
            <a:srgbClr val="FFFFFF"/>
          </a:solidFill>
          <a:ln w="12700">
            <a:solidFill>
              <a:srgbClr val="DBE3EF"/>
            </a:solidFill>
            <a:prstDash val="solid"/>
          </a:ln>
        </p:spPr>
      </p:sp>
      <p:sp>
        <p:nvSpPr>
          <p:cNvPr id="48" name="Text 46"/>
          <p:cNvSpPr/>
          <p:nvPr/>
        </p:nvSpPr>
        <p:spPr>
          <a:xfrm>
            <a:off x="548640" y="4251960"/>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Change a user's role</a:t>
            </a:r>
            <a:endParaRPr lang="en-US" sz="900" dirty="0"/>
          </a:p>
        </p:txBody>
      </p:sp>
      <p:sp>
        <p:nvSpPr>
          <p:cNvPr id="49" name="Shape 47"/>
          <p:cNvSpPr/>
          <p:nvPr/>
        </p:nvSpPr>
        <p:spPr>
          <a:xfrm>
            <a:off x="4114800" y="4306824"/>
            <a:ext cx="36576" cy="182880"/>
          </a:xfrm>
          <a:prstGeom prst="rect">
            <a:avLst/>
          </a:prstGeom>
          <a:solidFill>
            <a:srgbClr val="3A9B98"/>
          </a:solidFill>
          <a:ln w="12700">
            <a:solidFill>
              <a:srgbClr val="3A9B98"/>
            </a:solidFill>
            <a:prstDash val="solid"/>
          </a:ln>
        </p:spPr>
      </p:sp>
      <p:sp>
        <p:nvSpPr>
          <p:cNvPr id="50" name="Text 48"/>
          <p:cNvSpPr/>
          <p:nvPr/>
        </p:nvSpPr>
        <p:spPr>
          <a:xfrm>
            <a:off x="4206240" y="4251960"/>
            <a:ext cx="4389120" cy="292608"/>
          </a:xfrm>
          <a:prstGeom prst="rect">
            <a:avLst/>
          </a:prstGeom>
          <a:noFill/>
          <a:ln/>
        </p:spPr>
        <p:txBody>
          <a:bodyPr wrap="square" lIns="0" tIns="0" rIns="0" bIns="0" rtlCol="0" anchor="ctr"/>
          <a:lstStyle/>
          <a:p>
            <a:pPr indent="0" marL="0">
              <a:buNone/>
            </a:pPr>
            <a:r>
              <a:rPr lang="en-US" sz="850" dirty="0">
                <a:solidFill>
                  <a:srgbClr val="2F7F7D"/>
                </a:solidFill>
              </a:rPr>
              <a:t>Admin → People &amp; Roles → find user → update role</a:t>
            </a:r>
            <a:endParaRPr lang="en-US" sz="850" dirty="0"/>
          </a:p>
        </p:txBody>
      </p:sp>
      <p:sp>
        <p:nvSpPr>
          <p:cNvPr id="51" name="Shape 49"/>
          <p:cNvSpPr/>
          <p:nvPr/>
        </p:nvSpPr>
        <p:spPr>
          <a:xfrm>
            <a:off x="457200" y="4567428"/>
            <a:ext cx="8229600" cy="292608"/>
          </a:xfrm>
          <a:prstGeom prst="rect">
            <a:avLst/>
          </a:prstGeom>
          <a:solidFill>
            <a:srgbClr val="EEF8F7"/>
          </a:solidFill>
          <a:ln w="12700">
            <a:solidFill>
              <a:srgbClr val="DBE3EF"/>
            </a:solidFill>
            <a:prstDash val="solid"/>
          </a:ln>
        </p:spPr>
      </p:sp>
      <p:sp>
        <p:nvSpPr>
          <p:cNvPr id="52" name="Text 50"/>
          <p:cNvSpPr/>
          <p:nvPr/>
        </p:nvSpPr>
        <p:spPr>
          <a:xfrm>
            <a:off x="548640" y="4567428"/>
            <a:ext cx="3566160" cy="292608"/>
          </a:xfrm>
          <a:prstGeom prst="rect">
            <a:avLst/>
          </a:prstGeom>
          <a:noFill/>
          <a:ln/>
        </p:spPr>
        <p:txBody>
          <a:bodyPr wrap="square" lIns="0" tIns="0" rIns="0" bIns="0" rtlCol="0" anchor="ctr"/>
          <a:lstStyle/>
          <a:p>
            <a:pPr indent="0" marL="0">
              <a:buNone/>
            </a:pPr>
            <a:r>
              <a:rPr lang="en-US" sz="900" b="1" dirty="0">
                <a:solidFill>
                  <a:srgbClr val="0F172A"/>
                </a:solidFill>
              </a:rPr>
              <a:t>Check what's overdue today</a:t>
            </a:r>
            <a:endParaRPr lang="en-US" sz="900" dirty="0"/>
          </a:p>
        </p:txBody>
      </p:sp>
      <p:sp>
        <p:nvSpPr>
          <p:cNvPr id="53" name="Shape 51"/>
          <p:cNvSpPr/>
          <p:nvPr/>
        </p:nvSpPr>
        <p:spPr>
          <a:xfrm>
            <a:off x="4114800" y="4622292"/>
            <a:ext cx="36576" cy="182880"/>
          </a:xfrm>
          <a:prstGeom prst="rect">
            <a:avLst/>
          </a:prstGeom>
          <a:solidFill>
            <a:srgbClr val="3A9B98"/>
          </a:solidFill>
          <a:ln w="12700">
            <a:solidFill>
              <a:srgbClr val="3A9B98"/>
            </a:solidFill>
            <a:prstDash val="solid"/>
          </a:ln>
        </p:spPr>
      </p:sp>
      <p:sp>
        <p:nvSpPr>
          <p:cNvPr id="54" name="Text 52"/>
          <p:cNvSpPr/>
          <p:nvPr/>
        </p:nvSpPr>
        <p:spPr>
          <a:xfrm>
            <a:off x="4206240" y="4567428"/>
            <a:ext cx="4389120" cy="292608"/>
          </a:xfrm>
          <a:prstGeom prst="rect">
            <a:avLst/>
          </a:prstGeom>
          <a:noFill/>
          <a:ln/>
        </p:spPr>
        <p:txBody>
          <a:bodyPr wrap="square" lIns="0" tIns="0" rIns="0" bIns="0" rtlCol="0" anchor="ctr"/>
          <a:lstStyle/>
          <a:p>
            <a:pPr indent="0" marL="0">
              <a:buNone/>
            </a:pPr>
            <a:r>
              <a:rPr lang="en-US" sz="850" dirty="0">
                <a:solidFill>
                  <a:srgbClr val="2F7F7D"/>
                </a:solidFill>
              </a:rPr>
              <a:t>Home Dashboard → overdue action panel, or module Dashboard</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Support</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20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Getting Help &amp; Support</a:t>
            </a:r>
            <a:endParaRPr lang="en-US" sz="2400" dirty="0"/>
          </a:p>
        </p:txBody>
      </p:sp>
      <p:sp>
        <p:nvSpPr>
          <p:cNvPr id="7" name="Shape 5"/>
          <p:cNvSpPr/>
          <p:nvPr/>
        </p:nvSpPr>
        <p:spPr>
          <a:xfrm>
            <a:off x="457200" y="109728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457200" y="1097280"/>
            <a:ext cx="4023360" cy="45720"/>
          </a:xfrm>
          <a:prstGeom prst="rect">
            <a:avLst/>
          </a:prstGeom>
          <a:solidFill>
            <a:srgbClr val="3A9B98"/>
          </a:solidFill>
          <a:ln w="12700">
            <a:solidFill>
              <a:srgbClr val="3A9B98"/>
            </a:solidFill>
            <a:prstDash val="solid"/>
          </a:ln>
        </p:spPr>
      </p:sp>
      <p:sp>
        <p:nvSpPr>
          <p:cNvPr id="9" name="Text 7"/>
          <p:cNvSpPr/>
          <p:nvPr/>
        </p:nvSpPr>
        <p:spPr>
          <a:xfrm>
            <a:off x="621792" y="118872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Access Issues</a:t>
            </a:r>
            <a:endParaRPr lang="en-US" sz="1100" dirty="0"/>
          </a:p>
        </p:txBody>
      </p:sp>
      <p:sp>
        <p:nvSpPr>
          <p:cNvPr id="10" name="Text 8"/>
          <p:cNvSpPr/>
          <p:nvPr/>
        </p:nvSpPr>
        <p:spPr>
          <a:xfrm>
            <a:off x="621792" y="1554480"/>
            <a:ext cx="3694176" cy="960120"/>
          </a:xfrm>
          <a:prstGeom prst="rect">
            <a:avLst/>
          </a:prstGeom>
          <a:noFill/>
          <a:ln/>
        </p:spPr>
        <p:txBody>
          <a:bodyPr wrap="square" lIns="0" tIns="0" rIns="0" bIns="0" rtlCol="0" anchor="t"/>
          <a:lstStyle/>
          <a:p>
            <a:pPr indent="0" marL="0">
              <a:buNone/>
            </a:pPr>
            <a:r>
              <a:rPr lang="en-US" sz="950" dirty="0">
                <a:solidFill>
                  <a:srgbClr val="475569"/>
                </a:solidFill>
              </a:rPr>
              <a:t>If you cannot log in or cannot see a module you need, contact your System Administrator. They can check your role and module permissions in Admin → People &amp; Roles.</a:t>
            </a:r>
            <a:endParaRPr lang="en-US" sz="950" dirty="0"/>
          </a:p>
        </p:txBody>
      </p:sp>
      <p:sp>
        <p:nvSpPr>
          <p:cNvPr id="11" name="Shape 9"/>
          <p:cNvSpPr/>
          <p:nvPr/>
        </p:nvSpPr>
        <p:spPr>
          <a:xfrm>
            <a:off x="4663440" y="109728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2" name="Shape 10"/>
          <p:cNvSpPr/>
          <p:nvPr/>
        </p:nvSpPr>
        <p:spPr>
          <a:xfrm>
            <a:off x="4663440" y="1097280"/>
            <a:ext cx="4023360" cy="45720"/>
          </a:xfrm>
          <a:prstGeom prst="rect">
            <a:avLst/>
          </a:prstGeom>
          <a:solidFill>
            <a:srgbClr val="3A9B98"/>
          </a:solidFill>
          <a:ln w="12700">
            <a:solidFill>
              <a:srgbClr val="3A9B98"/>
            </a:solidFill>
            <a:prstDash val="solid"/>
          </a:ln>
        </p:spPr>
      </p:sp>
      <p:sp>
        <p:nvSpPr>
          <p:cNvPr id="13" name="Text 11"/>
          <p:cNvSpPr/>
          <p:nvPr/>
        </p:nvSpPr>
        <p:spPr>
          <a:xfrm>
            <a:off x="4828032" y="118872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System Configuration</a:t>
            </a:r>
            <a:endParaRPr lang="en-US" sz="1100" dirty="0"/>
          </a:p>
        </p:txBody>
      </p:sp>
      <p:sp>
        <p:nvSpPr>
          <p:cNvPr id="14" name="Text 12"/>
          <p:cNvSpPr/>
          <p:nvPr/>
        </p:nvSpPr>
        <p:spPr>
          <a:xfrm>
            <a:off x="4828032" y="1554480"/>
            <a:ext cx="3694176" cy="960120"/>
          </a:xfrm>
          <a:prstGeom prst="rect">
            <a:avLst/>
          </a:prstGeom>
          <a:noFill/>
          <a:ln/>
        </p:spPr>
        <p:txBody>
          <a:bodyPr wrap="square" lIns="0" tIns="0" rIns="0" bIns="0" rtlCol="0" anchor="t"/>
          <a:lstStyle/>
          <a:p>
            <a:pPr indent="0" marL="0">
              <a:buNone/>
            </a:pPr>
            <a:r>
              <a:rPr lang="en-US" sz="950" dirty="0">
                <a:solidFill>
                  <a:srgbClr val="475569"/>
                </a:solidFill>
              </a:rPr>
              <a:t>Changes to document types, department lists, risk rating scales, or user roles must be made by an Admin. These are managed in Admin / Settings.</a:t>
            </a:r>
            <a:endParaRPr lang="en-US" sz="950" dirty="0"/>
          </a:p>
        </p:txBody>
      </p:sp>
      <p:sp>
        <p:nvSpPr>
          <p:cNvPr id="15" name="Shape 13"/>
          <p:cNvSpPr/>
          <p:nvPr/>
        </p:nvSpPr>
        <p:spPr>
          <a:xfrm>
            <a:off x="457200" y="278892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457200" y="2788920"/>
            <a:ext cx="4023360" cy="45720"/>
          </a:xfrm>
          <a:prstGeom prst="rect">
            <a:avLst/>
          </a:prstGeom>
          <a:solidFill>
            <a:srgbClr val="3A9B98"/>
          </a:solidFill>
          <a:ln w="12700">
            <a:solidFill>
              <a:srgbClr val="3A9B98"/>
            </a:solidFill>
            <a:prstDash val="solid"/>
          </a:ln>
        </p:spPr>
      </p:sp>
      <p:sp>
        <p:nvSpPr>
          <p:cNvPr id="17" name="Text 15"/>
          <p:cNvSpPr/>
          <p:nvPr/>
        </p:nvSpPr>
        <p:spPr>
          <a:xfrm>
            <a:off x="621792" y="288036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Notification Issues</a:t>
            </a:r>
            <a:endParaRPr lang="en-US" sz="1100" dirty="0"/>
          </a:p>
        </p:txBody>
      </p:sp>
      <p:sp>
        <p:nvSpPr>
          <p:cNvPr id="18" name="Text 16"/>
          <p:cNvSpPr/>
          <p:nvPr/>
        </p:nvSpPr>
        <p:spPr>
          <a:xfrm>
            <a:off x="621792" y="3246120"/>
            <a:ext cx="3694176" cy="960120"/>
          </a:xfrm>
          <a:prstGeom prst="rect">
            <a:avLst/>
          </a:prstGeom>
          <a:noFill/>
          <a:ln/>
        </p:spPr>
        <p:txBody>
          <a:bodyPr wrap="square" lIns="0" tIns="0" rIns="0" bIns="0" rtlCol="0" anchor="t"/>
          <a:lstStyle/>
          <a:p>
            <a:pPr indent="0" marL="0">
              <a:buNone/>
            </a:pPr>
            <a:r>
              <a:rPr lang="en-US" sz="950" dirty="0">
                <a:solidFill>
                  <a:srgbClr val="475569"/>
                </a:solidFill>
              </a:rPr>
              <a:t>If you are not receiving email notifications, check with your Admin that your People record has a valid email address and that your account email matches your login.</a:t>
            </a:r>
            <a:endParaRPr lang="en-US" sz="950" dirty="0"/>
          </a:p>
        </p:txBody>
      </p:sp>
      <p:sp>
        <p:nvSpPr>
          <p:cNvPr id="19" name="Shape 17"/>
          <p:cNvSpPr/>
          <p:nvPr/>
        </p:nvSpPr>
        <p:spPr>
          <a:xfrm>
            <a:off x="4663440" y="2788920"/>
            <a:ext cx="4023360" cy="1554480"/>
          </a:xfrm>
          <a:prstGeom prst="rect">
            <a:avLst/>
          </a:prstGeom>
          <a:solidFill>
            <a:srgbClr val="FFFFFF"/>
          </a:solidFill>
          <a:ln w="12700">
            <a:solidFill>
              <a:srgbClr val="DBE3EF"/>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4663440" y="2788920"/>
            <a:ext cx="4023360" cy="45720"/>
          </a:xfrm>
          <a:prstGeom prst="rect">
            <a:avLst/>
          </a:prstGeom>
          <a:solidFill>
            <a:srgbClr val="3A9B98"/>
          </a:solidFill>
          <a:ln w="12700">
            <a:solidFill>
              <a:srgbClr val="3A9B98"/>
            </a:solidFill>
            <a:prstDash val="solid"/>
          </a:ln>
        </p:spPr>
      </p:sp>
      <p:sp>
        <p:nvSpPr>
          <p:cNvPr id="21" name="Text 19"/>
          <p:cNvSpPr/>
          <p:nvPr/>
        </p:nvSpPr>
        <p:spPr>
          <a:xfrm>
            <a:off x="4828032" y="2880360"/>
            <a:ext cx="3749040" cy="320040"/>
          </a:xfrm>
          <a:prstGeom prst="rect">
            <a:avLst/>
          </a:prstGeom>
          <a:noFill/>
          <a:ln/>
        </p:spPr>
        <p:txBody>
          <a:bodyPr wrap="square" lIns="0" tIns="0" rIns="0" bIns="0" rtlCol="0" anchor="ctr"/>
          <a:lstStyle/>
          <a:p>
            <a:pPr indent="0" marL="0">
              <a:buNone/>
            </a:pPr>
            <a:r>
              <a:rPr lang="en-US" sz="1100" b="1" dirty="0">
                <a:solidFill>
                  <a:srgbClr val="0F172A"/>
                </a:solidFill>
              </a:rPr>
              <a:t>🐞  Reporting a Problem</a:t>
            </a:r>
            <a:endParaRPr lang="en-US" sz="1100" dirty="0"/>
          </a:p>
        </p:txBody>
      </p:sp>
      <p:sp>
        <p:nvSpPr>
          <p:cNvPr id="22" name="Text 20"/>
          <p:cNvSpPr/>
          <p:nvPr/>
        </p:nvSpPr>
        <p:spPr>
          <a:xfrm>
            <a:off x="4828032" y="3246120"/>
            <a:ext cx="3694176" cy="960120"/>
          </a:xfrm>
          <a:prstGeom prst="rect">
            <a:avLst/>
          </a:prstGeom>
          <a:noFill/>
          <a:ln/>
        </p:spPr>
        <p:txBody>
          <a:bodyPr wrap="square" lIns="0" tIns="0" rIns="0" bIns="0" rtlCol="0" anchor="t"/>
          <a:lstStyle/>
          <a:p>
            <a:pPr indent="0" marL="0">
              <a:buNone/>
            </a:pPr>
            <a:r>
              <a:rPr lang="en-US" sz="950" dirty="0">
                <a:solidFill>
                  <a:srgbClr val="475569"/>
                </a:solidFill>
              </a:rPr>
              <a:t>If something isn't working as expected, note the module, tab, and what action you were performing. Screenshot the error if one appears. Pass this to your System Administrator.</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A9B98"/>
          </a:solidFill>
          <a:ln w="12700">
            <a:solidFill>
              <a:srgbClr val="3A9B98"/>
            </a:solidFill>
            <a:prstDash val="solid"/>
          </a:ln>
        </p:spPr>
      </p:sp>
      <p:sp>
        <p:nvSpPr>
          <p:cNvPr id="3" name="Text 1"/>
          <p:cNvSpPr/>
          <p:nvPr/>
        </p:nvSpPr>
        <p:spPr>
          <a:xfrm>
            <a:off x="228600" y="0"/>
            <a:ext cx="3657600" cy="411480"/>
          </a:xfrm>
          <a:prstGeom prst="rect">
            <a:avLst/>
          </a:prstGeom>
          <a:noFill/>
          <a:ln/>
        </p:spPr>
        <p:txBody>
          <a:bodyPr wrap="square" lIns="0" tIns="0" rIns="0" bIns="0" rtlCol="0" anchor="ctr"/>
          <a:lstStyle/>
          <a:p>
            <a:pPr indent="0" marL="0">
              <a:buNone/>
            </a:pPr>
            <a:r>
              <a:rPr lang="en-US" sz="900" b="1" spc="300" kern="0" dirty="0">
                <a:solidFill>
                  <a:srgbClr val="FFFFFF"/>
                </a:solidFill>
              </a:rPr>
              <a:t>ENSHORE IMS</a:t>
            </a:r>
            <a:endParaRPr lang="en-US" sz="900" dirty="0"/>
          </a:p>
        </p:txBody>
      </p:sp>
      <p:sp>
        <p:nvSpPr>
          <p:cNvPr id="4" name="Text 2"/>
          <p:cNvSpPr/>
          <p:nvPr/>
        </p:nvSpPr>
        <p:spPr>
          <a:xfrm>
            <a:off x="4572000" y="0"/>
            <a:ext cx="4343400" cy="411480"/>
          </a:xfrm>
          <a:prstGeom prst="rect">
            <a:avLst/>
          </a:prstGeom>
          <a:noFill/>
          <a:ln/>
        </p:spPr>
        <p:txBody>
          <a:bodyPr wrap="square" lIns="0" tIns="0" rIns="0" bIns="0" rtlCol="0" anchor="ctr"/>
          <a:lstStyle/>
          <a:p>
            <a:pPr algn="r" indent="0" marL="0">
              <a:buNone/>
            </a:pPr>
            <a:r>
              <a:rPr lang="en-US" sz="900" dirty="0">
                <a:solidFill>
                  <a:srgbClr val="C8F0EF"/>
                </a:solidFill>
              </a:rPr>
              <a:t>Glossary</a:t>
            </a:r>
            <a:endParaRPr lang="en-US" sz="900" dirty="0"/>
          </a:p>
        </p:txBody>
      </p:sp>
      <p:sp>
        <p:nvSpPr>
          <p:cNvPr id="5" name="Text 3"/>
          <p:cNvSpPr/>
          <p:nvPr/>
        </p:nvSpPr>
        <p:spPr>
          <a:xfrm>
            <a:off x="8046720" y="4754880"/>
            <a:ext cx="914400" cy="274320"/>
          </a:xfrm>
          <a:prstGeom prst="rect">
            <a:avLst/>
          </a:prstGeom>
          <a:noFill/>
          <a:ln/>
        </p:spPr>
        <p:txBody>
          <a:bodyPr wrap="square" lIns="0" tIns="0" rIns="0" bIns="0" rtlCol="0" anchor="ctr"/>
          <a:lstStyle/>
          <a:p>
            <a:pPr algn="r" indent="0" marL="0">
              <a:buNone/>
            </a:pPr>
            <a:r>
              <a:rPr lang="en-US" sz="900" dirty="0">
                <a:solidFill>
                  <a:srgbClr val="64748B"/>
                </a:solidFill>
              </a:rPr>
              <a:t>21 / 22</a:t>
            </a:r>
            <a:endParaRPr lang="en-US" sz="900" dirty="0"/>
          </a:p>
        </p:txBody>
      </p:sp>
      <p:sp>
        <p:nvSpPr>
          <p:cNvPr id="6" name="Text 4"/>
          <p:cNvSpPr/>
          <p:nvPr/>
        </p:nvSpPr>
        <p:spPr>
          <a:xfrm>
            <a:off x="457200" y="530352"/>
            <a:ext cx="8229600" cy="457200"/>
          </a:xfrm>
          <a:prstGeom prst="rect">
            <a:avLst/>
          </a:prstGeom>
          <a:noFill/>
          <a:ln/>
        </p:spPr>
        <p:txBody>
          <a:bodyPr wrap="square" lIns="0" tIns="0" rIns="0" bIns="0" rtlCol="0" anchor="ctr"/>
          <a:lstStyle/>
          <a:p>
            <a:pPr indent="0" marL="0">
              <a:buNone/>
            </a:pPr>
            <a:r>
              <a:rPr lang="en-US" sz="2400" b="1" dirty="0">
                <a:solidFill>
                  <a:srgbClr val="0F172A"/>
                </a:solidFill>
              </a:rPr>
              <a:t>Glossary of Terms</a:t>
            </a:r>
            <a:endParaRPr lang="en-US" sz="2400" dirty="0"/>
          </a:p>
        </p:txBody>
      </p:sp>
      <p:sp>
        <p:nvSpPr>
          <p:cNvPr id="7" name="Shape 5"/>
          <p:cNvSpPr/>
          <p:nvPr/>
        </p:nvSpPr>
        <p:spPr>
          <a:xfrm>
            <a:off x="457200" y="1097280"/>
            <a:ext cx="4206240" cy="548640"/>
          </a:xfrm>
          <a:prstGeom prst="rect">
            <a:avLst/>
          </a:prstGeom>
          <a:solidFill>
            <a:srgbClr val="FFFFFF"/>
          </a:solidFill>
          <a:ln w="12700">
            <a:solidFill>
              <a:srgbClr val="DBE3EF"/>
            </a:solidFill>
            <a:prstDash val="solid"/>
          </a:ln>
        </p:spPr>
      </p:sp>
      <p:sp>
        <p:nvSpPr>
          <p:cNvPr id="8" name="Text 6"/>
          <p:cNvSpPr/>
          <p:nvPr/>
        </p:nvSpPr>
        <p:spPr>
          <a:xfrm>
            <a:off x="548640" y="1097280"/>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MOC</a:t>
            </a:r>
            <a:endParaRPr lang="en-US" sz="1000" dirty="0"/>
          </a:p>
        </p:txBody>
      </p:sp>
      <p:sp>
        <p:nvSpPr>
          <p:cNvPr id="9" name="Shape 7"/>
          <p:cNvSpPr/>
          <p:nvPr/>
        </p:nvSpPr>
        <p:spPr>
          <a:xfrm>
            <a:off x="1554480" y="1188720"/>
            <a:ext cx="36576" cy="365760"/>
          </a:xfrm>
          <a:prstGeom prst="rect">
            <a:avLst/>
          </a:prstGeom>
          <a:solidFill>
            <a:srgbClr val="DBE3EF"/>
          </a:solidFill>
          <a:ln w="12700">
            <a:solidFill>
              <a:srgbClr val="DBE3EF"/>
            </a:solidFill>
            <a:prstDash val="solid"/>
          </a:ln>
        </p:spPr>
      </p:sp>
      <p:sp>
        <p:nvSpPr>
          <p:cNvPr id="10" name="Text 8"/>
          <p:cNvSpPr/>
          <p:nvPr/>
        </p:nvSpPr>
        <p:spPr>
          <a:xfrm>
            <a:off x="1645920" y="1097280"/>
            <a:ext cx="2926080" cy="548640"/>
          </a:xfrm>
          <a:prstGeom prst="rect">
            <a:avLst/>
          </a:prstGeom>
          <a:noFill/>
          <a:ln/>
        </p:spPr>
        <p:txBody>
          <a:bodyPr wrap="square" lIns="0" tIns="0" rIns="0" bIns="0" rtlCol="0" anchor="ctr"/>
          <a:lstStyle/>
          <a:p>
            <a:pPr indent="0" marL="0">
              <a:buNone/>
            </a:pPr>
            <a:r>
              <a:rPr lang="en-US" sz="850" dirty="0">
                <a:solidFill>
                  <a:srgbClr val="475569"/>
                </a:solidFill>
              </a:rPr>
              <a:t>Management of Change — a formal process to assess and control changes to systems, processes, or equipment.</a:t>
            </a:r>
            <a:endParaRPr lang="en-US" sz="850" dirty="0"/>
          </a:p>
        </p:txBody>
      </p:sp>
      <p:sp>
        <p:nvSpPr>
          <p:cNvPr id="11" name="Shape 9"/>
          <p:cNvSpPr/>
          <p:nvPr/>
        </p:nvSpPr>
        <p:spPr>
          <a:xfrm>
            <a:off x="4846320" y="1097280"/>
            <a:ext cx="4206240" cy="548640"/>
          </a:xfrm>
          <a:prstGeom prst="rect">
            <a:avLst/>
          </a:prstGeom>
          <a:solidFill>
            <a:srgbClr val="EEF8F7"/>
          </a:solidFill>
          <a:ln w="12700">
            <a:solidFill>
              <a:srgbClr val="DBE3EF"/>
            </a:solidFill>
            <a:prstDash val="solid"/>
          </a:ln>
        </p:spPr>
      </p:sp>
      <p:sp>
        <p:nvSpPr>
          <p:cNvPr id="12" name="Text 10"/>
          <p:cNvSpPr/>
          <p:nvPr/>
        </p:nvSpPr>
        <p:spPr>
          <a:xfrm>
            <a:off x="4937760" y="1097280"/>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NCR</a:t>
            </a:r>
            <a:endParaRPr lang="en-US" sz="1000" dirty="0"/>
          </a:p>
        </p:txBody>
      </p:sp>
      <p:sp>
        <p:nvSpPr>
          <p:cNvPr id="13" name="Shape 11"/>
          <p:cNvSpPr/>
          <p:nvPr/>
        </p:nvSpPr>
        <p:spPr>
          <a:xfrm>
            <a:off x="5943600" y="1188720"/>
            <a:ext cx="36576" cy="365760"/>
          </a:xfrm>
          <a:prstGeom prst="rect">
            <a:avLst/>
          </a:prstGeom>
          <a:solidFill>
            <a:srgbClr val="DBE3EF"/>
          </a:solidFill>
          <a:ln w="12700">
            <a:solidFill>
              <a:srgbClr val="DBE3EF"/>
            </a:solidFill>
            <a:prstDash val="solid"/>
          </a:ln>
        </p:spPr>
      </p:sp>
      <p:sp>
        <p:nvSpPr>
          <p:cNvPr id="14" name="Text 12"/>
          <p:cNvSpPr/>
          <p:nvPr/>
        </p:nvSpPr>
        <p:spPr>
          <a:xfrm>
            <a:off x="6035040" y="1097280"/>
            <a:ext cx="2926080" cy="548640"/>
          </a:xfrm>
          <a:prstGeom prst="rect">
            <a:avLst/>
          </a:prstGeom>
          <a:noFill/>
          <a:ln/>
        </p:spPr>
        <p:txBody>
          <a:bodyPr wrap="square" lIns="0" tIns="0" rIns="0" bIns="0" rtlCol="0" anchor="ctr"/>
          <a:lstStyle/>
          <a:p>
            <a:pPr indent="0" marL="0">
              <a:buNone/>
            </a:pPr>
            <a:r>
              <a:rPr lang="en-US" sz="850" dirty="0">
                <a:solidFill>
                  <a:srgbClr val="475569"/>
                </a:solidFill>
              </a:rPr>
              <a:t>Nonconformance Report — a record of something that does not meet a specified requirement.</a:t>
            </a:r>
            <a:endParaRPr lang="en-US" sz="850" dirty="0"/>
          </a:p>
        </p:txBody>
      </p:sp>
      <p:sp>
        <p:nvSpPr>
          <p:cNvPr id="15" name="Shape 13"/>
          <p:cNvSpPr/>
          <p:nvPr/>
        </p:nvSpPr>
        <p:spPr>
          <a:xfrm>
            <a:off x="457200" y="1719072"/>
            <a:ext cx="4206240" cy="548640"/>
          </a:xfrm>
          <a:prstGeom prst="rect">
            <a:avLst/>
          </a:prstGeom>
          <a:solidFill>
            <a:srgbClr val="FFFFFF"/>
          </a:solidFill>
          <a:ln w="12700">
            <a:solidFill>
              <a:srgbClr val="DBE3EF"/>
            </a:solidFill>
            <a:prstDash val="solid"/>
          </a:ln>
        </p:spPr>
      </p:sp>
      <p:sp>
        <p:nvSpPr>
          <p:cNvPr id="16" name="Text 14"/>
          <p:cNvSpPr/>
          <p:nvPr/>
        </p:nvSpPr>
        <p:spPr>
          <a:xfrm>
            <a:off x="548640" y="1719072"/>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CAPA</a:t>
            </a:r>
            <a:endParaRPr lang="en-US" sz="1000" dirty="0"/>
          </a:p>
        </p:txBody>
      </p:sp>
      <p:sp>
        <p:nvSpPr>
          <p:cNvPr id="17" name="Shape 15"/>
          <p:cNvSpPr/>
          <p:nvPr/>
        </p:nvSpPr>
        <p:spPr>
          <a:xfrm>
            <a:off x="1554480" y="1810512"/>
            <a:ext cx="36576" cy="365760"/>
          </a:xfrm>
          <a:prstGeom prst="rect">
            <a:avLst/>
          </a:prstGeom>
          <a:solidFill>
            <a:srgbClr val="DBE3EF"/>
          </a:solidFill>
          <a:ln w="12700">
            <a:solidFill>
              <a:srgbClr val="DBE3EF"/>
            </a:solidFill>
            <a:prstDash val="solid"/>
          </a:ln>
        </p:spPr>
      </p:sp>
      <p:sp>
        <p:nvSpPr>
          <p:cNvPr id="18" name="Text 16"/>
          <p:cNvSpPr/>
          <p:nvPr/>
        </p:nvSpPr>
        <p:spPr>
          <a:xfrm>
            <a:off x="1645920" y="1719072"/>
            <a:ext cx="2926080" cy="548640"/>
          </a:xfrm>
          <a:prstGeom prst="rect">
            <a:avLst/>
          </a:prstGeom>
          <a:noFill/>
          <a:ln/>
        </p:spPr>
        <p:txBody>
          <a:bodyPr wrap="square" lIns="0" tIns="0" rIns="0" bIns="0" rtlCol="0" anchor="ctr"/>
          <a:lstStyle/>
          <a:p>
            <a:pPr indent="0" marL="0">
              <a:buNone/>
            </a:pPr>
            <a:r>
              <a:rPr lang="en-US" sz="850" dirty="0">
                <a:solidFill>
                  <a:srgbClr val="475569"/>
                </a:solidFill>
              </a:rPr>
              <a:t>Corrective and Preventive Action — actions taken to eliminate the cause of a nonconformance and prevent recurrence.</a:t>
            </a:r>
            <a:endParaRPr lang="en-US" sz="850" dirty="0"/>
          </a:p>
        </p:txBody>
      </p:sp>
      <p:sp>
        <p:nvSpPr>
          <p:cNvPr id="19" name="Shape 17"/>
          <p:cNvSpPr/>
          <p:nvPr/>
        </p:nvSpPr>
        <p:spPr>
          <a:xfrm>
            <a:off x="4846320" y="1719072"/>
            <a:ext cx="4206240" cy="548640"/>
          </a:xfrm>
          <a:prstGeom prst="rect">
            <a:avLst/>
          </a:prstGeom>
          <a:solidFill>
            <a:srgbClr val="EEF8F7"/>
          </a:solidFill>
          <a:ln w="12700">
            <a:solidFill>
              <a:srgbClr val="DBE3EF"/>
            </a:solidFill>
            <a:prstDash val="solid"/>
          </a:ln>
        </p:spPr>
      </p:sp>
      <p:sp>
        <p:nvSpPr>
          <p:cNvPr id="20" name="Text 18"/>
          <p:cNvSpPr/>
          <p:nvPr/>
        </p:nvSpPr>
        <p:spPr>
          <a:xfrm>
            <a:off x="4937760" y="1719072"/>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AINM</a:t>
            </a:r>
            <a:endParaRPr lang="en-US" sz="1000" dirty="0"/>
          </a:p>
        </p:txBody>
      </p:sp>
      <p:sp>
        <p:nvSpPr>
          <p:cNvPr id="21" name="Shape 19"/>
          <p:cNvSpPr/>
          <p:nvPr/>
        </p:nvSpPr>
        <p:spPr>
          <a:xfrm>
            <a:off x="5943600" y="1810512"/>
            <a:ext cx="36576" cy="365760"/>
          </a:xfrm>
          <a:prstGeom prst="rect">
            <a:avLst/>
          </a:prstGeom>
          <a:solidFill>
            <a:srgbClr val="DBE3EF"/>
          </a:solidFill>
          <a:ln w="12700">
            <a:solidFill>
              <a:srgbClr val="DBE3EF"/>
            </a:solidFill>
            <a:prstDash val="solid"/>
          </a:ln>
        </p:spPr>
      </p:sp>
      <p:sp>
        <p:nvSpPr>
          <p:cNvPr id="22" name="Text 20"/>
          <p:cNvSpPr/>
          <p:nvPr/>
        </p:nvSpPr>
        <p:spPr>
          <a:xfrm>
            <a:off x="6035040" y="1719072"/>
            <a:ext cx="2926080" cy="548640"/>
          </a:xfrm>
          <a:prstGeom prst="rect">
            <a:avLst/>
          </a:prstGeom>
          <a:noFill/>
          <a:ln/>
        </p:spPr>
        <p:txBody>
          <a:bodyPr wrap="square" lIns="0" tIns="0" rIns="0" bIns="0" rtlCol="0" anchor="ctr"/>
          <a:lstStyle/>
          <a:p>
            <a:pPr indent="0" marL="0">
              <a:buNone/>
            </a:pPr>
            <a:r>
              <a:rPr lang="en-US" sz="850" dirty="0">
                <a:solidFill>
                  <a:srgbClr val="475569"/>
                </a:solidFill>
              </a:rPr>
              <a:t>Accident, Incident and Near Miss — HSE event reporting categories.</a:t>
            </a:r>
            <a:endParaRPr lang="en-US" sz="850" dirty="0"/>
          </a:p>
        </p:txBody>
      </p:sp>
      <p:sp>
        <p:nvSpPr>
          <p:cNvPr id="23" name="Shape 21"/>
          <p:cNvSpPr/>
          <p:nvPr/>
        </p:nvSpPr>
        <p:spPr>
          <a:xfrm>
            <a:off x="457200" y="2340864"/>
            <a:ext cx="4206240" cy="548640"/>
          </a:xfrm>
          <a:prstGeom prst="rect">
            <a:avLst/>
          </a:prstGeom>
          <a:solidFill>
            <a:srgbClr val="FFFFFF"/>
          </a:solidFill>
          <a:ln w="12700">
            <a:solidFill>
              <a:srgbClr val="DBE3EF"/>
            </a:solidFill>
            <a:prstDash val="solid"/>
          </a:ln>
        </p:spPr>
      </p:sp>
      <p:sp>
        <p:nvSpPr>
          <p:cNvPr id="24" name="Text 22"/>
          <p:cNvSpPr/>
          <p:nvPr/>
        </p:nvSpPr>
        <p:spPr>
          <a:xfrm>
            <a:off x="548640" y="2340864"/>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PTW</a:t>
            </a:r>
            <a:endParaRPr lang="en-US" sz="1000" dirty="0"/>
          </a:p>
        </p:txBody>
      </p:sp>
      <p:sp>
        <p:nvSpPr>
          <p:cNvPr id="25" name="Shape 23"/>
          <p:cNvSpPr/>
          <p:nvPr/>
        </p:nvSpPr>
        <p:spPr>
          <a:xfrm>
            <a:off x="1554480" y="2432304"/>
            <a:ext cx="36576" cy="365760"/>
          </a:xfrm>
          <a:prstGeom prst="rect">
            <a:avLst/>
          </a:prstGeom>
          <a:solidFill>
            <a:srgbClr val="DBE3EF"/>
          </a:solidFill>
          <a:ln w="12700">
            <a:solidFill>
              <a:srgbClr val="DBE3EF"/>
            </a:solidFill>
            <a:prstDash val="solid"/>
          </a:ln>
        </p:spPr>
      </p:sp>
      <p:sp>
        <p:nvSpPr>
          <p:cNvPr id="26" name="Text 24"/>
          <p:cNvSpPr/>
          <p:nvPr/>
        </p:nvSpPr>
        <p:spPr>
          <a:xfrm>
            <a:off x="1645920" y="2340864"/>
            <a:ext cx="2926080" cy="548640"/>
          </a:xfrm>
          <a:prstGeom prst="rect">
            <a:avLst/>
          </a:prstGeom>
          <a:noFill/>
          <a:ln/>
        </p:spPr>
        <p:txBody>
          <a:bodyPr wrap="square" lIns="0" tIns="0" rIns="0" bIns="0" rtlCol="0" anchor="ctr"/>
          <a:lstStyle/>
          <a:p>
            <a:pPr indent="0" marL="0">
              <a:buNone/>
            </a:pPr>
            <a:r>
              <a:rPr lang="en-US" sz="850" dirty="0">
                <a:solidFill>
                  <a:srgbClr val="475569"/>
                </a:solidFill>
              </a:rPr>
              <a:t>Permit to Work — a formal safety system ensuring hazard controls are in place before work begins.</a:t>
            </a:r>
            <a:endParaRPr lang="en-US" sz="850" dirty="0"/>
          </a:p>
        </p:txBody>
      </p:sp>
      <p:sp>
        <p:nvSpPr>
          <p:cNvPr id="27" name="Shape 25"/>
          <p:cNvSpPr/>
          <p:nvPr/>
        </p:nvSpPr>
        <p:spPr>
          <a:xfrm>
            <a:off x="4846320" y="2340864"/>
            <a:ext cx="4206240" cy="548640"/>
          </a:xfrm>
          <a:prstGeom prst="rect">
            <a:avLst/>
          </a:prstGeom>
          <a:solidFill>
            <a:srgbClr val="EEF8F7"/>
          </a:solidFill>
          <a:ln w="12700">
            <a:solidFill>
              <a:srgbClr val="DBE3EF"/>
            </a:solidFill>
            <a:prstDash val="solid"/>
          </a:ln>
        </p:spPr>
      </p:sp>
      <p:sp>
        <p:nvSpPr>
          <p:cNvPr id="28" name="Text 26"/>
          <p:cNvSpPr/>
          <p:nvPr/>
        </p:nvSpPr>
        <p:spPr>
          <a:xfrm>
            <a:off x="4937760" y="2340864"/>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IMS</a:t>
            </a:r>
            <a:endParaRPr lang="en-US" sz="1000" dirty="0"/>
          </a:p>
        </p:txBody>
      </p:sp>
      <p:sp>
        <p:nvSpPr>
          <p:cNvPr id="29" name="Shape 27"/>
          <p:cNvSpPr/>
          <p:nvPr/>
        </p:nvSpPr>
        <p:spPr>
          <a:xfrm>
            <a:off x="5943600" y="2432304"/>
            <a:ext cx="36576" cy="365760"/>
          </a:xfrm>
          <a:prstGeom prst="rect">
            <a:avLst/>
          </a:prstGeom>
          <a:solidFill>
            <a:srgbClr val="DBE3EF"/>
          </a:solidFill>
          <a:ln w="12700">
            <a:solidFill>
              <a:srgbClr val="DBE3EF"/>
            </a:solidFill>
            <a:prstDash val="solid"/>
          </a:ln>
        </p:spPr>
      </p:sp>
      <p:sp>
        <p:nvSpPr>
          <p:cNvPr id="30" name="Text 28"/>
          <p:cNvSpPr/>
          <p:nvPr/>
        </p:nvSpPr>
        <p:spPr>
          <a:xfrm>
            <a:off x="6035040" y="2340864"/>
            <a:ext cx="2926080" cy="548640"/>
          </a:xfrm>
          <a:prstGeom prst="rect">
            <a:avLst/>
          </a:prstGeom>
          <a:noFill/>
          <a:ln/>
        </p:spPr>
        <p:txBody>
          <a:bodyPr wrap="square" lIns="0" tIns="0" rIns="0" bIns="0" rtlCol="0" anchor="ctr"/>
          <a:lstStyle/>
          <a:p>
            <a:pPr indent="0" marL="0">
              <a:buNone/>
            </a:pPr>
            <a:r>
              <a:rPr lang="en-US" sz="850" dirty="0">
                <a:solidFill>
                  <a:srgbClr val="475569"/>
                </a:solidFill>
              </a:rPr>
              <a:t>Integrated Management System — the combined platform covering Quality, HSE, Documents, Risk, and Assets.</a:t>
            </a:r>
            <a:endParaRPr lang="en-US" sz="850" dirty="0"/>
          </a:p>
        </p:txBody>
      </p:sp>
      <p:sp>
        <p:nvSpPr>
          <p:cNvPr id="31" name="Shape 29"/>
          <p:cNvSpPr/>
          <p:nvPr/>
        </p:nvSpPr>
        <p:spPr>
          <a:xfrm>
            <a:off x="457200" y="2962656"/>
            <a:ext cx="4206240" cy="548640"/>
          </a:xfrm>
          <a:prstGeom prst="rect">
            <a:avLst/>
          </a:prstGeom>
          <a:solidFill>
            <a:srgbClr val="FFFFFF"/>
          </a:solidFill>
          <a:ln w="12700">
            <a:solidFill>
              <a:srgbClr val="DBE3EF"/>
            </a:solidFill>
            <a:prstDash val="solid"/>
          </a:ln>
        </p:spPr>
      </p:sp>
      <p:sp>
        <p:nvSpPr>
          <p:cNvPr id="32" name="Text 30"/>
          <p:cNvSpPr/>
          <p:nvPr/>
        </p:nvSpPr>
        <p:spPr>
          <a:xfrm>
            <a:off x="548640" y="2962656"/>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RLS</a:t>
            </a:r>
            <a:endParaRPr lang="en-US" sz="1000" dirty="0"/>
          </a:p>
        </p:txBody>
      </p:sp>
      <p:sp>
        <p:nvSpPr>
          <p:cNvPr id="33" name="Shape 31"/>
          <p:cNvSpPr/>
          <p:nvPr/>
        </p:nvSpPr>
        <p:spPr>
          <a:xfrm>
            <a:off x="1554480" y="3054096"/>
            <a:ext cx="36576" cy="365760"/>
          </a:xfrm>
          <a:prstGeom prst="rect">
            <a:avLst/>
          </a:prstGeom>
          <a:solidFill>
            <a:srgbClr val="DBE3EF"/>
          </a:solidFill>
          <a:ln w="12700">
            <a:solidFill>
              <a:srgbClr val="DBE3EF"/>
            </a:solidFill>
            <a:prstDash val="solid"/>
          </a:ln>
        </p:spPr>
      </p:sp>
      <p:sp>
        <p:nvSpPr>
          <p:cNvPr id="34" name="Text 32"/>
          <p:cNvSpPr/>
          <p:nvPr/>
        </p:nvSpPr>
        <p:spPr>
          <a:xfrm>
            <a:off x="1645920" y="2962656"/>
            <a:ext cx="2926080" cy="548640"/>
          </a:xfrm>
          <a:prstGeom prst="rect">
            <a:avLst/>
          </a:prstGeom>
          <a:noFill/>
          <a:ln/>
        </p:spPr>
        <p:txBody>
          <a:bodyPr wrap="square" lIns="0" tIns="0" rIns="0" bIns="0" rtlCol="0" anchor="ctr"/>
          <a:lstStyle/>
          <a:p>
            <a:pPr indent="0" marL="0">
              <a:buNone/>
            </a:pPr>
            <a:r>
              <a:rPr lang="en-US" sz="850" dirty="0">
                <a:solidFill>
                  <a:srgbClr val="475569"/>
                </a:solidFill>
              </a:rPr>
              <a:t>Row Level Security — database-level control ensuring users only see data they are authorised to access.</a:t>
            </a:r>
            <a:endParaRPr lang="en-US" sz="850" dirty="0"/>
          </a:p>
        </p:txBody>
      </p:sp>
      <p:sp>
        <p:nvSpPr>
          <p:cNvPr id="35" name="Shape 33"/>
          <p:cNvSpPr/>
          <p:nvPr/>
        </p:nvSpPr>
        <p:spPr>
          <a:xfrm>
            <a:off x="4846320" y="2962656"/>
            <a:ext cx="4206240" cy="548640"/>
          </a:xfrm>
          <a:prstGeom prst="rect">
            <a:avLst/>
          </a:prstGeom>
          <a:solidFill>
            <a:srgbClr val="EEF8F7"/>
          </a:solidFill>
          <a:ln w="12700">
            <a:solidFill>
              <a:srgbClr val="DBE3EF"/>
            </a:solidFill>
            <a:prstDash val="solid"/>
          </a:ln>
        </p:spPr>
      </p:sp>
      <p:sp>
        <p:nvSpPr>
          <p:cNvPr id="36" name="Text 34"/>
          <p:cNvSpPr/>
          <p:nvPr/>
        </p:nvSpPr>
        <p:spPr>
          <a:xfrm>
            <a:off x="4937760" y="2962656"/>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Draft</a:t>
            </a:r>
            <a:endParaRPr lang="en-US" sz="1000" dirty="0"/>
          </a:p>
        </p:txBody>
      </p:sp>
      <p:sp>
        <p:nvSpPr>
          <p:cNvPr id="37" name="Shape 35"/>
          <p:cNvSpPr/>
          <p:nvPr/>
        </p:nvSpPr>
        <p:spPr>
          <a:xfrm>
            <a:off x="5943600" y="3054096"/>
            <a:ext cx="36576" cy="365760"/>
          </a:xfrm>
          <a:prstGeom prst="rect">
            <a:avLst/>
          </a:prstGeom>
          <a:solidFill>
            <a:srgbClr val="DBE3EF"/>
          </a:solidFill>
          <a:ln w="12700">
            <a:solidFill>
              <a:srgbClr val="DBE3EF"/>
            </a:solidFill>
            <a:prstDash val="solid"/>
          </a:ln>
        </p:spPr>
      </p:sp>
      <p:sp>
        <p:nvSpPr>
          <p:cNvPr id="38" name="Text 36"/>
          <p:cNvSpPr/>
          <p:nvPr/>
        </p:nvSpPr>
        <p:spPr>
          <a:xfrm>
            <a:off x="6035040" y="2962656"/>
            <a:ext cx="2926080" cy="548640"/>
          </a:xfrm>
          <a:prstGeom prst="rect">
            <a:avLst/>
          </a:prstGeom>
          <a:noFill/>
          <a:ln/>
        </p:spPr>
        <p:txBody>
          <a:bodyPr wrap="square" lIns="0" tIns="0" rIns="0" bIns="0" rtlCol="0" anchor="ctr"/>
          <a:lstStyle/>
          <a:p>
            <a:pPr indent="0" marL="0">
              <a:buNone/>
            </a:pPr>
            <a:r>
              <a:rPr lang="en-US" sz="850" dirty="0">
                <a:solidFill>
                  <a:srgbClr val="475569"/>
                </a:solidFill>
              </a:rPr>
              <a:t>A document that has been created but not yet submitted for review or approval.</a:t>
            </a:r>
            <a:endParaRPr lang="en-US" sz="850" dirty="0"/>
          </a:p>
        </p:txBody>
      </p:sp>
      <p:sp>
        <p:nvSpPr>
          <p:cNvPr id="39" name="Shape 37"/>
          <p:cNvSpPr/>
          <p:nvPr/>
        </p:nvSpPr>
        <p:spPr>
          <a:xfrm>
            <a:off x="457200" y="3584448"/>
            <a:ext cx="4206240" cy="548640"/>
          </a:xfrm>
          <a:prstGeom prst="rect">
            <a:avLst/>
          </a:prstGeom>
          <a:solidFill>
            <a:srgbClr val="FFFFFF"/>
          </a:solidFill>
          <a:ln w="12700">
            <a:solidFill>
              <a:srgbClr val="DBE3EF"/>
            </a:solidFill>
            <a:prstDash val="solid"/>
          </a:ln>
        </p:spPr>
      </p:sp>
      <p:sp>
        <p:nvSpPr>
          <p:cNvPr id="40" name="Text 38"/>
          <p:cNvSpPr/>
          <p:nvPr/>
        </p:nvSpPr>
        <p:spPr>
          <a:xfrm>
            <a:off x="548640" y="3584448"/>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Live</a:t>
            </a:r>
            <a:endParaRPr lang="en-US" sz="1000" dirty="0"/>
          </a:p>
        </p:txBody>
      </p:sp>
      <p:sp>
        <p:nvSpPr>
          <p:cNvPr id="41" name="Shape 39"/>
          <p:cNvSpPr/>
          <p:nvPr/>
        </p:nvSpPr>
        <p:spPr>
          <a:xfrm>
            <a:off x="1554480" y="3675888"/>
            <a:ext cx="36576" cy="365760"/>
          </a:xfrm>
          <a:prstGeom prst="rect">
            <a:avLst/>
          </a:prstGeom>
          <a:solidFill>
            <a:srgbClr val="DBE3EF"/>
          </a:solidFill>
          <a:ln w="12700">
            <a:solidFill>
              <a:srgbClr val="DBE3EF"/>
            </a:solidFill>
            <a:prstDash val="solid"/>
          </a:ln>
        </p:spPr>
      </p:sp>
      <p:sp>
        <p:nvSpPr>
          <p:cNvPr id="42" name="Text 40"/>
          <p:cNvSpPr/>
          <p:nvPr/>
        </p:nvSpPr>
        <p:spPr>
          <a:xfrm>
            <a:off x="1645920" y="3584448"/>
            <a:ext cx="2926080" cy="548640"/>
          </a:xfrm>
          <a:prstGeom prst="rect">
            <a:avLst/>
          </a:prstGeom>
          <a:noFill/>
          <a:ln/>
        </p:spPr>
        <p:txBody>
          <a:bodyPr wrap="square" lIns="0" tIns="0" rIns="0" bIns="0" rtlCol="0" anchor="ctr"/>
          <a:lstStyle/>
          <a:p>
            <a:pPr indent="0" marL="0">
              <a:buNone/>
            </a:pPr>
            <a:r>
              <a:rPr lang="en-US" sz="850" dirty="0">
                <a:solidFill>
                  <a:srgbClr val="475569"/>
                </a:solidFill>
              </a:rPr>
              <a:t>A document that has been reviewed, approved, and is the current controlled version.</a:t>
            </a:r>
            <a:endParaRPr lang="en-US" sz="850" dirty="0"/>
          </a:p>
        </p:txBody>
      </p:sp>
      <p:sp>
        <p:nvSpPr>
          <p:cNvPr id="43" name="Shape 41"/>
          <p:cNvSpPr/>
          <p:nvPr/>
        </p:nvSpPr>
        <p:spPr>
          <a:xfrm>
            <a:off x="4846320" y="3584448"/>
            <a:ext cx="4206240" cy="548640"/>
          </a:xfrm>
          <a:prstGeom prst="rect">
            <a:avLst/>
          </a:prstGeom>
          <a:solidFill>
            <a:srgbClr val="EEF8F7"/>
          </a:solidFill>
          <a:ln w="12700">
            <a:solidFill>
              <a:srgbClr val="DBE3EF"/>
            </a:solidFill>
            <a:prstDash val="solid"/>
          </a:ln>
        </p:spPr>
      </p:sp>
      <p:sp>
        <p:nvSpPr>
          <p:cNvPr id="44" name="Text 42"/>
          <p:cNvSpPr/>
          <p:nvPr/>
        </p:nvSpPr>
        <p:spPr>
          <a:xfrm>
            <a:off x="4937760" y="3584448"/>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Residual Risk</a:t>
            </a:r>
            <a:endParaRPr lang="en-US" sz="1000" dirty="0"/>
          </a:p>
        </p:txBody>
      </p:sp>
      <p:sp>
        <p:nvSpPr>
          <p:cNvPr id="45" name="Shape 43"/>
          <p:cNvSpPr/>
          <p:nvPr/>
        </p:nvSpPr>
        <p:spPr>
          <a:xfrm>
            <a:off x="5943600" y="3675888"/>
            <a:ext cx="36576" cy="365760"/>
          </a:xfrm>
          <a:prstGeom prst="rect">
            <a:avLst/>
          </a:prstGeom>
          <a:solidFill>
            <a:srgbClr val="DBE3EF"/>
          </a:solidFill>
          <a:ln w="12700">
            <a:solidFill>
              <a:srgbClr val="DBE3EF"/>
            </a:solidFill>
            <a:prstDash val="solid"/>
          </a:ln>
        </p:spPr>
      </p:sp>
      <p:sp>
        <p:nvSpPr>
          <p:cNvPr id="46" name="Text 44"/>
          <p:cNvSpPr/>
          <p:nvPr/>
        </p:nvSpPr>
        <p:spPr>
          <a:xfrm>
            <a:off x="6035040" y="3584448"/>
            <a:ext cx="2926080" cy="548640"/>
          </a:xfrm>
          <a:prstGeom prst="rect">
            <a:avLst/>
          </a:prstGeom>
          <a:noFill/>
          <a:ln/>
        </p:spPr>
        <p:txBody>
          <a:bodyPr wrap="square" lIns="0" tIns="0" rIns="0" bIns="0" rtlCol="0" anchor="ctr"/>
          <a:lstStyle/>
          <a:p>
            <a:pPr indent="0" marL="0">
              <a:buNone/>
            </a:pPr>
            <a:r>
              <a:rPr lang="en-US" sz="850" dirty="0">
                <a:solidFill>
                  <a:srgbClr val="475569"/>
                </a:solidFill>
              </a:rPr>
              <a:t>The risk remaining after controls have been applied.</a:t>
            </a:r>
            <a:endParaRPr lang="en-US" sz="850" dirty="0"/>
          </a:p>
        </p:txBody>
      </p:sp>
      <p:sp>
        <p:nvSpPr>
          <p:cNvPr id="47" name="Shape 45"/>
          <p:cNvSpPr/>
          <p:nvPr/>
        </p:nvSpPr>
        <p:spPr>
          <a:xfrm>
            <a:off x="457200" y="4206240"/>
            <a:ext cx="4206240" cy="548640"/>
          </a:xfrm>
          <a:prstGeom prst="rect">
            <a:avLst/>
          </a:prstGeom>
          <a:solidFill>
            <a:srgbClr val="FFFFFF"/>
          </a:solidFill>
          <a:ln w="12700">
            <a:solidFill>
              <a:srgbClr val="DBE3EF"/>
            </a:solidFill>
            <a:prstDash val="solid"/>
          </a:ln>
        </p:spPr>
      </p:sp>
      <p:sp>
        <p:nvSpPr>
          <p:cNvPr id="48" name="Text 46"/>
          <p:cNvSpPr/>
          <p:nvPr/>
        </p:nvSpPr>
        <p:spPr>
          <a:xfrm>
            <a:off x="548640" y="4206240"/>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Originator</a:t>
            </a:r>
            <a:endParaRPr lang="en-US" sz="1000" dirty="0"/>
          </a:p>
        </p:txBody>
      </p:sp>
      <p:sp>
        <p:nvSpPr>
          <p:cNvPr id="49" name="Shape 47"/>
          <p:cNvSpPr/>
          <p:nvPr/>
        </p:nvSpPr>
        <p:spPr>
          <a:xfrm>
            <a:off x="1554480" y="4297680"/>
            <a:ext cx="36576" cy="365760"/>
          </a:xfrm>
          <a:prstGeom prst="rect">
            <a:avLst/>
          </a:prstGeom>
          <a:solidFill>
            <a:srgbClr val="DBE3EF"/>
          </a:solidFill>
          <a:ln w="12700">
            <a:solidFill>
              <a:srgbClr val="DBE3EF"/>
            </a:solidFill>
            <a:prstDash val="solid"/>
          </a:ln>
        </p:spPr>
      </p:sp>
      <p:sp>
        <p:nvSpPr>
          <p:cNvPr id="50" name="Text 48"/>
          <p:cNvSpPr/>
          <p:nvPr/>
        </p:nvSpPr>
        <p:spPr>
          <a:xfrm>
            <a:off x="1645920" y="4206240"/>
            <a:ext cx="2926080" cy="548640"/>
          </a:xfrm>
          <a:prstGeom prst="rect">
            <a:avLst/>
          </a:prstGeom>
          <a:noFill/>
          <a:ln/>
        </p:spPr>
        <p:txBody>
          <a:bodyPr wrap="square" lIns="0" tIns="0" rIns="0" bIns="0" rtlCol="0" anchor="ctr"/>
          <a:lstStyle/>
          <a:p>
            <a:pPr indent="0" marL="0">
              <a:buNone/>
            </a:pPr>
            <a:r>
              <a:rPr lang="en-US" sz="850" dirty="0">
                <a:solidFill>
                  <a:srgbClr val="475569"/>
                </a:solidFill>
              </a:rPr>
              <a:t>The person who created a document or record.</a:t>
            </a:r>
            <a:endParaRPr lang="en-US" sz="850" dirty="0"/>
          </a:p>
        </p:txBody>
      </p:sp>
      <p:sp>
        <p:nvSpPr>
          <p:cNvPr id="51" name="Shape 49"/>
          <p:cNvSpPr/>
          <p:nvPr/>
        </p:nvSpPr>
        <p:spPr>
          <a:xfrm>
            <a:off x="4846320" y="4206240"/>
            <a:ext cx="4206240" cy="548640"/>
          </a:xfrm>
          <a:prstGeom prst="rect">
            <a:avLst/>
          </a:prstGeom>
          <a:solidFill>
            <a:srgbClr val="EEF8F7"/>
          </a:solidFill>
          <a:ln w="12700">
            <a:solidFill>
              <a:srgbClr val="DBE3EF"/>
            </a:solidFill>
            <a:prstDash val="solid"/>
          </a:ln>
        </p:spPr>
      </p:sp>
      <p:sp>
        <p:nvSpPr>
          <p:cNvPr id="52" name="Text 50"/>
          <p:cNvSpPr/>
          <p:nvPr/>
        </p:nvSpPr>
        <p:spPr>
          <a:xfrm>
            <a:off x="4937760" y="4206240"/>
            <a:ext cx="1005840" cy="548640"/>
          </a:xfrm>
          <a:prstGeom prst="rect">
            <a:avLst/>
          </a:prstGeom>
          <a:noFill/>
          <a:ln/>
        </p:spPr>
        <p:txBody>
          <a:bodyPr wrap="square" lIns="0" tIns="0" rIns="0" bIns="0" rtlCol="0" anchor="ctr"/>
          <a:lstStyle/>
          <a:p>
            <a:pPr indent="0" marL="0">
              <a:buNone/>
            </a:pPr>
            <a:r>
              <a:rPr lang="en-US" sz="1000" b="1" dirty="0">
                <a:solidFill>
                  <a:srgbClr val="2F7F7D"/>
                </a:solidFill>
              </a:rPr>
              <a:t>Reviewer / Approver</a:t>
            </a:r>
            <a:endParaRPr lang="en-US" sz="1000" dirty="0"/>
          </a:p>
        </p:txBody>
      </p:sp>
      <p:sp>
        <p:nvSpPr>
          <p:cNvPr id="53" name="Shape 51"/>
          <p:cNvSpPr/>
          <p:nvPr/>
        </p:nvSpPr>
        <p:spPr>
          <a:xfrm>
            <a:off x="5943600" y="4297680"/>
            <a:ext cx="36576" cy="365760"/>
          </a:xfrm>
          <a:prstGeom prst="rect">
            <a:avLst/>
          </a:prstGeom>
          <a:solidFill>
            <a:srgbClr val="DBE3EF"/>
          </a:solidFill>
          <a:ln w="12700">
            <a:solidFill>
              <a:srgbClr val="DBE3EF"/>
            </a:solidFill>
            <a:prstDash val="solid"/>
          </a:ln>
        </p:spPr>
      </p:sp>
      <p:sp>
        <p:nvSpPr>
          <p:cNvPr id="54" name="Text 52"/>
          <p:cNvSpPr/>
          <p:nvPr/>
        </p:nvSpPr>
        <p:spPr>
          <a:xfrm>
            <a:off x="6035040" y="4206240"/>
            <a:ext cx="2926080" cy="548640"/>
          </a:xfrm>
          <a:prstGeom prst="rect">
            <a:avLst/>
          </a:prstGeom>
          <a:noFill/>
          <a:ln/>
        </p:spPr>
        <p:txBody>
          <a:bodyPr wrap="square" lIns="0" tIns="0" rIns="0" bIns="0" rtlCol="0" anchor="ctr"/>
          <a:lstStyle/>
          <a:p>
            <a:pPr indent="0" marL="0">
              <a:buNone/>
            </a:pPr>
            <a:r>
              <a:rPr lang="en-US" sz="850" dirty="0">
                <a:solidFill>
                  <a:srgbClr val="475569"/>
                </a:solidFill>
              </a:rPr>
              <a:t>The person responsible for reviewing or giving final approval to a document.</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5E5C"/>
        </a:solidFill>
      </p:bgPr>
    </p:bg>
    <p:spTree>
      <p:nvGrpSpPr>
        <p:cNvPr id="1" name=""/>
        <p:cNvGrpSpPr/>
        <p:nvPr/>
      </p:nvGrpSpPr>
      <p:grpSpPr>
        <a:xfrm>
          <a:off x="0" y="0"/>
          <a:ext cx="0" cy="0"/>
          <a:chOff x="0" y="0"/>
          <a:chExt cx="0" cy="0"/>
        </a:xfrm>
      </p:grpSpPr>
      <p:sp>
        <p:nvSpPr>
          <p:cNvPr id="2" name="Shape 0"/>
          <p:cNvSpPr/>
          <p:nvPr/>
        </p:nvSpPr>
        <p:spPr>
          <a:xfrm>
            <a:off x="-1371600" y="2286000"/>
            <a:ext cx="4572000" cy="4572000"/>
          </a:xfrm>
          <a:prstGeom prst="ellipse">
            <a:avLst/>
          </a:prstGeom>
          <a:solidFill>
            <a:srgbClr val="3A9B98">
              <a:alpha val="20000"/>
            </a:srgbClr>
          </a:solidFill>
          <a:ln w="12700">
            <a:solidFill>
              <a:srgbClr val="3A9B98"/>
            </a:solidFill>
            <a:prstDash val="solid"/>
          </a:ln>
        </p:spPr>
      </p:sp>
      <p:sp>
        <p:nvSpPr>
          <p:cNvPr id="3" name="Shape 1"/>
          <p:cNvSpPr/>
          <p:nvPr/>
        </p:nvSpPr>
        <p:spPr>
          <a:xfrm>
            <a:off x="6858000" y="-1371600"/>
            <a:ext cx="4572000" cy="4572000"/>
          </a:xfrm>
          <a:prstGeom prst="ellipse">
            <a:avLst/>
          </a:prstGeom>
          <a:solidFill>
            <a:srgbClr val="02C39A">
              <a:alpha val="15000"/>
            </a:srgbClr>
          </a:solidFill>
          <a:ln w="12700">
            <a:solidFill>
              <a:srgbClr val="02C39A"/>
            </a:solidFill>
            <a:prstDash val="solid"/>
          </a:ln>
        </p:spPr>
      </p:sp>
      <p:sp>
        <p:nvSpPr>
          <p:cNvPr id="4" name="Text 2"/>
          <p:cNvSpPr/>
          <p:nvPr/>
        </p:nvSpPr>
        <p:spPr>
          <a:xfrm>
            <a:off x="914400" y="1188720"/>
            <a:ext cx="7315200" cy="822960"/>
          </a:xfrm>
          <a:prstGeom prst="rect">
            <a:avLst/>
          </a:prstGeom>
          <a:noFill/>
          <a:ln/>
        </p:spPr>
        <p:txBody>
          <a:bodyPr wrap="square" lIns="0" tIns="0" rIns="0" bIns="0" rtlCol="0" anchor="ctr"/>
          <a:lstStyle/>
          <a:p>
            <a:pPr algn="ctr" indent="0" marL="0">
              <a:buNone/>
            </a:pPr>
            <a:r>
              <a:rPr lang="en-US" sz="3600" b="1" dirty="0">
                <a:solidFill>
                  <a:srgbClr val="FFFFFF"/>
                </a:solidFill>
              </a:rPr>
              <a:t>You're ready to go.</a:t>
            </a:r>
            <a:endParaRPr lang="en-US" sz="3600" dirty="0"/>
          </a:p>
        </p:txBody>
      </p:sp>
      <p:sp>
        <p:nvSpPr>
          <p:cNvPr id="5" name="Text 3"/>
          <p:cNvSpPr/>
          <p:nvPr/>
        </p:nvSpPr>
        <p:spPr>
          <a:xfrm>
            <a:off x="914400" y="2148840"/>
            <a:ext cx="7315200" cy="822960"/>
          </a:xfrm>
          <a:prstGeom prst="rect">
            <a:avLst/>
          </a:prstGeom>
          <a:noFill/>
          <a:ln/>
        </p:spPr>
        <p:txBody>
          <a:bodyPr wrap="square" lIns="0" tIns="0" rIns="0" bIns="0" rtlCol="0" anchor="ctr"/>
          <a:lstStyle/>
          <a:p>
            <a:pPr algn="ctr" indent="0" marL="0">
              <a:buNone/>
            </a:pPr>
            <a:r>
              <a:rPr lang="en-US" sz="1400" i="1" dirty="0">
                <a:solidFill>
                  <a:srgbClr val="A8D8D7"/>
                </a:solidFill>
              </a:rPr>
              <a:t>The Enshore IMS is designed to make quality, safety, and compliance</a:t>
            </a:r>
            <a:endParaRPr lang="en-US" sz="1400" dirty="0"/>
          </a:p>
          <a:p>
            <a:pPr algn="ctr" indent="0" marL="0">
              <a:buNone/>
            </a:pPr>
            <a:r>
              <a:rPr lang="en-US" sz="1400" i="1" dirty="0">
                <a:solidFill>
                  <a:srgbClr val="A8D8D7"/>
                </a:solidFill>
              </a:rPr>
              <a:t>simple, traceable, and efficient for your whole team.</a:t>
            </a:r>
            <a:endParaRPr lang="en-US" sz="1400" dirty="0"/>
          </a:p>
        </p:txBody>
      </p:sp>
      <p:sp>
        <p:nvSpPr>
          <p:cNvPr id="6" name="Shape 4"/>
          <p:cNvSpPr/>
          <p:nvPr/>
        </p:nvSpPr>
        <p:spPr>
          <a:xfrm>
            <a:off x="3200400" y="3108960"/>
            <a:ext cx="2743200" cy="54864"/>
          </a:xfrm>
          <a:prstGeom prst="rect">
            <a:avLst/>
          </a:prstGeom>
          <a:solidFill>
            <a:srgbClr val="02C39A"/>
          </a:solidFill>
          <a:ln w="12700">
            <a:solidFill>
              <a:srgbClr val="02C39A"/>
            </a:solidFill>
            <a:prstDash val="solid"/>
          </a:ln>
        </p:spPr>
      </p:sp>
      <p:sp>
        <p:nvSpPr>
          <p:cNvPr id="7" name="Text 5"/>
          <p:cNvSpPr/>
          <p:nvPr/>
        </p:nvSpPr>
        <p:spPr>
          <a:xfrm>
            <a:off x="914400" y="3291840"/>
            <a:ext cx="7315200" cy="411480"/>
          </a:xfrm>
          <a:prstGeom prst="rect">
            <a:avLst/>
          </a:prstGeom>
          <a:noFill/>
          <a:ln/>
        </p:spPr>
        <p:txBody>
          <a:bodyPr wrap="square" lIns="0" tIns="0" rIns="0" bIns="0" rtlCol="0" anchor="ctr"/>
          <a:lstStyle/>
          <a:p>
            <a:pPr algn="ctr" indent="0" marL="0">
              <a:buNone/>
            </a:pPr>
            <a:r>
              <a:rPr lang="en-US" sz="1200" dirty="0">
                <a:solidFill>
                  <a:srgbClr val="C8F0EF"/>
                </a:solidFill>
              </a:rPr>
              <a:t>Questions? Contact your System Administrator.</a:t>
            </a:r>
            <a:endParaRPr lang="en-US" sz="1200" dirty="0"/>
          </a:p>
        </p:txBody>
      </p:sp>
      <p:sp>
        <p:nvSpPr>
          <p:cNvPr id="8" name="Text 6"/>
          <p:cNvSpPr/>
          <p:nvPr/>
        </p:nvSpPr>
        <p:spPr>
          <a:xfrm>
            <a:off x="914400" y="4617720"/>
            <a:ext cx="7315200" cy="320040"/>
          </a:xfrm>
          <a:prstGeom prst="rect">
            <a:avLst/>
          </a:prstGeom>
          <a:noFill/>
          <a:ln/>
        </p:spPr>
        <p:txBody>
          <a:bodyPr wrap="square" lIns="0" tIns="0" rIns="0" bIns="0" rtlCol="0" anchor="ctr"/>
          <a:lstStyle/>
          <a:p>
            <a:pPr algn="ctr" indent="0" marL="0">
              <a:buNone/>
            </a:pPr>
            <a:r>
              <a:rPr lang="en-US" sz="900" spc="100" kern="0" dirty="0">
                <a:solidFill>
                  <a:srgbClr val="6B9E9D"/>
                </a:solidFill>
              </a:rPr>
              <a:t>ENSHORE SUBSEA  ·  Integrated Management System  ·  Version 1.0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Enshore IMS – User Guide</dc:title>
  <dc:subject>PptxGenJS Presentation</dc:subject>
  <dc:creator>Enshore Subsea</dc:creator>
  <cp:lastModifiedBy>Enshore Subsea</cp:lastModifiedBy>
  <cp:revision>1</cp:revision>
  <dcterms:created xsi:type="dcterms:W3CDTF">2026-06-10T13:22:04Z</dcterms:created>
  <dcterms:modified xsi:type="dcterms:W3CDTF">2026-06-10T13:22:04Z</dcterms:modified>
</cp:coreProperties>
</file>